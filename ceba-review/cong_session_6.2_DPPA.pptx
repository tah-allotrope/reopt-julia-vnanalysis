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embeddedFontLst>
    <p:embeddedFont>
      <p:font typeface="Lato"/>
      <p:regular r:id="rId37"/>
      <p:bold r:id="rId38"/>
      <p:italic r:id="rId39"/>
      <p:boldItalic r:id="rId40"/>
    </p:embeddedFont>
    <p:embeddedFont>
      <p:font typeface="Montserrat"/>
      <p:regular r:id="rId41"/>
      <p:bold r:id="rId42"/>
      <p:italic r:id="rId43"/>
      <p:boldItalic r:id="rId44"/>
    </p:embeddedFont>
    <p:embeddedFont>
      <p:font typeface="Quattrocento Sans"/>
      <p:regular r:id="rId45"/>
      <p:bold r:id="rId46"/>
      <p:italic r:id="rId47"/>
      <p:boldItalic r:id="rId48"/>
    </p:embeddedFont>
    <p:embeddedFont>
      <p:font typeface="Be Vietnam Pro SemiBold"/>
      <p:regular r:id="rId49"/>
      <p:bold r:id="rId50"/>
      <p:italic r:id="rId51"/>
      <p:boldItalic r:id="rId52"/>
    </p:embeddedFont>
    <p:embeddedFont>
      <p:font typeface="Be Vietnam Pro"/>
      <p:regular r:id="rId53"/>
      <p:bold r:id="rId54"/>
      <p:italic r:id="rId55"/>
      <p:boldItalic r:id="rId56"/>
    </p:embeddedFont>
    <p:embeddedFont>
      <p:font typeface="Montserrat ExtraBold"/>
      <p:bold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8" name="Lauren McGinley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3DF8D72-98C2-4C16-8669-35C246C1D029}">
  <a:tblStyle styleId="{23DF8D72-98C2-4C16-8669-35C246C1D02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42" Type="http://schemas.openxmlformats.org/officeDocument/2006/relationships/font" Target="fonts/Montserrat-bold.fntdata"/><Relationship Id="rId41" Type="http://schemas.openxmlformats.org/officeDocument/2006/relationships/font" Target="fonts/Montserrat-regular.fntdata"/><Relationship Id="rId44" Type="http://schemas.openxmlformats.org/officeDocument/2006/relationships/font" Target="fonts/Montserrat-boldItalic.fntdata"/><Relationship Id="rId43" Type="http://schemas.openxmlformats.org/officeDocument/2006/relationships/font" Target="fonts/Montserrat-italic.fntdata"/><Relationship Id="rId46" Type="http://schemas.openxmlformats.org/officeDocument/2006/relationships/font" Target="fonts/QuattrocentoSans-bold.fntdata"/><Relationship Id="rId45" Type="http://schemas.openxmlformats.org/officeDocument/2006/relationships/font" Target="fonts/Quattrocento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QuattrocentoSans-boldItalic.fntdata"/><Relationship Id="rId47" Type="http://schemas.openxmlformats.org/officeDocument/2006/relationships/font" Target="fonts/QuattrocentoSans-italic.fntdata"/><Relationship Id="rId49" Type="http://schemas.openxmlformats.org/officeDocument/2006/relationships/font" Target="fonts/BeVietnamProSemiBold-regular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font" Target="fonts/Lato-regular.fntdata"/><Relationship Id="rId36" Type="http://schemas.openxmlformats.org/officeDocument/2006/relationships/slide" Target="slides/slide29.xml"/><Relationship Id="rId39" Type="http://schemas.openxmlformats.org/officeDocument/2006/relationships/font" Target="fonts/Lato-italic.fntdata"/><Relationship Id="rId38" Type="http://schemas.openxmlformats.org/officeDocument/2006/relationships/font" Target="fonts/Lato-bold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BeVietnamProSemiBold-italic.fntdata"/><Relationship Id="rId50" Type="http://schemas.openxmlformats.org/officeDocument/2006/relationships/font" Target="fonts/BeVietnamProSemiBold-bold.fntdata"/><Relationship Id="rId53" Type="http://schemas.openxmlformats.org/officeDocument/2006/relationships/font" Target="fonts/BeVietnamPro-regular.fntdata"/><Relationship Id="rId52" Type="http://schemas.openxmlformats.org/officeDocument/2006/relationships/font" Target="fonts/BeVietnamProSemiBold-boldItalic.fntdata"/><Relationship Id="rId11" Type="http://schemas.openxmlformats.org/officeDocument/2006/relationships/slide" Target="slides/slide4.xml"/><Relationship Id="rId55" Type="http://schemas.openxmlformats.org/officeDocument/2006/relationships/font" Target="fonts/BeVietnamPro-italic.fntdata"/><Relationship Id="rId10" Type="http://schemas.openxmlformats.org/officeDocument/2006/relationships/slide" Target="slides/slide3.xml"/><Relationship Id="rId54" Type="http://schemas.openxmlformats.org/officeDocument/2006/relationships/font" Target="fonts/BeVietnamPro-bold.fntdata"/><Relationship Id="rId13" Type="http://schemas.openxmlformats.org/officeDocument/2006/relationships/slide" Target="slides/slide6.xml"/><Relationship Id="rId57" Type="http://schemas.openxmlformats.org/officeDocument/2006/relationships/font" Target="fonts/MontserratExtraBold-bold.fntdata"/><Relationship Id="rId12" Type="http://schemas.openxmlformats.org/officeDocument/2006/relationships/slide" Target="slides/slide5.xml"/><Relationship Id="rId56" Type="http://schemas.openxmlformats.org/officeDocument/2006/relationships/font" Target="fonts/BeVietnamPro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58" Type="http://schemas.openxmlformats.org/officeDocument/2006/relationships/font" Target="fonts/MontserratExtraBold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12T18:26:38.327">
    <p:pos x="316" y="979"/>
    <p:text>Update this</p:text>
  </p:cm>
  <p:cm authorId="0" idx="2" dt="2026-06-12T18:46:50.474">
    <p:pos x="316" y="1079"/>
    <p:text>@chn@allotropepartners.com Is the EVN bill actually 5 line items? Otherwise I suggest maybe saying 5 bill components?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6-12T18:29:50.217">
    <p:pos x="3036" y="922"/>
    <p:text>should this box be bulleted to match other formatting?</p:text>
  </p:cm>
  <p:cm authorId="0" idx="4" dt="2026-06-12T18:29:54.798">
    <p:pos x="3036" y="2213"/>
    <p:text>should this box be bulleted to match other formatting?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6-12T18:45:57.813">
    <p:pos x="2880" y="907"/>
    <p:text>Update with update title from slide 2 if applicable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6-12T18:46:15.847">
    <p:pos x="141" y="41"/>
    <p:text>Update with update title from slide 2 if applicable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6-12T18:49:48.936">
    <p:pos x="338" y="2015"/>
    <p:text>Bullets for consistency?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6-12T18:50:27.069">
    <p:pos x="3325" y="1054"/>
    <p:text>bullets?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6-06-12T18:50:43.145">
    <p:pos x="3797" y="766"/>
    <p:text>BulletS?</p:text>
  </p:cm>
  <p:cm authorId="0" idx="10" dt="2026-06-12T18:52:07.318">
    <p:pos x="141" y="2647"/>
    <p:text>change to green color?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6-06-12T18:51:53.088">
    <p:pos x="3362" y="856"/>
    <p:text>bulletS?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6-06-12T18:51:36.655">
    <p:pos x="249" y="954"/>
    <p:text>bullets?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6-06-12T18:52:26.467">
    <p:pos x="204" y="2663"/>
    <p:text>Bullets?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6-06-12T18:53:49.852">
    <p:pos x="3243" y="751"/>
    <p:text>bullets? or if we use numbers, switch everything else to numbers</p:text>
  </p:cm>
  <p:cm authorId="0" idx="15" dt="2026-06-12T18:53:59.437">
    <p:pos x="325" y="1873"/>
    <p:text>bullets?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6-06-12T18:54:12.398">
    <p:pos x="211" y="2689"/>
    <p:text>Switch to green?</p:text>
  </p:cm>
  <p:cm authorId="0" idx="17" dt="2026-06-12T18:54:21.000">
    <p:pos x="325" y="1890"/>
    <p:text>bullets?</p:tex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8" dt="2026-06-12T18:57:25.851">
    <p:pos x="362" y="2314"/>
    <p:text>green color?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e666ee45d_0_1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de666ee45d_0_15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e666ee45d_0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e666ee45d_0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ed6ab801b9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ed6ab801b9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524ab37b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524ab37b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ed6ab801b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ed6ab801b9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d6ab801b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d6ab801b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ed6ab801b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ed6ab801b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d6ab801b9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ed6ab801b9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ed6ab801b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ed6ab801b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d6ab801b9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ed6ab801b9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d6ab801b9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ed6ab801b9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d6ab801b9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ed6ab801b9_0_1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d6ab801b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ed6ab801b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d6ab801b9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d6ab801b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d6ab801b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d6ab801b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d6ab801b9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ed6ab801b9_0_2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ed6ab801b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3ed6ab801b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ed6ab801b9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ed6ab801b9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d6ab801b9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d6ab801b9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ed6ab801b9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ed6ab801b9_0_2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d6ab801b9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ed6ab801b9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d6ab801b9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ed6ab801b9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d6ab801b9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ed6ab801b9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d6ab801b9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ed6ab801b9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d6ab801b9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d6ab801b9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d6ab801b9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g3ed6ab801b9_0_3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d6ab801b9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ed6ab801b9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ed6ab801b9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ed6ab801b9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e524ab37bc_0_1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e524ab37bc_0_1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9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 Layout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>
            <p:ph idx="2" type="pic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5" name="Google Shape;5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alt1">
  <p:cSld name="1_Title slide">
    <p:bg>
      <p:bgPr>
        <a:solidFill>
          <a:schemeClr val="lt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utterstock_429987889_edited.jpg" id="57" name="Google Shape;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6"/>
          <p:cNvSpPr txBox="1"/>
          <p:nvPr>
            <p:ph type="ctrTitle"/>
          </p:nvPr>
        </p:nvSpPr>
        <p:spPr>
          <a:xfrm>
            <a:off x="914400" y="2323238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2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931653" y="2750315"/>
            <a:ext cx="7315200" cy="2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1200">
                <a:solidFill>
                  <a:srgbClr val="7F7F7F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A green letters on a black background&#10;&#10;Description automatically generated" id="61" name="Google Shape;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347818"/>
            <a:ext cx="1805286" cy="4114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" name="Google Shape;62;p16"/>
          <p:cNvGrpSpPr/>
          <p:nvPr/>
        </p:nvGrpSpPr>
        <p:grpSpPr>
          <a:xfrm>
            <a:off x="914402" y="1191277"/>
            <a:ext cx="745763" cy="45826"/>
            <a:chOff x="4580561" y="2589004"/>
            <a:chExt cx="1064464" cy="25200"/>
          </a:xfrm>
        </p:grpSpPr>
        <p:sp>
          <p:nvSpPr>
            <p:cNvPr id="63" name="Google Shape;6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64" name="Google Shape;6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65" name="Google Shape;65;p16"/>
          <p:cNvSpPr txBox="1"/>
          <p:nvPr/>
        </p:nvSpPr>
        <p:spPr>
          <a:xfrm>
            <a:off x="914399" y="1841513"/>
            <a:ext cx="731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</a:pPr>
            <a:r>
              <a:rPr b="1" i="0" lang="en" sz="22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Carbon Management SaaS and Verification Technology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1 lin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68" name="Google Shape;68;p17"/>
          <p:cNvGrpSpPr/>
          <p:nvPr/>
        </p:nvGrpSpPr>
        <p:grpSpPr>
          <a:xfrm>
            <a:off x="228601" y="737966"/>
            <a:ext cx="745763" cy="45826"/>
            <a:chOff x="4580561" y="2589004"/>
            <a:chExt cx="1064464" cy="25200"/>
          </a:xfrm>
        </p:grpSpPr>
        <p:sp>
          <p:nvSpPr>
            <p:cNvPr id="69" name="Google Shape;6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70" name="Google Shape;7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71" name="Google Shape;71;p17"/>
          <p:cNvSpPr txBox="1"/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800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3" name="Google Shape;73;p17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green square with white letters&#10;&#10;Description automatically generated" id="74" name="Google Shape;7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letters on a black background&#10;&#10;Description automatically generated" id="75" name="Google Shape;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1_Title and bod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" name="Google Shape;78;p18"/>
          <p:cNvSpPr txBox="1"/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8"/>
          <p:cNvSpPr txBox="1"/>
          <p:nvPr>
            <p:ph idx="1" type="body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800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0" name="Google Shape;80;p18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green square with white letters&#10;&#10;Description automatically generated" id="81" name="Google Shape;8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letters on a black background&#10;&#10;Description automatically generated" id="82" name="Google Shape;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18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84" name="Google Shape;84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5" name="Google Shape;85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86" name="Google Shape;86;p18"/>
          <p:cNvSpPr txBox="1"/>
          <p:nvPr>
            <p:ph idx="2" type="body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i="1" sz="1500">
                <a:solidFill>
                  <a:srgbClr val="434A54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1_Title and body 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" name="Google Shape;89;p19"/>
          <p:cNvSpPr txBox="1"/>
          <p:nvPr>
            <p:ph type="title"/>
          </p:nvPr>
        </p:nvSpPr>
        <p:spPr>
          <a:xfrm>
            <a:off x="228600" y="84109"/>
            <a:ext cx="8138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rgbClr val="434A54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228599" y="4986539"/>
            <a:ext cx="804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800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1" name="Google Shape;91;p19"/>
          <p:cNvSpPr txBox="1"/>
          <p:nvPr/>
        </p:nvSpPr>
        <p:spPr>
          <a:xfrm>
            <a:off x="8286390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green square with white letters&#10;&#10;Description automatically generated" id="92" name="Google Shape;9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letters on a black background&#10;&#10;Description automatically generated" id="93" name="Google Shape;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9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97" name="Google Shape;97;p19"/>
          <p:cNvSpPr txBox="1"/>
          <p:nvPr>
            <p:ph idx="2" type="body"/>
          </p:nvPr>
        </p:nvSpPr>
        <p:spPr>
          <a:xfrm>
            <a:off x="228599" y="424610"/>
            <a:ext cx="81381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i="1" sz="1500">
                <a:solidFill>
                  <a:srgbClr val="434A54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 2 lines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/>
        </p:nvSpPr>
        <p:spPr>
          <a:xfrm>
            <a:off x="0" y="-1"/>
            <a:ext cx="9144000" cy="783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00" name="Google Shape;100;p20"/>
          <p:cNvGrpSpPr/>
          <p:nvPr/>
        </p:nvGrpSpPr>
        <p:grpSpPr>
          <a:xfrm>
            <a:off x="228602" y="737966"/>
            <a:ext cx="745763" cy="45826"/>
            <a:chOff x="4580561" y="2589004"/>
            <a:chExt cx="1064464" cy="25200"/>
          </a:xfrm>
        </p:grpSpPr>
        <p:sp>
          <p:nvSpPr>
            <p:cNvPr id="101" name="Google Shape;101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01A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2" name="Google Shape;102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03" name="Google Shape;103;p20"/>
          <p:cNvSpPr txBox="1"/>
          <p:nvPr>
            <p:ph type="title"/>
          </p:nvPr>
        </p:nvSpPr>
        <p:spPr>
          <a:xfrm>
            <a:off x="228600" y="84108"/>
            <a:ext cx="81381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228599" y="4977306"/>
            <a:ext cx="8046600" cy="14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i="1" sz="800">
                <a:solidFill>
                  <a:srgbClr val="7F7F7F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20"/>
          <p:cNvSpPr txBox="1"/>
          <p:nvPr/>
        </p:nvSpPr>
        <p:spPr>
          <a:xfrm>
            <a:off x="8278016" y="4986539"/>
            <a:ext cx="164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7F7F7F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A green square with white letters&#10;&#10;Description automatically generated" id="106" name="Google Shape;10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72247" y="86125"/>
            <a:ext cx="557453" cy="5577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reen letters on a black background&#10;&#10;Description automatically generated"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8056" y="4962055"/>
            <a:ext cx="561643" cy="128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0" y="0"/>
            <a:ext cx="9144000" cy="783590"/>
          </a:xfrm>
          <a:custGeom>
            <a:rect b="b" l="l" r="r" t="t"/>
            <a:pathLst>
              <a:path extrusionOk="0" h="783590" w="9144000">
                <a:moveTo>
                  <a:pt x="9144000" y="0"/>
                </a:moveTo>
                <a:lnTo>
                  <a:pt x="0" y="0"/>
                </a:lnTo>
                <a:lnTo>
                  <a:pt x="0" y="783336"/>
                </a:lnTo>
                <a:lnTo>
                  <a:pt x="9144000" y="783336"/>
                </a:lnTo>
                <a:lnTo>
                  <a:pt x="9144000" y="0"/>
                </a:lnTo>
                <a:close/>
              </a:path>
            </a:pathLst>
          </a:custGeom>
          <a:solidFill>
            <a:srgbClr val="E7E6E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1800">
                <a:solidFill>
                  <a:srgbClr val="43495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 b="0" i="0">
                <a:solidFill>
                  <a:schemeClr val="dk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46355" marR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46355" marR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46355" marR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46355" marR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46355" marR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46355" marR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46355" marR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46355" marR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46355" marR="0" algn="r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46355" rtl="0" algn="r">
              <a:spcBef>
                <a:spcPts val="9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85750" lvl="1" marL="914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8575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8575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17" name="Google Shape;117;p22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18" name="Google Shape;118;p22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19" name="Google Shape;119;p22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120" name="Google Shape;1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b="1" i="0" sz="220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/>
          <p:nvPr/>
        </p:nvSpPr>
        <p:spPr>
          <a:xfrm flipH="1" rot="10800000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>
            <p:ph idx="2" type="body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73050" lvl="1" marL="9144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73050" lvl="2" marL="13716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73050" lvl="3" marL="18288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73050" lvl="4" marL="22860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85750" lvl="1" marL="9144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8575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8575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7" name="Google Shape;127;p23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28" name="Google Shape;128;p23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23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23"/>
          <p:cNvSpPr txBox="1"/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b="1" i="0" sz="220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1" name="Google Shape;131;p23"/>
          <p:cNvSpPr/>
          <p:nvPr/>
        </p:nvSpPr>
        <p:spPr>
          <a:xfrm flipH="1" rot="10800000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>
            <p:ph idx="12" type="sldNum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3"/>
          <p:cNvSpPr txBox="1"/>
          <p:nvPr>
            <p:ph idx="2" type="body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73050" lvl="1" marL="9144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73050" lvl="2" marL="13716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73050" lvl="3" marL="18288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73050" lvl="4" marL="22860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 1">
  <p:cSld name="3_Blank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85750" lvl="1" marL="914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85750" lvl="2" marL="1371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85750" lvl="3" marL="1828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–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85750" lvl="4" marL="22860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»"/>
              <a:def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37" name="Google Shape;137;p24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38" name="Google Shape;138;p24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  <p:sp>
          <p:nvSpPr>
            <p:cNvPr id="139" name="Google Shape;139;p24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Be Vietnam Pro"/>
                <a:ea typeface="Be Vietnam Pro"/>
                <a:cs typeface="Be Vietnam Pro"/>
                <a:sym typeface="Be Vietnam Pro"/>
              </a:endParaRPr>
            </a:p>
          </p:txBody>
        </p:sp>
      </p:grpSp>
      <p:pic>
        <p:nvPicPr>
          <p:cNvPr id="140" name="Google Shape;14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>
            <p:ph type="title"/>
          </p:nvPr>
        </p:nvSpPr>
        <p:spPr>
          <a:xfrm>
            <a:off x="3810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3E6D"/>
              </a:buClr>
              <a:buSzPts val="2200"/>
              <a:buFont typeface="Be Vietnam Pro SemiBold"/>
              <a:buNone/>
              <a:defRPr b="1" i="0" sz="2200">
                <a:solidFill>
                  <a:srgbClr val="1B3E6D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4"/>
          <p:cNvSpPr/>
          <p:nvPr/>
        </p:nvSpPr>
        <p:spPr>
          <a:xfrm flipH="1" rot="10800000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4"/>
          <p:cNvSpPr txBox="1"/>
          <p:nvPr>
            <p:ph idx="2" type="body"/>
          </p:nvPr>
        </p:nvSpPr>
        <p:spPr>
          <a:xfrm>
            <a:off x="175592" y="4853233"/>
            <a:ext cx="2781300" cy="29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73050" lvl="1" marL="9144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73050" lvl="2" marL="13716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•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73050" lvl="3" marL="18288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–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73050" lvl="4" marL="22860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700"/>
              <a:buFont typeface="Arial"/>
              <a:buChar char="»"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solidFill>
          <a:srgbClr val="1B3E6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92100" lvl="0" marL="4572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92100" lvl="1" marL="9144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92100" lvl="2" marL="13716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92100" lvl="3" marL="18288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92100" lvl="4" marL="22860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47" name="Google Shape;147;p25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48" name="Google Shape;148;p25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25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25"/>
          <p:cNvSpPr txBox="1"/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b="1" i="0" sz="220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1" name="Google Shape;151;p25"/>
          <p:cNvSpPr/>
          <p:nvPr/>
        </p:nvSpPr>
        <p:spPr>
          <a:xfrm flipH="1" rot="10800000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/>
          <p:nvPr>
            <p:ph idx="12" type="sldNum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 1">
  <p:cSld name="2_Blank_1">
    <p:bg>
      <p:bgPr>
        <a:solidFill>
          <a:srgbClr val="1B3E6D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idx="1" type="body"/>
          </p:nvPr>
        </p:nvSpPr>
        <p:spPr>
          <a:xfrm>
            <a:off x="457200" y="1009650"/>
            <a:ext cx="8191500" cy="33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Autofit/>
          </a:bodyPr>
          <a:lstStyle>
            <a:lvl1pPr indent="-292100" lvl="0" marL="4572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-292100" lvl="1" marL="9144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-292100" lvl="2" marL="13716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-292100" lvl="3" marL="18288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-292100" lvl="4" marL="2286000" marR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-292100" lvl="5" marL="27432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56" name="Google Shape;156;p26"/>
          <p:cNvGrpSpPr/>
          <p:nvPr/>
        </p:nvGrpSpPr>
        <p:grpSpPr>
          <a:xfrm>
            <a:off x="0" y="4755328"/>
            <a:ext cx="9144000" cy="388111"/>
            <a:chOff x="417931" y="28734"/>
            <a:chExt cx="24384000" cy="938827"/>
          </a:xfrm>
        </p:grpSpPr>
        <p:sp>
          <p:nvSpPr>
            <p:cNvPr id="157" name="Google Shape;157;p26"/>
            <p:cNvSpPr/>
            <p:nvPr/>
          </p:nvSpPr>
          <p:spPr>
            <a:xfrm>
              <a:off x="417931" y="265561"/>
              <a:ext cx="24384000" cy="702000"/>
            </a:xfrm>
            <a:prstGeom prst="rect">
              <a:avLst/>
            </a:prstGeom>
            <a:solidFill>
              <a:srgbClr val="30A2DB"/>
            </a:solidFill>
            <a:ln>
              <a:noFill/>
            </a:ln>
          </p:spPr>
          <p:txBody>
            <a:bodyPr anchorCtr="0" anchor="t" bIns="22850" lIns="45725" spcFirstLastPara="1" rIns="45725" wrap="square" tIns="2285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6"/>
            <p:cNvSpPr txBox="1"/>
            <p:nvPr/>
          </p:nvSpPr>
          <p:spPr>
            <a:xfrm>
              <a:off x="23016401" y="28734"/>
              <a:ext cx="1621500" cy="70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99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26"/>
          <p:cNvSpPr txBox="1"/>
          <p:nvPr>
            <p:ph type="title"/>
          </p:nvPr>
        </p:nvSpPr>
        <p:spPr>
          <a:xfrm>
            <a:off x="457200" y="209550"/>
            <a:ext cx="8153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e Vietnam Pro SemiBold"/>
              <a:buNone/>
              <a:defRPr b="1" i="0" sz="2200">
                <a:solidFill>
                  <a:schemeClr val="lt1"/>
                </a:solidFill>
                <a:latin typeface="Be Vietnam Pro SemiBold"/>
                <a:ea typeface="Be Vietnam Pro SemiBold"/>
                <a:cs typeface="Be Vietnam Pro SemiBold"/>
                <a:sym typeface="Be Vietnam Pr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60" name="Google Shape;160;p26"/>
          <p:cNvSpPr/>
          <p:nvPr/>
        </p:nvSpPr>
        <p:spPr>
          <a:xfrm flipH="1" rot="10800000">
            <a:off x="-63500" y="277050"/>
            <a:ext cx="254100" cy="465900"/>
          </a:xfrm>
          <a:prstGeom prst="rect">
            <a:avLst/>
          </a:prstGeom>
          <a:solidFill>
            <a:srgbClr val="30A2D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49704" y="4895850"/>
            <a:ext cx="539817" cy="182563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6"/>
          <p:cNvSpPr txBox="1"/>
          <p:nvPr>
            <p:ph idx="12" type="sldNum"/>
          </p:nvPr>
        </p:nvSpPr>
        <p:spPr>
          <a:xfrm>
            <a:off x="7924800" y="4857750"/>
            <a:ext cx="5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lt1"/>
                </a:solidFill>
                <a:latin typeface="Be Vietnam Pro"/>
                <a:ea typeface="Be Vietnam Pro"/>
                <a:cs typeface="Be Vietnam Pro"/>
                <a:sym typeface="Be Vietnam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| </a:t>
            </a: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>
            <p:ph idx="2" type="pic"/>
          </p:nvPr>
        </p:nvSpPr>
        <p:spPr>
          <a:xfrm>
            <a:off x="4100165" y="570248"/>
            <a:ext cx="4237200" cy="2001600"/>
          </a:xfrm>
          <a:prstGeom prst="rect">
            <a:avLst/>
          </a:prstGeom>
          <a:noFill/>
          <a:ln>
            <a:noFill/>
          </a:ln>
        </p:spPr>
      </p:sp>
      <p:sp>
        <p:nvSpPr>
          <p:cNvPr id="165" name="Google Shape;165;p27"/>
          <p:cNvSpPr txBox="1"/>
          <p:nvPr>
            <p:ph idx="12" type="sldNum"/>
          </p:nvPr>
        </p:nvSpPr>
        <p:spPr>
          <a:xfrm>
            <a:off x="8467986" y="172594"/>
            <a:ext cx="56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700"/>
              <a:buFont typeface="Montserrat"/>
              <a:buNone/>
              <a:defRPr b="1" i="0" sz="800" u="none" cap="none" strike="noStrike">
                <a:solidFill>
                  <a:srgbClr val="E77A1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Relationship Id="rId4" Type="http://schemas.openxmlformats.org/officeDocument/2006/relationships/image" Target="../media/image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4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5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6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7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8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9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10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11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12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comments" Target="../comments/comment13.xml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" name="Google Shape;170;p28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cap="flat" cmpd="sng" w="57150">
            <a:solidFill>
              <a:srgbClr val="1B786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1" name="Google Shape;171;p28"/>
          <p:cNvSpPr txBox="1"/>
          <p:nvPr/>
        </p:nvSpPr>
        <p:spPr>
          <a:xfrm>
            <a:off x="4572000" y="1440675"/>
            <a:ext cx="4572000" cy="17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Understanding Vietnam's DPPA </a:t>
            </a: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echanisms and Pricing Considerations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9000" y="4919866"/>
            <a:ext cx="639863" cy="2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558" y="4933125"/>
            <a:ext cx="518101" cy="19863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74" name="Google Shape;174;p28"/>
          <p:cNvPicPr preferRelativeResize="0"/>
          <p:nvPr/>
        </p:nvPicPr>
        <p:blipFill rotWithShape="1">
          <a:blip r:embed="rId5">
            <a:alphaModFix/>
          </a:blip>
          <a:srcRect b="13296" l="6658" r="48140" t="3134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 txBox="1"/>
          <p:nvPr/>
        </p:nvSpPr>
        <p:spPr>
          <a:xfrm>
            <a:off x="4707900" y="4303125"/>
            <a:ext cx="3719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75569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Virtual (grid CfD) DPPA under Decree 57/2025/ND-CP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/>
          <p:nvPr/>
        </p:nvSpPr>
        <p:spPr>
          <a:xfrm>
            <a:off x="4699525" y="1554475"/>
            <a:ext cx="4305900" cy="2688600"/>
          </a:xfrm>
          <a:prstGeom prst="roundRect">
            <a:avLst>
              <a:gd fmla="val 995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177350" y="152250"/>
            <a:ext cx="82671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Session Roadmap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84" name="Google Shape;18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177350" y="892875"/>
            <a:ext cx="815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Follow the money: From your EVN bill to a bankable DPPA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87" name="Google Shape;187;p29"/>
          <p:cNvGraphicFramePr/>
          <p:nvPr/>
        </p:nvGraphicFramePr>
        <p:xfrm>
          <a:off x="5029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515450"/>
                <a:gridCol w="3437100"/>
              </a:tblGrid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Module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 </a:t>
                      </a: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</a:t>
                      </a: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aseline: </a:t>
                      </a:r>
                      <a:r>
                        <a:rPr lang="en" sz="13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</a:t>
                      </a: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hat you pay EVN today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Virtual DPPA money flow: </a:t>
                      </a: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</a:t>
                      </a: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highlight>
                            <a:srgbClr val="FFFF00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five</a:t>
                      </a:r>
                      <a:r>
                        <a:rPr lang="en" sz="1300" u="none" cap="none" strike="sngStrike">
                          <a:solidFill>
                            <a:srgbClr val="222B33"/>
                          </a:solidFill>
                          <a:highlight>
                            <a:srgbClr val="FFFF00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-line</a:t>
                      </a: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highlight>
                            <a:srgbClr val="FFFF00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bill compo</a:t>
                      </a:r>
                      <a:r>
                        <a:rPr lang="en" sz="1300">
                          <a:solidFill>
                            <a:srgbClr val="222B33"/>
                          </a:solidFill>
                          <a:highlight>
                            <a:srgbClr val="FFFF00"/>
                          </a:highlight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nents</a:t>
                      </a:r>
                      <a:endParaRPr>
                        <a:highlight>
                          <a:srgbClr val="FFFF00"/>
                        </a:highlight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mechanics: </a:t>
                      </a: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</a:t>
                      </a: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hat drives your number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economics and the three gates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Case study: </a:t>
                      </a: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one factory, Cases 5 &amp; 6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4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decision points and close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29"/>
          <p:cNvSpPr txBox="1"/>
          <p:nvPr/>
        </p:nvSpPr>
        <p:spPr>
          <a:xfrm>
            <a:off x="4890704" y="1603788"/>
            <a:ext cx="4015500" cy="2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350" lIns="78725" spcFirstLastPara="1" rIns="78725" wrap="square" tIns="39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5" u="none" cap="none" strike="noStrik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By the end of this session you can:</a:t>
            </a:r>
            <a:endParaRPr sz="120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4890700" y="1950228"/>
            <a:ext cx="40155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9350" lIns="78725" spcFirstLastPara="1" rIns="78725" wrap="square" tIns="3935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1.  </a:t>
            </a:r>
            <a:r>
              <a:rPr lang="en" sz="1119">
                <a:solidFill>
                  <a:srgbClr val="222B33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Breakdown</a:t>
            </a:r>
            <a:r>
              <a:rPr lang="en" sz="1119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virtual DPPA monthly settlement into its five components and compare it to your EVN bill</a:t>
            </a:r>
            <a:endParaRPr sz="120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61"/>
              </a:spcBef>
              <a:spcAft>
                <a:spcPts val="0"/>
              </a:spcAft>
              <a:buNone/>
            </a:pP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2.  Explain how the CfD strike, market price</a:t>
            </a:r>
            <a:r>
              <a:rPr i="0" lang="en" sz="1119" u="none" cap="none" strike="sngStrike">
                <a:solidFill>
                  <a:srgbClr val="222B33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 (FMP)</a:t>
            </a: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, loss factors, and grid fees </a:t>
            </a:r>
            <a:r>
              <a:rPr i="0" lang="en" sz="1119" u="none" cap="none" strike="sngStrike">
                <a:solidFill>
                  <a:srgbClr val="222B33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set</a:t>
            </a:r>
            <a:r>
              <a:rPr i="0" lang="en" sz="1119" u="none" cap="none">
                <a:solidFill>
                  <a:srgbClr val="222B33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 determine </a:t>
            </a: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your net cost</a:t>
            </a:r>
            <a:endParaRPr sz="120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61"/>
              </a:spcBef>
              <a:spcAft>
                <a:spcPts val="0"/>
              </a:spcAft>
              <a:buNone/>
            </a:pP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3.  See why buyer</a:t>
            </a:r>
            <a:r>
              <a:rPr i="0" lang="en" sz="1119" u="none" cap="none" strike="noStrike">
                <a:solidFill>
                  <a:srgbClr val="222B33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, seller</a:t>
            </a:r>
            <a:r>
              <a:rPr lang="en" sz="1119">
                <a:solidFill>
                  <a:srgbClr val="222B33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, and lender</a:t>
            </a:r>
            <a:r>
              <a:rPr lang="en" sz="1119">
                <a:solidFill>
                  <a:srgbClr val="222B33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each have a gate - and why a deal must pass all three</a:t>
            </a:r>
            <a:endParaRPr sz="1205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61"/>
              </a:spcBef>
              <a:spcAft>
                <a:spcPts val="0"/>
              </a:spcAft>
              <a:buNone/>
            </a:pPr>
            <a:r>
              <a:rPr i="0" lang="en" sz="1119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4.  Leave with realistic pricing expectations grounded in a real factory model</a:t>
            </a:r>
            <a:endParaRPr sz="1205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502922" y="4584100"/>
            <a:ext cx="2858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i="0" lang="en" sz="1150" u="none" cap="none" strike="noStrike">
                <a:solidFill>
                  <a:srgbClr val="5A6670"/>
                </a:solidFill>
                <a:latin typeface="Montserrat"/>
                <a:ea typeface="Montserrat"/>
                <a:cs typeface="Montserrat"/>
                <a:sym typeface="Montserrat"/>
              </a:rPr>
              <a:t>Scope: virtual (grid CfD) DPPA only.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p30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cap="flat" cmpd="sng" w="57150">
            <a:solidFill>
              <a:srgbClr val="1B786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30"/>
          <p:cNvSpPr txBox="1"/>
          <p:nvPr/>
        </p:nvSpPr>
        <p:spPr>
          <a:xfrm>
            <a:off x="4572000" y="1440675"/>
            <a:ext cx="4572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1: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Baseline: What You Pay EVN Today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9000" y="4919866"/>
            <a:ext cx="639863" cy="2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558" y="4933125"/>
            <a:ext cx="518101" cy="19863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199" name="Google Shape;199;p30"/>
          <p:cNvPicPr preferRelativeResize="0"/>
          <p:nvPr/>
        </p:nvPicPr>
        <p:blipFill rotWithShape="1">
          <a:blip r:embed="rId5">
            <a:alphaModFix/>
          </a:blip>
          <a:srcRect b="13296" l="6658" r="48140" t="3134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0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/>
          <p:nvPr/>
        </p:nvSpPr>
        <p:spPr>
          <a:xfrm>
            <a:off x="4724475" y="3129875"/>
            <a:ext cx="4071600" cy="1894200"/>
          </a:xfrm>
          <a:prstGeom prst="roundRect">
            <a:avLst>
              <a:gd fmla="val 995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31"/>
          <p:cNvSpPr/>
          <p:nvPr/>
        </p:nvSpPr>
        <p:spPr>
          <a:xfrm>
            <a:off x="4724475" y="1037200"/>
            <a:ext cx="4071600" cy="1990500"/>
          </a:xfrm>
          <a:prstGeom prst="roundRect">
            <a:avLst>
              <a:gd fmla="val 9955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1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1"/>
          <p:cNvSpPr txBox="1"/>
          <p:nvPr/>
        </p:nvSpPr>
        <p:spPr>
          <a:xfrm>
            <a:off x="177350" y="288800"/>
            <a:ext cx="7725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What you pay EVN today: TOU is the reference price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11" name="Google Shape;211;p31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1 - THE BASELINE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12" name="Google Shape;212;p31"/>
          <p:cNvGraphicFramePr/>
          <p:nvPr/>
        </p:nvGraphicFramePr>
        <p:xfrm>
          <a:off x="376970" y="10372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1283850"/>
                <a:gridCol w="2114425"/>
                <a:gridCol w="749550"/>
              </a:tblGrid>
              <a:tr h="45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Period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Hours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base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93D"/>
                    </a:solidFill>
                  </a:tcPr>
                </a:tc>
              </a:tr>
              <a:tr h="2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Off-peak 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00</a:t>
                      </a: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:00 - 0</a:t>
                      </a:r>
                      <a:r>
                        <a:rPr lang="en" sz="12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</a:t>
                      </a: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~0.52x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456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Normal 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06:00 - 18:00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5F6F7"/>
                    </a:solidFill>
                  </a:tcPr>
                </a:tc>
              </a:tr>
              <a:tr h="278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Peak 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18:00 - 23:00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~1.78x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3" name="Google Shape;213;p31"/>
          <p:cNvSpPr txBox="1"/>
          <p:nvPr/>
        </p:nvSpPr>
        <p:spPr>
          <a:xfrm>
            <a:off x="376973" y="2635300"/>
            <a:ext cx="3968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50" u="none" cap="none" strike="noStrike">
                <a:solidFill>
                  <a:srgbClr val="5A6670"/>
                </a:solidFill>
                <a:latin typeface="Montserrat"/>
                <a:ea typeface="Montserrat"/>
                <a:cs typeface="Montserrat"/>
                <a:sym typeface="Montserrat"/>
              </a:rPr>
              <a:t>Sunday rule: no peak period on Sundays (all hours normal).</a:t>
            </a:r>
            <a:endParaRPr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14" name="Google Shape;214;p31"/>
          <p:cNvGraphicFramePr/>
          <p:nvPr/>
        </p:nvGraphicFramePr>
        <p:xfrm>
          <a:off x="424220" y="3129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961800"/>
                <a:gridCol w="1062000"/>
                <a:gridCol w="1062000"/>
                <a:gridCol w="1062000"/>
              </a:tblGrid>
              <a:tr h="29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Off-peak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Normal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Peak  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29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&gt;=110kV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0.065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0.116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29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22-110kV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0.037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0.070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0.126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29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6-22kV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0.042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0.079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0.141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29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&lt;6kV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0.049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0.092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0.164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p31"/>
          <p:cNvSpPr txBox="1"/>
          <p:nvPr/>
        </p:nvSpPr>
        <p:spPr>
          <a:xfrm>
            <a:off x="4780450" y="1071899"/>
            <a:ext cx="27597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74825" spcFirstLastPara="1" rIns="74825" wrap="square" tIns="37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46" u="none" cap="none" strike="noStrik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Why this matters for DPPA</a:t>
            </a:r>
            <a:endParaRPr sz="11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4821030" y="1464729"/>
            <a:ext cx="39750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74825" spcFirstLastPara="1" rIns="74825" wrap="square" tIns="374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Every DPPA offer is judged against this bill - business</a:t>
            </a:r>
            <a:r>
              <a:rPr lang="en" sz="1064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as-usual (BAU)</a:t>
            </a:r>
            <a:endParaRPr sz="114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18"/>
              </a:spcBef>
              <a:spcAft>
                <a:spcPts val="0"/>
              </a:spcAft>
              <a:buNone/>
            </a:pP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Peak hours cost 3.4x </a:t>
            </a: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off</a:t>
            </a: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-peak: your load shape decides what "average" means for you</a:t>
            </a:r>
            <a:endParaRPr sz="114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18"/>
              </a:spcBef>
              <a:spcAft>
                <a:spcPts val="0"/>
              </a:spcAft>
              <a:buNone/>
            </a:pP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Residual energy (load not covered by the DPPA) keeps paying these TOU rates</a:t>
            </a:r>
            <a:endParaRPr sz="11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31"/>
          <p:cNvSpPr txBox="1"/>
          <p:nvPr/>
        </p:nvSpPr>
        <p:spPr>
          <a:xfrm>
            <a:off x="424225" y="4771200"/>
            <a:ext cx="30000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150">
                <a:solidFill>
                  <a:srgbClr val="5A6670"/>
                </a:solidFill>
                <a:latin typeface="Montserrat"/>
                <a:ea typeface="Montserrat"/>
                <a:cs typeface="Montserrat"/>
                <a:sym typeface="Montserrat"/>
              </a:rPr>
              <a:t>(USD/kWh approx. 2025)</a:t>
            </a:r>
            <a:endParaRPr sz="1150">
              <a:solidFill>
                <a:srgbClr val="5A667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4780450" y="3171745"/>
            <a:ext cx="4147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74825" spcFirstLastPara="1" rIns="74825" wrap="square" tIns="37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46" u="none" cap="none" strike="noStrik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The savings benchmark</a:t>
            </a:r>
            <a:endParaRPr sz="1146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4821025" y="3513825"/>
            <a:ext cx="3975000" cy="13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7400" lIns="74825" spcFirstLastPara="1" rIns="74825" wrap="square" tIns="374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BAU = your current EVN bill escalated ~4%/yr (historical trend 2015-2024)</a:t>
            </a:r>
            <a:endParaRPr sz="114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18"/>
              </a:spcBef>
              <a:spcAft>
                <a:spcPts val="0"/>
              </a:spcAft>
              <a:buNone/>
            </a:pP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DPPA is evaluated on cumulative cost vs BAU over 10</a:t>
            </a:r>
            <a:r>
              <a:rPr lang="en" sz="1064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 </a:t>
            </a: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years and over the project lifetime</a:t>
            </a:r>
            <a:r>
              <a:rPr lang="en" sz="1064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not just Year 1</a:t>
            </a:r>
            <a:endParaRPr sz="1146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18"/>
              </a:spcBef>
              <a:spcAft>
                <a:spcPts val="0"/>
              </a:spcAft>
              <a:buNone/>
            </a:pPr>
            <a:r>
              <a:rPr i="0" lang="en" sz="1064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EVN tariff escalation is the main source of long-term DPPA value</a:t>
            </a:r>
            <a:endParaRPr sz="1146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p32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cap="flat" cmpd="sng" w="57150">
            <a:solidFill>
              <a:srgbClr val="1B786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p32"/>
          <p:cNvSpPr txBox="1"/>
          <p:nvPr/>
        </p:nvSpPr>
        <p:spPr>
          <a:xfrm>
            <a:off x="4572000" y="1440675"/>
            <a:ext cx="45720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2: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Five-Line Bill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6" name="Google Shape;22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9000" y="4919866"/>
            <a:ext cx="639863" cy="2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92558" y="4933125"/>
            <a:ext cx="518101" cy="19863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228" name="Google Shape;228;p32"/>
          <p:cNvPicPr preferRelativeResize="0"/>
          <p:nvPr/>
        </p:nvPicPr>
        <p:blipFill rotWithShape="1">
          <a:blip r:embed="rId6">
            <a:alphaModFix/>
          </a:blip>
          <a:srcRect b="13296" l="6658" r="48140" t="3134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2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177350" y="288800"/>
            <a:ext cx="9850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Virtual DPPA Money Flow: Three relationships, One bill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38" name="Google Shape;238;p33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THE FIVE-LINE BILL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33"/>
          <p:cNvSpPr/>
          <p:nvPr/>
        </p:nvSpPr>
        <p:spPr>
          <a:xfrm>
            <a:off x="429150" y="1657717"/>
            <a:ext cx="1899000" cy="1079400"/>
          </a:xfrm>
          <a:prstGeom prst="roundRect">
            <a:avLst>
              <a:gd fmla="val 16667" name="adj"/>
            </a:avLst>
          </a:prstGeom>
          <a:solidFill>
            <a:srgbClr val="127A7A"/>
          </a:solidFill>
          <a:ln>
            <a:noFill/>
          </a:ln>
          <a:effectLst>
            <a:outerShdw blurRad="31940" rotWithShape="0" dir="5400000" dist="18365">
              <a:srgbClr val="000000">
                <a:alpha val="34900"/>
              </a:srgbClr>
            </a:outerShdw>
          </a:effectLst>
        </p:spPr>
        <p:txBody>
          <a:bodyPr anchorCtr="0" anchor="ctr" bIns="36475" lIns="58400" spcFirstLastPara="1" rIns="5840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1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 GENERATOR</a:t>
            </a:r>
            <a:endParaRPr sz="1118"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sells 100% of output</a:t>
            </a:r>
            <a:endParaRPr sz="1118"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 the spot market</a:t>
            </a:r>
            <a:endParaRPr sz="1118"/>
          </a:p>
        </p:txBody>
      </p:sp>
      <p:sp>
        <p:nvSpPr>
          <p:cNvPr id="240" name="Google Shape;240;p33"/>
          <p:cNvSpPr/>
          <p:nvPr/>
        </p:nvSpPr>
        <p:spPr>
          <a:xfrm>
            <a:off x="3664251" y="1182775"/>
            <a:ext cx="1899000" cy="949800"/>
          </a:xfrm>
          <a:prstGeom prst="roundRect">
            <a:avLst>
              <a:gd fmla="val 16667" name="adj"/>
            </a:avLst>
          </a:prstGeom>
          <a:solidFill>
            <a:srgbClr val="0F293D"/>
          </a:solidFill>
          <a:ln>
            <a:noFill/>
          </a:ln>
          <a:effectLst>
            <a:outerShdw blurRad="31940" rotWithShape="0" dir="5400000" dist="18365">
              <a:srgbClr val="000000">
                <a:alpha val="34900"/>
              </a:srgbClr>
            </a:outerShdw>
          </a:effectLst>
        </p:spPr>
        <p:txBody>
          <a:bodyPr anchorCtr="0" anchor="ctr" bIns="36475" lIns="58400" spcFirstLastPara="1" rIns="5840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1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VWEM SPOT MARKET</a:t>
            </a:r>
            <a:endParaRPr sz="1118"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pays generator FMP</a:t>
            </a:r>
            <a:endParaRPr sz="1118"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 kWh generated</a:t>
            </a:r>
            <a:endParaRPr sz="1118"/>
          </a:p>
        </p:txBody>
      </p:sp>
      <p:sp>
        <p:nvSpPr>
          <p:cNvPr id="241" name="Google Shape;241;p33"/>
          <p:cNvSpPr/>
          <p:nvPr/>
        </p:nvSpPr>
        <p:spPr>
          <a:xfrm>
            <a:off x="3664251" y="2564425"/>
            <a:ext cx="1899000" cy="949800"/>
          </a:xfrm>
          <a:prstGeom prst="roundRect">
            <a:avLst>
              <a:gd fmla="val 16667" name="adj"/>
            </a:avLst>
          </a:prstGeom>
          <a:solidFill>
            <a:srgbClr val="0F293D"/>
          </a:solidFill>
          <a:ln>
            <a:noFill/>
          </a:ln>
          <a:effectLst>
            <a:outerShdw blurRad="31940" rotWithShape="0" dir="5400000" dist="18365">
              <a:srgbClr val="000000">
                <a:alpha val="34900"/>
              </a:srgbClr>
            </a:outerShdw>
          </a:effectLst>
        </p:spPr>
        <p:txBody>
          <a:bodyPr anchorCtr="0" anchor="ctr" bIns="36475" lIns="58400" spcFirstLastPara="1" rIns="5840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1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EVN</a:t>
            </a:r>
            <a:endParaRPr sz="1118"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meters, wheels &amp; bills</a:t>
            </a:r>
            <a:endParaRPr sz="1118"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DPPA customer</a:t>
            </a:r>
            <a:endParaRPr sz="1118"/>
          </a:p>
        </p:txBody>
      </p:sp>
      <p:sp>
        <p:nvSpPr>
          <p:cNvPr id="242" name="Google Shape;242;p33"/>
          <p:cNvSpPr/>
          <p:nvPr/>
        </p:nvSpPr>
        <p:spPr>
          <a:xfrm>
            <a:off x="6899353" y="1657717"/>
            <a:ext cx="1899000" cy="1079400"/>
          </a:xfrm>
          <a:prstGeom prst="roundRect">
            <a:avLst>
              <a:gd fmla="val 16667" name="adj"/>
            </a:avLst>
          </a:prstGeom>
          <a:solidFill>
            <a:srgbClr val="2E9E5B"/>
          </a:solidFill>
          <a:ln>
            <a:noFill/>
          </a:ln>
          <a:effectLst>
            <a:outerShdw blurRad="31940" rotWithShape="0" dir="5400000" dist="18365">
              <a:srgbClr val="000000">
                <a:alpha val="34900"/>
              </a:srgbClr>
            </a:outerShdw>
          </a:effectLst>
        </p:spPr>
        <p:txBody>
          <a:bodyPr anchorCtr="0" anchor="ctr" bIns="36475" lIns="58400" spcFirstLastPara="1" rIns="58400" wrap="square" tIns="364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1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YOUR FACTORY</a:t>
            </a:r>
            <a:endParaRPr sz="1118"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pays EVN the DPPA bill;</a:t>
            </a:r>
            <a:endParaRPr sz="1118"/>
          </a:p>
          <a:p>
            <a:pPr indent="0" lvl="0" marL="0" marR="0" rtl="0" algn="ctr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settles CfD with generator</a:t>
            </a:r>
            <a:endParaRPr sz="1118"/>
          </a:p>
        </p:txBody>
      </p:sp>
      <p:cxnSp>
        <p:nvCxnSpPr>
          <p:cNvPr id="243" name="Google Shape;243;p33"/>
          <p:cNvCxnSpPr/>
          <p:nvPr/>
        </p:nvCxnSpPr>
        <p:spPr>
          <a:xfrm flipH="1" rot="10800000">
            <a:off x="2328014" y="1614677"/>
            <a:ext cx="1336200" cy="302100"/>
          </a:xfrm>
          <a:prstGeom prst="bentConnector3">
            <a:avLst>
              <a:gd fmla="val 50000" name="adj1"/>
            </a:avLst>
          </a:prstGeom>
          <a:noFill/>
          <a:ln cap="flat" cmpd="sng" w="20300">
            <a:solidFill>
              <a:srgbClr val="5A6670"/>
            </a:solidFill>
            <a:prstDash val="solid"/>
            <a:round/>
            <a:headEnd len="sm" w="sm" type="none"/>
            <a:tailEnd len="sm" w="sm" type="none"/>
          </a:ln>
          <a:effectLst>
            <a:outerShdw blurRad="31940" rotWithShape="0" dir="5400000" dist="15970">
              <a:srgbClr val="000000">
                <a:alpha val="38040"/>
              </a:srgbClr>
            </a:outerShdw>
          </a:effectLst>
        </p:spPr>
      </p:cxnSp>
      <p:sp>
        <p:nvSpPr>
          <p:cNvPr id="244" name="Google Shape;244;p33"/>
          <p:cNvSpPr txBox="1"/>
          <p:nvPr/>
        </p:nvSpPr>
        <p:spPr>
          <a:xfrm>
            <a:off x="2292850" y="1355481"/>
            <a:ext cx="14067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3000" spcFirstLastPara="1" rIns="73000" wrap="square" tIns="364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5A667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energy -&gt; market (FMP)</a:t>
            </a:r>
            <a:endParaRPr sz="1118"/>
          </a:p>
        </p:txBody>
      </p:sp>
      <p:cxnSp>
        <p:nvCxnSpPr>
          <p:cNvPr id="245" name="Google Shape;245;p33"/>
          <p:cNvCxnSpPr/>
          <p:nvPr/>
        </p:nvCxnSpPr>
        <p:spPr>
          <a:xfrm flipH="1" rot="10800000">
            <a:off x="5563115" y="2521268"/>
            <a:ext cx="1336200" cy="518100"/>
          </a:xfrm>
          <a:prstGeom prst="bentConnector3">
            <a:avLst>
              <a:gd fmla="val 50000" name="adj1"/>
            </a:avLst>
          </a:prstGeom>
          <a:noFill/>
          <a:ln cap="flat" cmpd="sng" w="20300">
            <a:solidFill>
              <a:srgbClr val="5A6670"/>
            </a:solidFill>
            <a:prstDash val="solid"/>
            <a:round/>
            <a:headEnd len="sm" w="sm" type="none"/>
            <a:tailEnd len="sm" w="sm" type="none"/>
          </a:ln>
          <a:effectLst>
            <a:outerShdw blurRad="31940" rotWithShape="0" dir="5400000" dist="15970">
              <a:srgbClr val="000000">
                <a:alpha val="38040"/>
              </a:srgbClr>
            </a:outerShdw>
          </a:effectLst>
        </p:spPr>
      </p:cxnSp>
      <p:sp>
        <p:nvSpPr>
          <p:cNvPr id="246" name="Google Shape;246;p33"/>
          <p:cNvSpPr txBox="1"/>
          <p:nvPr/>
        </p:nvSpPr>
        <p:spPr>
          <a:xfrm>
            <a:off x="5527951" y="3082544"/>
            <a:ext cx="14769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3000" spcFirstLastPara="1" rIns="73000" wrap="square" tIns="364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5A667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DPPA bill (5 lines)</a:t>
            </a:r>
            <a:endParaRPr sz="1118"/>
          </a:p>
        </p:txBody>
      </p:sp>
      <p:cxnSp>
        <p:nvCxnSpPr>
          <p:cNvPr id="247" name="Google Shape;247;p33"/>
          <p:cNvCxnSpPr/>
          <p:nvPr/>
        </p:nvCxnSpPr>
        <p:spPr>
          <a:xfrm>
            <a:off x="2328014" y="2434896"/>
            <a:ext cx="4571400" cy="600"/>
          </a:xfrm>
          <a:prstGeom prst="bentConnector3">
            <a:avLst>
              <a:gd fmla="val 50000" name="adj1"/>
            </a:avLst>
          </a:prstGeom>
          <a:noFill/>
          <a:ln cap="flat" cmpd="sng" w="20300">
            <a:solidFill>
              <a:srgbClr val="E09A2B"/>
            </a:solidFill>
            <a:prstDash val="dash"/>
            <a:round/>
            <a:headEnd len="sm" w="sm" type="none"/>
            <a:tailEnd len="sm" w="sm" type="none"/>
          </a:ln>
          <a:effectLst>
            <a:outerShdw blurRad="31940" rotWithShape="0" dir="5400000" dist="15970">
              <a:srgbClr val="000000">
                <a:alpha val="38040"/>
              </a:srgbClr>
            </a:outerShdw>
          </a:effectLst>
        </p:spPr>
      </p:cxnSp>
      <p:sp>
        <p:nvSpPr>
          <p:cNvPr id="248" name="Google Shape;248;p33"/>
          <p:cNvSpPr txBox="1"/>
          <p:nvPr/>
        </p:nvSpPr>
        <p:spPr>
          <a:xfrm>
            <a:off x="3875236" y="2132660"/>
            <a:ext cx="1547100" cy="2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3000" spcFirstLastPara="1" rIns="73000" wrap="square" tIns="364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38" u="none" cap="none" strike="noStrike">
                <a:solidFill>
                  <a:srgbClr val="E09A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CfD settlement (two-way)</a:t>
            </a:r>
            <a:endParaRPr sz="1118"/>
          </a:p>
        </p:txBody>
      </p:sp>
      <p:sp>
        <p:nvSpPr>
          <p:cNvPr id="249" name="Google Shape;249;p33"/>
          <p:cNvSpPr txBox="1"/>
          <p:nvPr/>
        </p:nvSpPr>
        <p:spPr>
          <a:xfrm>
            <a:off x="429150" y="3946076"/>
            <a:ext cx="85098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475" lIns="73000" spcFirstLastPara="1" rIns="73000" wrap="square" tIns="36475">
            <a:spAutoFit/>
          </a:bodyPr>
          <a:lstStyle/>
          <a:p>
            <a:pPr indent="-3097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278"/>
              <a:buFont typeface="Montserrat"/>
              <a:buChar char="●"/>
            </a:pPr>
            <a:r>
              <a:rPr i="0" lang="en" sz="1278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Physical electrons flow through the national grid as usual - the DPPA is a financial overlay</a:t>
            </a:r>
            <a:endParaRPr sz="1318">
              <a:latin typeface="Montserrat"/>
              <a:ea typeface="Montserrat"/>
              <a:cs typeface="Montserrat"/>
              <a:sym typeface="Montserrat"/>
            </a:endParaRPr>
          </a:p>
          <a:p>
            <a:pPr indent="-3097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278"/>
              <a:buFont typeface="Montserrat"/>
              <a:buChar char="●"/>
            </a:pPr>
            <a:r>
              <a:rPr i="0" lang="en" sz="1278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generator's revenue = spot sales at FMP + CfD settlement with you</a:t>
            </a:r>
            <a:endParaRPr sz="1318">
              <a:latin typeface="Montserrat"/>
              <a:ea typeface="Montserrat"/>
              <a:cs typeface="Montserrat"/>
              <a:sym typeface="Montserrat"/>
            </a:endParaRPr>
          </a:p>
          <a:p>
            <a:pPr indent="-30975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278"/>
              <a:buFont typeface="Montserrat"/>
              <a:buChar char="●"/>
            </a:pPr>
            <a:r>
              <a:rPr lang="en" sz="1278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Your </a:t>
            </a:r>
            <a:r>
              <a:rPr i="0" lang="en" sz="1278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cost = the five-line EVN bill + the CfD settlement  -&gt;  next slide</a:t>
            </a:r>
            <a:endParaRPr sz="1318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34"/>
          <p:cNvSpPr txBox="1"/>
          <p:nvPr/>
        </p:nvSpPr>
        <p:spPr>
          <a:xfrm>
            <a:off x="177350" y="288800"/>
            <a:ext cx="7725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monthly DPPA settlement has five lines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56" name="Google Shape;25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58" name="Google Shape;258;p34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THE FIVE-LINE BILL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59" name="Google Shape;259;p34"/>
          <p:cNvGraphicFramePr/>
          <p:nvPr/>
        </p:nvGraphicFramePr>
        <p:xfrm>
          <a:off x="534920" y="11799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383375"/>
                <a:gridCol w="1502875"/>
                <a:gridCol w="2869125"/>
                <a:gridCol w="3620600"/>
              </a:tblGrid>
              <a:tr h="4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Formula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Level (2025 reference)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4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energy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Q_Khc x FMP x k x K_pp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avg ~1,426.6 VND/kWh; k~1.026; K_pp by voltage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4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service fee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Q_Khc x C_dppa_dv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360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4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Balancing fee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Q_Khc x P_cl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163.3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4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Residual purchase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(Load - Q_Khc) x EVN retail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TOU rates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450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settlement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(Strike - FMP) x min(Q_c, Q_Khc)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BEE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two-way: can be + or -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BEEDD"/>
                    </a:solidFill>
                  </a:tcPr>
                </a:tc>
              </a:tr>
            </a:tbl>
          </a:graphicData>
        </a:graphic>
      </p:graphicFrame>
      <p:sp>
        <p:nvSpPr>
          <p:cNvPr id="260" name="Google Shape;260;p34"/>
          <p:cNvSpPr txBox="1"/>
          <p:nvPr/>
        </p:nvSpPr>
        <p:spPr>
          <a:xfrm>
            <a:off x="384000" y="3944791"/>
            <a:ext cx="85269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43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50"/>
              <a:buFont typeface="Montserrat"/>
              <a:buChar char="●"/>
            </a:pPr>
            <a:r>
              <a:rPr i="0" lang="en" sz="13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Lines 1-4 are billed by EVN. Line 5 settles bilaterally with the generator under CfD contract.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50"/>
              <a:buFont typeface="Montserrat"/>
              <a:buChar char="●"/>
            </a:pPr>
            <a:r>
              <a:rPr i="0" lang="en" sz="13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Q_Khc = the renewable volume actually received and consumed (defined next slide).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  <a:p>
            <a:pPr indent="-314325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50"/>
              <a:buFont typeface="Montserrat"/>
              <a:buChar char="●"/>
            </a:pPr>
            <a:r>
              <a:rPr i="0" lang="en" sz="13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CFMP = FMP x k: k converts the market price to the customer delivery point (price conversion, not a volume loss).</a:t>
            </a:r>
            <a:endParaRPr sz="15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5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5"/>
          <p:cNvSpPr txBox="1"/>
          <p:nvPr/>
        </p:nvSpPr>
        <p:spPr>
          <a:xfrm>
            <a:off x="177350" y="288800"/>
            <a:ext cx="9494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Which volume? </a:t>
            </a:r>
            <a:r>
              <a:rPr lang="en" sz="2100" strike="sngStrike">
                <a:solidFill>
                  <a:srgbClr val="2E3A49"/>
                </a:solidFill>
                <a:highlight>
                  <a:srgbClr val="FFFF00"/>
                </a:highlight>
                <a:latin typeface="Montserrat ExtraBold"/>
                <a:ea typeface="Montserrat ExtraBold"/>
                <a:cs typeface="Montserrat ExtraBold"/>
                <a:sym typeface="Montserrat ExtraBold"/>
              </a:rPr>
              <a:t>You settle only on </a:t>
            </a: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what you actually consume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67" name="Google Shape;26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69" name="Google Shape;269;p35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THE FIVE-LINE BILL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552300" y="1276725"/>
            <a:ext cx="6766500" cy="1695900"/>
          </a:xfrm>
          <a:prstGeom prst="roundRect">
            <a:avLst>
              <a:gd fmla="val 16667" name="adj"/>
            </a:avLst>
          </a:prstGeom>
          <a:solidFill>
            <a:srgbClr val="EEF4F4"/>
          </a:solidFill>
          <a:ln cap="flat" cmpd="sng" w="12700">
            <a:solidFill>
              <a:srgbClr val="127A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73150" lIns="164575" spcFirstLastPara="1" rIns="164575" wrap="square" tIns="7315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Q_adj = Q_meter / K_pp        delivered volume at your meter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Q_Khc = min(Load, Q_adj)      settled volume (lines 1-3)</a:t>
            </a:r>
            <a:endParaRPr/>
          </a:p>
          <a:p>
            <a:pPr indent="0" lvl="0" marL="0" marR="0" rtl="0" algn="l">
              <a:lnSpc>
                <a:spcPct val="2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Q_CfD = min(Q_c, Q_Khc)       CfD settles on received volume</a:t>
            </a:r>
            <a:endParaRPr/>
          </a:p>
        </p:txBody>
      </p:sp>
      <p:sp>
        <p:nvSpPr>
          <p:cNvPr id="271" name="Google Shape;271;p35"/>
          <p:cNvSpPr txBox="1"/>
          <p:nvPr/>
        </p:nvSpPr>
        <p:spPr>
          <a:xfrm>
            <a:off x="537150" y="3199300"/>
            <a:ext cx="8069700" cy="1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Grid losses are reflected through coordinated volume and price conversions: </a:t>
            </a:r>
            <a:b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K_pp converts generator-meter output into buyer-side credited volume, while </a:t>
            </a:r>
            <a:b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 and K_pp convert FMP into the corresponding buyer-side market-energy price.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i="0" lang="en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If the plant generates more than you consume in an hour, the excess earns the generator spot revenue only</a:t>
            </a:r>
            <a:r>
              <a:rPr lang="en" sz="13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; </a:t>
            </a:r>
            <a:r>
              <a:rPr i="0" lang="en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 is NOT billed to you and does NOT earn CfD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"/>
              <a:buChar char="●"/>
            </a:pPr>
            <a:r>
              <a:rPr b="1" i="0" lang="en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Practical consequence: </a:t>
            </a:r>
            <a:r>
              <a:rPr i="0" lang="en" sz="13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contracted volume (Q_c) above your real consumption buys nothing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6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6"/>
          <p:cNvSpPr txBox="1"/>
          <p:nvPr/>
        </p:nvSpPr>
        <p:spPr>
          <a:xfrm>
            <a:off x="177350" y="288800"/>
            <a:ext cx="8301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Simulation: Industrial park buys 6,000 MWh/month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78" name="Google Shape;2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80" name="Google Shape;280;p36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2 - WORKED EXAMPLE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81" name="Google Shape;281;p36"/>
          <p:cNvGraphicFramePr/>
          <p:nvPr/>
        </p:nvGraphicFramePr>
        <p:xfrm>
          <a:off x="304045" y="10939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2344925"/>
                <a:gridCol w="977050"/>
                <a:gridCol w="1433025"/>
              </a:tblGrid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Parameter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Symbol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Consumption = received RE volume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Q_KH = Q_Khc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kWh/mo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44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Contracted CfD volume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Q_c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kWh/mo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strike price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P_c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1,300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price (monthly avg)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1,200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Price conversion factor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1.026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Loss factor (110 kV)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K_pp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1.008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service fee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C_dppa_dv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360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Balancing fee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P_cl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163.3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54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Avg retail price (residual)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2,204 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2" name="Google Shape;282;p36"/>
          <p:cNvSpPr txBox="1"/>
          <p:nvPr/>
        </p:nvSpPr>
        <p:spPr>
          <a:xfrm>
            <a:off x="5487550" y="1151550"/>
            <a:ext cx="3524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36"/>
          <p:cNvSpPr txBox="1"/>
          <p:nvPr/>
        </p:nvSpPr>
        <p:spPr>
          <a:xfrm>
            <a:off x="5278825" y="1674325"/>
            <a:ext cx="3733500" cy="16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50 MW solar plant contracts its full output to one industrial customer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Consumption exactly equals delivered RE volume - no residual EVN purchase this month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300"/>
              <a:buFont typeface="Montserrat"/>
              <a:buChar char="●"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Strike just 100 VND above market - watch what the fees do</a:t>
            </a:r>
            <a:endParaRPr sz="1300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7"/>
          <p:cNvSpPr txBox="1"/>
          <p:nvPr/>
        </p:nvSpPr>
        <p:spPr>
          <a:xfrm>
            <a:off x="177350" y="288800"/>
            <a:ext cx="7725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five lines, computed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90" name="Google Shape;29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292" name="Google Shape;292;p37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WORKED EXAMPLE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93" name="Google Shape;293;p37"/>
          <p:cNvGraphicFramePr/>
          <p:nvPr/>
        </p:nvGraphicFramePr>
        <p:xfrm>
          <a:off x="429670" y="111485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2429450"/>
                <a:gridCol w="3725150"/>
                <a:gridCol w="2105525"/>
              </a:tblGrid>
              <a:tr h="36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Calculation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VND/month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36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  Market energy (C_DN)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x 1,200 x 1.026 x 1.008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7,446,297,600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6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  Service fee (C_dppa)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x 360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2,160,000,000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6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  Balancing fee (C_cl)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6,000,000 x 163.3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979,800,000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6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 Residual (C_bl)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 kWh x 2,204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6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EVN bill (C_EVN)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lines 1 + 2 + 3 + 4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10,586,097,600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</a:tr>
              <a:tr h="36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  CfD settlement (C_CfD)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(1,300 - 1,200) x 6,000,000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600,000,000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6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  TOTAL (C_KH)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C_EVN + C_CfD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 u="none" cap="none" strike="noStrike">
                          <a:solidFill>
                            <a:srgbClr val="0F293D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11,186,097,600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37"/>
          <p:cNvSpPr txBox="1"/>
          <p:nvPr/>
        </p:nvSpPr>
        <p:spPr>
          <a:xfrm>
            <a:off x="345949" y="4232225"/>
            <a:ext cx="8550900" cy="8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Effective cost = 11,186,097,600 / 6,000,000 = ~1,864 VND/kWh for fully renewable supply (vs ~2,204 VND avg retail in the example)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i="0" lang="en" sz="12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Generator side: 6,048,000 kWh x 1,200 (spot) + 600,000,000 (CfD) = 7,857,600,000 VND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177350" y="288800"/>
            <a:ext cx="7725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Your monthly settlement has five lines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01" name="Google Shape;3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03" name="Google Shape;303;p38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THE FIVE-LINE BILL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04" name="Google Shape;304;p38"/>
          <p:cNvGraphicFramePr/>
          <p:nvPr/>
        </p:nvGraphicFramePr>
        <p:xfrm>
          <a:off x="224570" y="10873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3105825"/>
                <a:gridCol w="1129075"/>
                <a:gridCol w="1092175"/>
              </a:tblGrid>
              <a:tr h="57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Component (per matched kWh)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VND/kWh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 cents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587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energy at 2025 avg FMP x k x K_pp (22-110kV)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~1,504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~6.0c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57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service fee (C_dppa_dv)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1.4c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57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Balancing fee (P_cl)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163.3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572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Delivered cost before CfD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~2,027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~8.1c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305" name="Google Shape;305;p38"/>
          <p:cNvSpPr txBox="1"/>
          <p:nvPr/>
        </p:nvSpPr>
        <p:spPr>
          <a:xfrm>
            <a:off x="6029000" y="1216525"/>
            <a:ext cx="2899200" cy="26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523 VND/kWh of fixed fees applies to every matched kWh, regardless of your strike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They are set by regulation, not negotiation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Compare ~2,027 VND delivered (pre-CfD) with your own TOU mix - for many factories that is already near or above average grid cost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38"/>
          <p:cNvSpPr/>
          <p:nvPr/>
        </p:nvSpPr>
        <p:spPr>
          <a:xfrm>
            <a:off x="224575" y="4202900"/>
            <a:ext cx="8578200" cy="685200"/>
          </a:xfrm>
          <a:prstGeom prst="roundRect">
            <a:avLst>
              <a:gd fmla="val 16667" name="adj"/>
            </a:avLst>
          </a:prstGeom>
          <a:solidFill>
            <a:srgbClr val="0F29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Virtual DPPA is rarely a Day-1 discount. Its value = price certainty vs EVN escalation + credible renewable claims.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1" name="Google Shape;311;p39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cap="flat" cmpd="sng" w="57150">
            <a:solidFill>
              <a:srgbClr val="1B786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2" name="Google Shape;312;p39"/>
          <p:cNvSpPr txBox="1"/>
          <p:nvPr/>
        </p:nvSpPr>
        <p:spPr>
          <a:xfrm>
            <a:off x="4572000" y="1440675"/>
            <a:ext cx="45720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3: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CfD Mechanics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9000" y="4919866"/>
            <a:ext cx="639863" cy="2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558" y="4933125"/>
            <a:ext cx="518101" cy="19863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15" name="Google Shape;315;p39"/>
          <p:cNvPicPr preferRelativeResize="0"/>
          <p:nvPr/>
        </p:nvPicPr>
        <p:blipFill rotWithShape="1">
          <a:blip r:embed="rId5">
            <a:alphaModFix/>
          </a:blip>
          <a:srcRect b="13296" l="6658" r="48140" t="3134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9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177350" y="288800"/>
            <a:ext cx="7725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CfD is two-way: certainty, not automatic savings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23" name="Google Shape;32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25" name="Google Shape;325;p40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CFD MECHANICS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40"/>
          <p:cNvSpPr/>
          <p:nvPr/>
        </p:nvSpPr>
        <p:spPr>
          <a:xfrm>
            <a:off x="177350" y="1276725"/>
            <a:ext cx="4731600" cy="777300"/>
          </a:xfrm>
          <a:prstGeom prst="roundRect">
            <a:avLst>
              <a:gd fmla="val 16667" name="adj"/>
            </a:avLst>
          </a:prstGeom>
          <a:solidFill>
            <a:srgbClr val="EEF4F4"/>
          </a:solidFill>
          <a:ln cap="flat" cmpd="sng" w="12700">
            <a:solidFill>
              <a:srgbClr val="127A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73150" lIns="164575" spcFirstLastPara="1" rIns="164575" wrap="square" tIns="73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600" u="none" cap="none" strike="noStrik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CfD cash flow = (Strike - FMP) x Q_CfD</a:t>
            </a:r>
            <a:endParaRPr/>
          </a:p>
        </p:txBody>
      </p:sp>
      <p:graphicFrame>
        <p:nvGraphicFramePr>
          <p:cNvPr id="327" name="Google Shape;327;p40"/>
          <p:cNvGraphicFramePr/>
          <p:nvPr/>
        </p:nvGraphicFramePr>
        <p:xfrm>
          <a:off x="177345" y="237400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2026450"/>
                <a:gridCol w="27051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Market condition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Who pays whom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below strike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 top up the generator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above strike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Generator pays you back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328" name="Google Shape;328;p40"/>
          <p:cNvSpPr txBox="1"/>
          <p:nvPr/>
        </p:nvSpPr>
        <p:spPr>
          <a:xfrm>
            <a:off x="5338175" y="1359450"/>
            <a:ext cx="3454200" cy="27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Net effect: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renewable energy cost is locked near the strike (+ fees), whatever the market does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2025 reference: FMP averaged ~1,427 VND/kWh with strong hourly volatility - the CfD removes that volatility from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budget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 strike below expected average FMP would mean expected receipts - but no developer can finance that (Module 4)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1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1"/>
          <p:cNvSpPr txBox="1"/>
          <p:nvPr/>
        </p:nvSpPr>
        <p:spPr>
          <a:xfrm>
            <a:off x="177350" y="288800"/>
            <a:ext cx="7725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Strike escalation and the Year 1 reality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35" name="Google Shape;3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37" name="Google Shape;337;p41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CFD MECHANICS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p41"/>
          <p:cNvSpPr txBox="1"/>
          <p:nvPr/>
        </p:nvSpPr>
        <p:spPr>
          <a:xfrm>
            <a:off x="395850" y="1182775"/>
            <a:ext cx="409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Strike escalation (e.g. 4%/yr)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41"/>
          <p:cNvSpPr txBox="1"/>
          <p:nvPr/>
        </p:nvSpPr>
        <p:spPr>
          <a:xfrm>
            <a:off x="395850" y="1514505"/>
            <a:ext cx="40908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Escalating strikes improve the seller's and lender's lifetime economics...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...but do nothing for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Year 1 cost - and compound against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BUYER </a:t>
            </a: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later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Negotiate the escalation index as hard as the starting strike (fixed VND vs CPI vs USD-linked)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4793526" y="1182775"/>
            <a:ext cx="3954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What Year 1 usually looks like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41"/>
          <p:cNvSpPr txBox="1"/>
          <p:nvPr/>
        </p:nvSpPr>
        <p:spPr>
          <a:xfrm>
            <a:off x="4793526" y="1514505"/>
            <a:ext cx="3954300" cy="17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In most realistic structures, Year 1 DPPA cost is at or above BAU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Savings build as EVN tariffs escalate (~4%/yr) against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BUYER </a:t>
            </a: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locked strike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8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Evaluate on 10-year and lifetime cumulative cost - never on Year 1 alone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41"/>
          <p:cNvSpPr/>
          <p:nvPr/>
        </p:nvSpPr>
        <p:spPr>
          <a:xfrm>
            <a:off x="395850" y="3947192"/>
            <a:ext cx="8352300" cy="710700"/>
          </a:xfrm>
          <a:prstGeom prst="roundRect">
            <a:avLst>
              <a:gd fmla="val 16667" name="adj"/>
            </a:avLst>
          </a:prstGeom>
          <a:solidFill>
            <a:srgbClr val="127A7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Budget question: can we accept a modest Year 1 premium to cap </a:t>
            </a: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15~25 </a:t>
            </a:r>
            <a:r>
              <a:rPr b="1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year exposure?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2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42"/>
          <p:cNvSpPr txBox="1"/>
          <p:nvPr/>
        </p:nvSpPr>
        <p:spPr>
          <a:xfrm>
            <a:off x="177350" y="288800"/>
            <a:ext cx="7725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Contract volume vs your load </a:t>
            </a: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shape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49" name="Google Shape;34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51" name="Google Shape;351;p42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CFD MECHANICS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42"/>
          <p:cNvSpPr txBox="1"/>
          <p:nvPr/>
        </p:nvSpPr>
        <p:spPr>
          <a:xfrm>
            <a:off x="387800" y="1073000"/>
            <a:ext cx="791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4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Solar generates midday; 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i="0" lang="en" sz="14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factory runs its own shape. The overlap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r>
              <a:rPr i="0" lang="en" sz="14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hour by hour</a:t>
            </a:r>
            <a:r>
              <a:rPr lang="en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r>
              <a:rPr i="0" lang="en" sz="14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is all that counts.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53" name="Google Shape;353;p42"/>
          <p:cNvGraphicFramePr/>
          <p:nvPr/>
        </p:nvGraphicFramePr>
        <p:xfrm>
          <a:off x="387795" y="1603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2204825"/>
                <a:gridCol w="2983000"/>
                <a:gridCol w="2723625"/>
              </a:tblGrid>
              <a:tr h="61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If you...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What happens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consequence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61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Over-contract (Q_c &gt; consumption)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caps at consumed volume - excess earns nothing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 paid contract terms for volume you can never settle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61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 contract to hourly overlap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Every contracted kWh settles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Efficient - the target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EEF4F4"/>
                    </a:solidFill>
                  </a:tcPr>
                </a:tc>
              </a:tr>
              <a:tr h="61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Under-contract (Q_c &lt; overlap)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More residual purchased from EVN at TOU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Less price certainty, smaller renewable claim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4" name="Google Shape;354;p42"/>
          <p:cNvSpPr txBox="1"/>
          <p:nvPr/>
        </p:nvSpPr>
        <p:spPr>
          <a:xfrm>
            <a:off x="324999" y="4228775"/>
            <a:ext cx="82893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Ask every developer for an hourly (8760) matching analysis against </a:t>
            </a:r>
            <a:r>
              <a:rPr lang="en" sz="13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your </a:t>
            </a: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meter data - not an annual percentage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Batteries can shift the overlap window but add capex the tariff must carry (see the case study)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43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cap="flat" cmpd="sng" w="57150">
            <a:solidFill>
              <a:srgbClr val="1B786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0" name="Google Shape;360;p43"/>
          <p:cNvSpPr txBox="1"/>
          <p:nvPr/>
        </p:nvSpPr>
        <p:spPr>
          <a:xfrm>
            <a:off x="4572000" y="1440675"/>
            <a:ext cx="45720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4: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Developer Economics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1" name="Google Shape;36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9000" y="4919866"/>
            <a:ext cx="639863" cy="2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558" y="4933125"/>
            <a:ext cx="518101" cy="19863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363" name="Google Shape;363;p43"/>
          <p:cNvPicPr preferRelativeResize="0"/>
          <p:nvPr/>
        </p:nvPicPr>
        <p:blipFill rotWithShape="1">
          <a:blip r:embed="rId5">
            <a:alphaModFix/>
          </a:blip>
          <a:srcRect b="13296" l="6658" r="48140" t="3134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3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4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4"/>
          <p:cNvSpPr txBox="1"/>
          <p:nvPr/>
        </p:nvSpPr>
        <p:spPr>
          <a:xfrm>
            <a:off x="177350" y="288800"/>
            <a:ext cx="9285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The other side of the table: where the money comes from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71" name="Google Shape;37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73" name="Google Shape;373;p44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DEVELOPER ECONOMICS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44"/>
          <p:cNvSpPr/>
          <p:nvPr/>
        </p:nvSpPr>
        <p:spPr>
          <a:xfrm>
            <a:off x="387275" y="1036225"/>
            <a:ext cx="4364700" cy="1751700"/>
          </a:xfrm>
          <a:prstGeom prst="roundRect">
            <a:avLst>
              <a:gd fmla="val 16667" name="adj"/>
            </a:avLst>
          </a:prstGeom>
          <a:solidFill>
            <a:srgbClr val="EEF4F4"/>
          </a:solidFill>
          <a:ln cap="flat" cmpd="sng" w="9375">
            <a:solidFill>
              <a:srgbClr val="127A7A"/>
            </a:solidFill>
            <a:prstDash val="solid"/>
            <a:round/>
            <a:headEnd len="sm" w="sm" type="none"/>
            <a:tailEnd len="sm" w="sm" type="none"/>
          </a:ln>
          <a:effectLst>
            <a:outerShdw blurRad="29555" rotWithShape="0" dir="5400000" dist="16994">
              <a:srgbClr val="000000">
                <a:alpha val="34900"/>
              </a:srgbClr>
            </a:outerShdw>
          </a:effectLst>
        </p:spPr>
        <p:txBody>
          <a:bodyPr anchorCtr="0" anchor="ctr" bIns="54050" lIns="121600" spcFirstLastPara="1" rIns="121600" wrap="square" tIns="54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34" u="none" cap="none" strike="noStrik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Revenue =</a:t>
            </a:r>
            <a:endParaRPr sz="1034">
              <a:solidFill>
                <a:srgbClr val="0F293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34">
              <a:solidFill>
                <a:srgbClr val="0F293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34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0" i="0" lang="en" sz="1034" u="none" cap="none" strike="noStrik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Q_meter x FMP             </a:t>
            </a:r>
            <a:r>
              <a:rPr b="0" i="1" lang="en" sz="1034" u="none" cap="none" strike="noStrik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spot sales (volatile)</a:t>
            </a:r>
            <a:endParaRPr i="1" sz="1034"/>
          </a:p>
          <a:p>
            <a:pPr indent="0" lvl="0" marL="0" marR="0" rtl="0" algn="l">
              <a:lnSpc>
                <a:spcPct val="100000"/>
              </a:lnSpc>
              <a:spcBef>
                <a:spcPts val="148"/>
              </a:spcBef>
              <a:spcAft>
                <a:spcPts val="0"/>
              </a:spcAft>
              <a:buNone/>
            </a:pPr>
            <a:r>
              <a:rPr b="0" i="0" lang="en" sz="1034" u="none" cap="none" strike="noStrik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   + (Strike - FMP) x Q_CfD  </a:t>
            </a:r>
            <a:r>
              <a:rPr b="0" i="1" lang="en" sz="1034" u="none" cap="none" strike="noStrike">
                <a:solidFill>
                  <a:srgbClr val="0F293D"/>
                </a:solidFill>
                <a:latin typeface="Consolas"/>
                <a:ea typeface="Consolas"/>
                <a:cs typeface="Consolas"/>
                <a:sym typeface="Consolas"/>
              </a:rPr>
              <a:t>CfD with you (stabiliser)</a:t>
            </a:r>
            <a:endParaRPr i="1" sz="1034"/>
          </a:p>
        </p:txBody>
      </p:sp>
      <p:sp>
        <p:nvSpPr>
          <p:cNvPr id="375" name="Google Shape;375;p44"/>
          <p:cNvSpPr txBox="1"/>
          <p:nvPr/>
        </p:nvSpPr>
        <p:spPr>
          <a:xfrm>
            <a:off x="5149775" y="1193250"/>
            <a:ext cx="3645300" cy="16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50" spcFirstLastPara="1" rIns="67550" wrap="square" tIns="33775">
            <a:spAutoFit/>
          </a:bodyPr>
          <a:lstStyle/>
          <a:p>
            <a:pPr indent="-416593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B33"/>
              </a:buClr>
              <a:buSzPts val="1161"/>
              <a:buFont typeface="Montserrat"/>
              <a:buAutoNum type="arabicPeriod"/>
            </a:pPr>
            <a:r>
              <a:rPr i="0" lang="en" sz="1161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CfD converts volatile spot revenue into a near-fixed price on matched volume</a:t>
            </a:r>
            <a:endParaRPr sz="1161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1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6593" lvl="0" marL="228600" marR="0" rtl="0" algn="l">
              <a:lnSpc>
                <a:spcPct val="100000"/>
              </a:lnSpc>
              <a:spcBef>
                <a:spcPts val="887"/>
              </a:spcBef>
              <a:spcAft>
                <a:spcPts val="0"/>
              </a:spcAft>
              <a:buClr>
                <a:srgbClr val="222B33"/>
              </a:buClr>
              <a:buSzPts val="1161"/>
              <a:buFont typeface="Montserrat"/>
              <a:buAutoNum type="arabicPeriod"/>
            </a:pPr>
            <a:r>
              <a:rPr i="0" lang="en" sz="1161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Your strike IS the developer's bankable revenue line</a:t>
            </a:r>
            <a:endParaRPr i="0" sz="1161" u="none" cap="none" strike="noStrike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887"/>
              </a:spcBef>
              <a:spcAft>
                <a:spcPts val="0"/>
              </a:spcAft>
              <a:buNone/>
            </a:pPr>
            <a:r>
              <a:t/>
            </a:r>
            <a:endParaRPr sz="1161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6593" lvl="0" marL="228600" marR="0" rtl="0" algn="l">
              <a:lnSpc>
                <a:spcPct val="100000"/>
              </a:lnSpc>
              <a:spcBef>
                <a:spcPts val="887"/>
              </a:spcBef>
              <a:spcAft>
                <a:spcPts val="0"/>
              </a:spcAft>
              <a:buClr>
                <a:srgbClr val="222B33"/>
              </a:buClr>
              <a:buSzPts val="1161"/>
              <a:buFont typeface="Montserrat"/>
              <a:buAutoNum type="arabicPeriod"/>
            </a:pPr>
            <a:r>
              <a:rPr i="0" lang="en" sz="1161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Everything the lender checks flows from it</a:t>
            </a:r>
            <a:endParaRPr sz="1234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44"/>
          <p:cNvSpPr txBox="1"/>
          <p:nvPr/>
        </p:nvSpPr>
        <p:spPr>
          <a:xfrm>
            <a:off x="516225" y="2974100"/>
            <a:ext cx="4721100" cy="1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3775" lIns="67550" spcFirstLastPara="1" rIns="67550" wrap="square" tIns="33775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61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Typical Vietnam RE project finance:</a:t>
            </a:r>
            <a:endParaRPr sz="1434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43"/>
              </a:spcBef>
              <a:spcAft>
                <a:spcPts val="0"/>
              </a:spcAft>
              <a:buNone/>
            </a:pPr>
            <a:r>
              <a:rPr i="0" lang="en" sz="1361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 70% debt / 30% equity, ~10-year debt term</a:t>
            </a:r>
            <a:endParaRPr sz="1434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43"/>
              </a:spcBef>
              <a:spcAft>
                <a:spcPts val="0"/>
              </a:spcAft>
              <a:buNone/>
            </a:pPr>
            <a:r>
              <a:rPr i="0" lang="en" sz="1361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 Debt: ~8.5%/yr in VND  -  ~5%/yr in USD (international)</a:t>
            </a:r>
            <a:endParaRPr sz="1434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43"/>
              </a:spcBef>
              <a:spcAft>
                <a:spcPts val="0"/>
              </a:spcAft>
              <a:buNone/>
            </a:pPr>
            <a:r>
              <a:rPr i="0" lang="en" sz="1361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 Equity target: 12-15%+ IRR</a:t>
            </a:r>
            <a:endParaRPr sz="1434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443"/>
              </a:spcBef>
              <a:spcAft>
                <a:spcPts val="0"/>
              </a:spcAft>
              <a:buNone/>
            </a:pPr>
            <a:r>
              <a:rPr i="0" lang="en" sz="1361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 CIT incentives: 4 years exempt + 9 years at half </a:t>
            </a:r>
            <a:r>
              <a:rPr i="0" lang="en" sz="1361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rate </a:t>
            </a:r>
            <a:endParaRPr sz="1434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45"/>
          <p:cNvSpPr txBox="1"/>
          <p:nvPr/>
        </p:nvSpPr>
        <p:spPr>
          <a:xfrm>
            <a:off x="177350" y="288800"/>
            <a:ext cx="9285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 deal must pass three gates at once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83" name="Google Shape;383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85" name="Google Shape;385;p45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DEVELOPER ECONOMICS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86" name="Google Shape;386;p45"/>
          <p:cNvGraphicFramePr/>
          <p:nvPr/>
        </p:nvGraphicFramePr>
        <p:xfrm>
          <a:off x="492461" y="11082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1069975"/>
                <a:gridCol w="1069975"/>
                <a:gridCol w="3994575"/>
                <a:gridCol w="2282625"/>
              </a:tblGrid>
              <a:tr h="39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Gate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Test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pressure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39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You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Cumulative cost &lt;= BAU over 10 yr AND lifetime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pushes strike DOWN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9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Equity IRR &gt;= 12-15%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pushes strike UP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95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LENDER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Bank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Minimum DSCR &gt;= ~1.20x every year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pushes strike UP (hardest gate)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7" name="Google Shape;387;p45"/>
          <p:cNvSpPr txBox="1"/>
          <p:nvPr/>
        </p:nvSpPr>
        <p:spPr>
          <a:xfrm>
            <a:off x="516300" y="3001713"/>
            <a:ext cx="8111400" cy="9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DSCR = cash available for debt service / debt service, computed for every year of the loan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One bad year - e.g. a battery replacement - can sink the whole financing even if averages look fine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negotiation window is the strike range where all three gates pass - it can be empty (case study)</a:t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45"/>
          <p:cNvSpPr/>
          <p:nvPr/>
        </p:nvSpPr>
        <p:spPr>
          <a:xfrm>
            <a:off x="335610" y="4270050"/>
            <a:ext cx="8574000" cy="534300"/>
          </a:xfrm>
          <a:prstGeom prst="roundRect">
            <a:avLst>
              <a:gd fmla="val 16667" name="adj"/>
            </a:avLst>
          </a:prstGeom>
          <a:solidFill>
            <a:srgbClr val="0F29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strike below the developer's bankability floor does not mean a cheap deal - it means no project.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6"/>
          <p:cNvSpPr/>
          <p:nvPr/>
        </p:nvSpPr>
        <p:spPr>
          <a:xfrm>
            <a:off x="0" y="87340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6"/>
          <p:cNvSpPr txBox="1"/>
          <p:nvPr/>
        </p:nvSpPr>
        <p:spPr>
          <a:xfrm>
            <a:off x="177350" y="330668"/>
            <a:ext cx="9285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Lifecycle items the tariff must carry - even when they are absent from the term sheet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395" name="Google Shape;39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397" name="Google Shape;397;p46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DEVELOPER ECONOMICS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98" name="Google Shape;398;p46"/>
          <p:cNvGraphicFramePr/>
          <p:nvPr/>
        </p:nvGraphicFramePr>
        <p:xfrm>
          <a:off x="366870" y="12871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1649650"/>
                <a:gridCol w="2749450"/>
                <a:gridCol w="39866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Item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Typical assumption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Implication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PV degradation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~0.5%/yr output decline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Matched volume shrinks; lost kWh repurchased from EVN at TOU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Battery replacement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Around year </a:t>
                      </a:r>
                      <a:r>
                        <a:rPr lang="en" sz="125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8-10</a:t>
                      </a: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, large one-off cost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 crater DSCR in that year;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CIT holiday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 yr exempt + 9 yr half rate (RE projects)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Improves developer economics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FX exposure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VND strike vs USD capex/debt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USD-linked terms shift FX </a:t>
                      </a:r>
                      <a:r>
                        <a:rPr lang="en" sz="125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</a:t>
                      </a: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25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risks</a:t>
                      </a: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; price it consciously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399" name="Google Shape;399;p46"/>
          <p:cNvSpPr txBox="1"/>
          <p:nvPr/>
        </p:nvSpPr>
        <p:spPr>
          <a:xfrm>
            <a:off x="283125" y="4221652"/>
            <a:ext cx="838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5A6670"/>
                </a:solidFill>
                <a:latin typeface="Montserrat"/>
                <a:ea typeface="Montserrat"/>
                <a:cs typeface="Montserrat"/>
                <a:sym typeface="Montserrat"/>
              </a:rPr>
              <a:t>These rarely appear in headline term sheets, but each one moves the bankable strike floor and therefore your price.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4" name="Google Shape;404;p47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cap="flat" cmpd="sng" w="57150">
            <a:solidFill>
              <a:srgbClr val="1B786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5" name="Google Shape;405;p47"/>
          <p:cNvSpPr txBox="1"/>
          <p:nvPr/>
        </p:nvSpPr>
        <p:spPr>
          <a:xfrm>
            <a:off x="4572000" y="1440675"/>
            <a:ext cx="45720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5: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Case Study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6" name="Google Shape;40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9000" y="4919866"/>
            <a:ext cx="639863" cy="2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558" y="4933125"/>
            <a:ext cx="518101" cy="19863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08" name="Google Shape;408;p47"/>
          <p:cNvPicPr preferRelativeResize="0"/>
          <p:nvPr/>
        </p:nvPicPr>
        <p:blipFill rotWithShape="1">
          <a:blip r:embed="rId5">
            <a:alphaModFix/>
          </a:blip>
          <a:srcRect b="13296" l="6658" r="48140" t="3134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47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8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8"/>
          <p:cNvSpPr txBox="1"/>
          <p:nvPr/>
        </p:nvSpPr>
        <p:spPr>
          <a:xfrm>
            <a:off x="177350" y="288800"/>
            <a:ext cx="9285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Same factory as yesterday - now going off-site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16" name="Google Shape;41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18" name="Google Shape;418;p48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CASE STUDY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48"/>
          <p:cNvSpPr txBox="1"/>
          <p:nvPr/>
        </p:nvSpPr>
        <p:spPr>
          <a:xfrm>
            <a:off x="323900" y="1081100"/>
            <a:ext cx="83847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Yesterday</a:t>
            </a:r>
            <a:r>
              <a:rPr i="1" lang="en" sz="135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’s </a:t>
            </a:r>
            <a:r>
              <a:rPr i="1" lang="en" sz="13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On-Site </a:t>
            </a:r>
            <a:r>
              <a:rPr i="1" lang="en" sz="135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i="1" lang="en" sz="13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ession): Cases 1-4 explored rooftop solar + BESS behind the meter. </a:t>
            </a:r>
            <a:endParaRPr i="1" sz="1350" u="none" cap="none" strike="noStrike">
              <a:solidFill>
                <a:srgbClr val="222B3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Today: </a:t>
            </a:r>
            <a:r>
              <a:rPr i="0" lang="en" sz="13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same southern</a:t>
            </a:r>
            <a:r>
              <a:rPr lang="en" sz="135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35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Vietnam manufacturing facility (22-110kV) signs a virtual DPPA with a dedicated solar + storage project.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20" name="Google Shape;420;p48"/>
          <p:cNvGraphicFramePr/>
          <p:nvPr/>
        </p:nvGraphicFramePr>
        <p:xfrm>
          <a:off x="480370" y="20226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3375350"/>
                <a:gridCol w="469640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Deal frame (both cases)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Value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DPPA type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Virtual (grid CfD) under Decree 57/2025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price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2,000 VND/kWh, escalating 4%/yr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Tenor / analysis period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25 years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Financing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70% debt, 8.5% VND, 10-yr term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Difference between cases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Case 5: solar + LARGE battery   -   Case 6: solar + MINIMUM battery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1" name="Google Shape;421;p48"/>
          <p:cNvSpPr txBox="1"/>
          <p:nvPr/>
        </p:nvSpPr>
        <p:spPr>
          <a:xfrm>
            <a:off x="481025" y="4593700"/>
            <a:ext cx="838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5A6670"/>
                </a:solidFill>
                <a:latin typeface="Montserrat"/>
                <a:ea typeface="Montserrat"/>
                <a:cs typeface="Montserrat"/>
                <a:sym typeface="Montserrat"/>
              </a:rPr>
              <a:t>Method: full 8760-hour settlement simulation (ND57 formulas, hourly FMP/CFMP series) + 25-year project cash-flow model with the three gates.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9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9"/>
          <p:cNvSpPr txBox="1"/>
          <p:nvPr/>
        </p:nvSpPr>
        <p:spPr>
          <a:xfrm>
            <a:off x="177350" y="288800"/>
            <a:ext cx="9285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Case 5 - solar + large battery: the battery eats the deal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28" name="Google Shape;42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30" name="Google Shape;430;p49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CASE STUDY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31" name="Google Shape;431;p49"/>
          <p:cNvGraphicFramePr/>
          <p:nvPr/>
        </p:nvGraphicFramePr>
        <p:xfrm>
          <a:off x="283120" y="1034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2879700"/>
                <a:gridCol w="2239775"/>
              </a:tblGrid>
              <a:tr h="27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27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 equity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16.9%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27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13.5%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27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NPV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$1.52M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27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Minimum DSCR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1.14x  (replacement year)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27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Payback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9.1 yr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27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Year 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-8.7%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27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- 10-yr cumulative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-8.9%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277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lifetime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-9.3%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432" name="Google Shape;432;p49"/>
          <p:cNvSpPr txBox="1"/>
          <p:nvPr/>
        </p:nvSpPr>
        <p:spPr>
          <a:xfrm>
            <a:off x="5628450" y="1103350"/>
            <a:ext cx="33210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At strike 2,000 the buyer pays ~9% MORE than BAU on every horizon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The oversized battery adds a ~$1.2M replacement around year 11 that the tariff must recover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Even so, lender comfort is thin (min DSCR 1.14x &lt; 1.20x)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49"/>
          <p:cNvSpPr/>
          <p:nvPr/>
        </p:nvSpPr>
        <p:spPr>
          <a:xfrm>
            <a:off x="283124" y="3958800"/>
            <a:ext cx="8404500" cy="822900"/>
          </a:xfrm>
          <a:prstGeom prst="roundRect">
            <a:avLst>
              <a:gd fmla="val 16667" name="adj"/>
            </a:avLst>
          </a:prstGeom>
          <a:solidFill>
            <a:srgbClr val="B33A3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Lesson 1: an oversized battery cannot carry its own replacement cost through the tariff - everyone loses.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/>
          <p:nvPr/>
        </p:nvSpPr>
        <p:spPr>
          <a:xfrm>
            <a:off x="0" y="894342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0"/>
          <p:cNvSpPr txBox="1"/>
          <p:nvPr/>
        </p:nvSpPr>
        <p:spPr>
          <a:xfrm>
            <a:off x="177350" y="288800"/>
            <a:ext cx="8541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Case 6 - solar + minimum battery: bankable, but the strike is the fight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40" name="Google Shape;44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42" name="Google Shape;442;p50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CASE STUDY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43" name="Google Shape;443;p50"/>
          <p:cNvGraphicFramePr/>
          <p:nvPr/>
        </p:nvGraphicFramePr>
        <p:xfrm>
          <a:off x="345920" y="116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2508800"/>
                <a:gridCol w="1951275"/>
              </a:tblGrid>
              <a:tr h="29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Metric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 equity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26.9%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IRR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18.2%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NPV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$2.54M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Minimum DSCR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1.50x  (comfortably &gt; 1.20x)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Payback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4.7 yr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296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vs BAU - all horizons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-14.4%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444" name="Google Shape;444;p50"/>
          <p:cNvSpPr txBox="1"/>
          <p:nvPr/>
        </p:nvSpPr>
        <p:spPr>
          <a:xfrm>
            <a:off x="5099550" y="1160600"/>
            <a:ext cx="3619500" cy="20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Lean sizing: seller and lender are now comfortable - returns strong, DSCR 1.50x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But at strike 2,000 the buyer is ~14% worse than BAU: the seller's headroom IS the negotiation space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So: sweep the strike down and see where the gates cross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5" name="Google Shape;445;p50"/>
          <p:cNvSpPr/>
          <p:nvPr/>
        </p:nvSpPr>
        <p:spPr>
          <a:xfrm>
            <a:off x="224575" y="4050750"/>
            <a:ext cx="8541600" cy="691200"/>
          </a:xfrm>
          <a:prstGeom prst="roundRect">
            <a:avLst>
              <a:gd fmla="val 16667" name="adj"/>
            </a:avLst>
          </a:prstGeom>
          <a:solidFill>
            <a:srgbClr val="127A7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Lesson 2: right-sized assets make the project financeable - then the entire negotiation is the strike price.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1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1"/>
          <p:cNvSpPr txBox="1"/>
          <p:nvPr/>
        </p:nvSpPr>
        <p:spPr>
          <a:xfrm>
            <a:off x="177350" y="288800"/>
            <a:ext cx="92850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Sweeping the strike on Case 6: the window is empty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52" name="Google Shape;452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54" name="Google Shape;454;p51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CASE STUDY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51"/>
          <p:cNvSpPr txBox="1"/>
          <p:nvPr/>
        </p:nvSpPr>
        <p:spPr>
          <a:xfrm>
            <a:off x="283098" y="1041599"/>
            <a:ext cx="714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3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56 scenarios swept: strikes 1,200-2,200 VND/kWh x contract volume 70-100%. Gate results: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56" name="Google Shape;456;p51"/>
          <p:cNvGraphicFramePr/>
          <p:nvPr/>
        </p:nvGraphicFramePr>
        <p:xfrm>
          <a:off x="377270" y="15026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1812625"/>
                <a:gridCol w="1888175"/>
                <a:gridCol w="1510550"/>
                <a:gridCol w="2190300"/>
                <a:gridCol w="1057375"/>
              </a:tblGrid>
              <a:tr h="3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level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Buyer gate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Seller gate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Lender gate (&gt;=1.20x)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Balanced?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3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~2,000 (offer)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-14%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1.50x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~1,400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-1.4%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1.19-1.5x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3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~1,300 x 70% vol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+0.5% lifetime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17.9%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1.14x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369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~1,200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E9E5B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  +2.9%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B33A3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FAIL  &lt;1.20x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457" name="Google Shape;457;p51"/>
          <p:cNvSpPr txBox="1"/>
          <p:nvPr/>
        </p:nvSpPr>
        <p:spPr>
          <a:xfrm>
            <a:off x="283099" y="3582073"/>
            <a:ext cx="8459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0F293D"/>
                </a:solidFill>
                <a:latin typeface="Montserrat"/>
                <a:ea typeface="Montserrat"/>
                <a:cs typeface="Montserrat"/>
                <a:sym typeface="Montserrat"/>
              </a:rPr>
              <a:t>The buyer turns positive just as the lender drops out: zero of 56 scenarios pass all three gates at current market prices and fee levels.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51"/>
          <p:cNvSpPr/>
          <p:nvPr/>
        </p:nvSpPr>
        <p:spPr>
          <a:xfrm>
            <a:off x="330136" y="4189098"/>
            <a:ext cx="8553300" cy="657000"/>
          </a:xfrm>
          <a:prstGeom prst="roundRect">
            <a:avLst>
              <a:gd fmla="val 16667" name="adj"/>
            </a:avLst>
          </a:prstGeom>
          <a:solidFill>
            <a:srgbClr val="E09A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Pricing alone cannot balance this deal. The levers that can: lower leverage, debt sculpting, USD-denominated debt (~5%), fee relief, longer tenor - </a:t>
            </a:r>
            <a:r>
              <a:rPr b="1" lang="en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(For the</a:t>
            </a:r>
            <a:r>
              <a:rPr b="1" i="0" lang="en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afternoon's panel</a:t>
            </a:r>
            <a:r>
              <a:rPr b="1" lang="en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2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2"/>
          <p:cNvSpPr txBox="1"/>
          <p:nvPr/>
        </p:nvSpPr>
        <p:spPr>
          <a:xfrm>
            <a:off x="177350" y="288800"/>
            <a:ext cx="8604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What this means and expectations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65" name="Google Shape;46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67" name="Google Shape;467;p52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CASE STUDY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52"/>
          <p:cNvSpPr txBox="1"/>
          <p:nvPr/>
        </p:nvSpPr>
        <p:spPr>
          <a:xfrm>
            <a:off x="444799" y="1321450"/>
            <a:ext cx="8069700" cy="29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1.  Expect low single-digit lifetime savings at best</a:t>
            </a:r>
            <a:r>
              <a:rPr lang="en" sz="15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. T</a:t>
            </a: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he product you are buying i</a:t>
            </a:r>
            <a:r>
              <a:rPr lang="en" sz="15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s 10~</a:t>
            </a: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25</a:t>
            </a:r>
            <a:r>
              <a:rPr lang="en" sz="15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year price certainty plus credible renewable claims, not a discount.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2.  Expect Year 1 to cost more than BAU</a:t>
            </a:r>
            <a:r>
              <a:rPr lang="en" sz="15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. P</a:t>
            </a: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lan the internal approval around cumulative horizons.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3.  Strike offers near 2,000 VND/kWh leave the buyer deeply negative</a:t>
            </a:r>
            <a:r>
              <a:rPr lang="en" sz="15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. R</a:t>
            </a: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ealistic buyer-positive territory starts near ~1,300, which today fails the lender.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4.  Deal feasibility is decided by financing structure as much as by price</a:t>
            </a:r>
            <a:r>
              <a:rPr lang="en" sz="1500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—</a:t>
            </a:r>
            <a:r>
              <a:rPr i="0" lang="en" sz="1500" u="none" cap="none" strike="noStrike">
                <a:solidFill>
                  <a:srgbClr val="222B33"/>
                </a:solidFill>
                <a:latin typeface="Montserrat"/>
                <a:ea typeface="Montserrat"/>
                <a:cs typeface="Montserrat"/>
                <a:sym typeface="Montserrat"/>
              </a:rPr>
              <a:t>ask developers HOW their project is financed, not just what they charge.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3" name="Google Shape;473;p53"/>
          <p:cNvCxnSpPr/>
          <p:nvPr/>
        </p:nvCxnSpPr>
        <p:spPr>
          <a:xfrm>
            <a:off x="4954604" y="1335506"/>
            <a:ext cx="1241400" cy="0"/>
          </a:xfrm>
          <a:prstGeom prst="straightConnector1">
            <a:avLst/>
          </a:prstGeom>
          <a:noFill/>
          <a:ln cap="flat" cmpd="sng" w="57150">
            <a:solidFill>
              <a:srgbClr val="1B786E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4" name="Google Shape;474;p53"/>
          <p:cNvSpPr txBox="1"/>
          <p:nvPr/>
        </p:nvSpPr>
        <p:spPr>
          <a:xfrm>
            <a:off x="4572000" y="1440675"/>
            <a:ext cx="45720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Module 5: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0F172A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Decision Points</a:t>
            </a:r>
            <a:endParaRPr b="1" sz="2800">
              <a:solidFill>
                <a:srgbClr val="0F172A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5" name="Google Shape;475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9000" y="4919866"/>
            <a:ext cx="639863" cy="223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92558" y="4933125"/>
            <a:ext cx="518101" cy="19863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477" name="Google Shape;477;p53"/>
          <p:cNvPicPr preferRelativeResize="0"/>
          <p:nvPr/>
        </p:nvPicPr>
        <p:blipFill rotWithShape="1">
          <a:blip r:embed="rId5">
            <a:alphaModFix/>
          </a:blip>
          <a:srcRect b="13296" l="6658" r="48140" t="3134"/>
          <a:stretch/>
        </p:blipFill>
        <p:spPr>
          <a:xfrm>
            <a:off x="0" y="0"/>
            <a:ext cx="42666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3"/>
          <p:cNvSpPr/>
          <p:nvPr/>
        </p:nvSpPr>
        <p:spPr>
          <a:xfrm>
            <a:off x="4067877" y="1580950"/>
            <a:ext cx="397200" cy="2988600"/>
          </a:xfrm>
          <a:prstGeom prst="rect">
            <a:avLst/>
          </a:prstGeom>
          <a:solidFill>
            <a:srgbClr val="2E3A49"/>
          </a:solidFill>
          <a:ln cap="flat" cmpd="sng" w="9525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4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54"/>
          <p:cNvSpPr txBox="1"/>
          <p:nvPr/>
        </p:nvSpPr>
        <p:spPr>
          <a:xfrm>
            <a:off x="177350" y="288800"/>
            <a:ext cx="8520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Five questions that change the term sheet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85" name="Google Shape;48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87" name="Google Shape;487;p54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MODULE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1" i="0" lang="en" sz="1200" u="none" cap="none" strike="noStrike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  - </a:t>
            </a: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DECISION POINTS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488" name="Google Shape;488;p54"/>
          <p:cNvGraphicFramePr/>
          <p:nvPr/>
        </p:nvGraphicFramePr>
        <p:xfrm>
          <a:off x="387795" y="1077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{23DF8D72-98C2-4C16-8669-35C246C1D029}</a:tableStyleId>
              </a:tblPr>
              <a:tblGrid>
                <a:gridCol w="404700"/>
                <a:gridCol w="2697950"/>
                <a:gridCol w="512610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#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Decision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What to check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0F293D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Strike level &amp; escalation/indexation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Fixed VND vs </a:t>
                      </a:r>
                      <a:r>
                        <a:rPr lang="en" sz="125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escalating/deescalating</a:t>
                      </a: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vs USD</a:t>
                      </a:r>
                      <a:r>
                        <a:rPr lang="en" sz="125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linked; model </a:t>
                      </a:r>
                      <a:r>
                        <a:rPr lang="en" sz="125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these </a:t>
                      </a: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vs BAU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Contract volume vs load shape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8760 hourly matching vs meter data; CfD caps at consumed volume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Tenor &amp; termination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Developer wants 15-25 yr; match to your lease / order book; exit terms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Voltage eligibility &amp; K_pp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&gt;=22kV only today; which K_pp applies decides your loss adjustment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5F6F7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Risk allocation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FMP volatility, curtailment, negative</a:t>
                      </a:r>
                      <a:r>
                        <a:rPr lang="en" sz="1250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" sz="1250" u="none" cap="none" strike="noStrike">
                          <a:solidFill>
                            <a:srgbClr val="222B33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CfD months, change-in-law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25400" marB="25400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9" name="Google Shape;489;p54"/>
          <p:cNvSpPr txBox="1"/>
          <p:nvPr/>
        </p:nvSpPr>
        <p:spPr>
          <a:xfrm>
            <a:off x="387798" y="4457748"/>
            <a:ext cx="6478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50" u="none" cap="none" strike="noStrike">
                <a:solidFill>
                  <a:srgbClr val="5A6670"/>
                </a:solidFill>
                <a:latin typeface="Montserrat"/>
                <a:ea typeface="Montserrat"/>
                <a:cs typeface="Montserrat"/>
                <a:sym typeface="Montserrat"/>
              </a:rPr>
              <a:t>Items 1-4 are quantifiable before negotiation</a:t>
            </a:r>
            <a:r>
              <a:rPr lang="en" sz="1250">
                <a:solidFill>
                  <a:srgbClr val="5A6670"/>
                </a:solidFill>
                <a:latin typeface="Montserrat"/>
                <a:ea typeface="Montserrat"/>
                <a:cs typeface="Montserrat"/>
                <a:sym typeface="Montserrat"/>
              </a:rPr>
              <a:t>;</a:t>
            </a:r>
            <a:r>
              <a:rPr i="0" lang="en" sz="1250" u="none" cap="none" strike="noStrike">
                <a:solidFill>
                  <a:srgbClr val="5A6670"/>
                </a:solidFill>
                <a:latin typeface="Montserrat"/>
                <a:ea typeface="Montserrat"/>
                <a:cs typeface="Montserrat"/>
                <a:sym typeface="Montserrat"/>
              </a:rPr>
              <a:t> run them against load data first.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5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55"/>
          <p:cNvSpPr txBox="1"/>
          <p:nvPr/>
        </p:nvSpPr>
        <p:spPr>
          <a:xfrm>
            <a:off x="177350" y="288800"/>
            <a:ext cx="8520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Three core reminders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496" name="Google Shape;496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498" name="Google Shape;498;p55"/>
          <p:cNvSpPr txBox="1"/>
          <p:nvPr/>
        </p:nvSpPr>
        <p:spPr>
          <a:xfrm>
            <a:off x="224572" y="65181"/>
            <a:ext cx="5487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27A7A"/>
                </a:solidFill>
                <a:latin typeface="Montserrat"/>
                <a:ea typeface="Montserrat"/>
                <a:cs typeface="Montserrat"/>
                <a:sym typeface="Montserrat"/>
              </a:rPr>
              <a:t>CLOSE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55"/>
          <p:cNvSpPr txBox="1"/>
          <p:nvPr/>
        </p:nvSpPr>
        <p:spPr>
          <a:xfrm>
            <a:off x="381800" y="1528200"/>
            <a:ext cx="8112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Know the five-line bill - 523 VND/kWh of fees and the loss factor are fixed;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The strike price remains the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big number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 open to negotiation.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aluated 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the deal on 10-year and lifetime cost vs BAU - not on Year 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AutoNum type="arabicPeriod"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Every deal must pass buyer, seller AND lender gates - if the window is empty, the fix is structural, not just price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55"/>
          <p:cNvSpPr/>
          <p:nvPr/>
        </p:nvSpPr>
        <p:spPr>
          <a:xfrm>
            <a:off x="576200" y="3673925"/>
            <a:ext cx="7985700" cy="596700"/>
          </a:xfrm>
          <a:prstGeom prst="roundRect">
            <a:avLst>
              <a:gd fmla="val 16667" name="adj"/>
            </a:avLst>
          </a:prstGeom>
          <a:solidFill>
            <a:srgbClr val="0F293D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82875" spcFirstLastPara="1" rIns="18287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Next: panel discussion on risk allocation and the reality of bank financing for </a:t>
            </a: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Grid </a:t>
            </a:r>
            <a:r>
              <a:rPr b="1" lang="en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DPPAΩ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6"/>
          <p:cNvSpPr/>
          <p:nvPr/>
        </p:nvSpPr>
        <p:spPr>
          <a:xfrm>
            <a:off x="0" y="768738"/>
            <a:ext cx="7318800" cy="81300"/>
          </a:xfrm>
          <a:prstGeom prst="rect">
            <a:avLst/>
          </a:prstGeom>
          <a:solidFill>
            <a:srgbClr val="1B786E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 Light"/>
              <a:buNone/>
            </a:pPr>
            <a:r>
              <a:t/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6"/>
          <p:cNvSpPr txBox="1"/>
          <p:nvPr/>
        </p:nvSpPr>
        <p:spPr>
          <a:xfrm>
            <a:off x="336175" y="152250"/>
            <a:ext cx="28908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2E3A4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Q&amp;A</a:t>
            </a:r>
            <a:endParaRPr sz="2100">
              <a:solidFill>
                <a:srgbClr val="2E3A49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507" name="Google Shape;50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49073" y="1"/>
            <a:ext cx="894924" cy="31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19661" y="23963"/>
            <a:ext cx="690801" cy="264849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descr="questions and answers icon vector. Isolated contour symbol illustration (Provided by Getty Images)" id="509" name="Google Shape;509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2350" y="885013"/>
            <a:ext cx="3988664" cy="398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