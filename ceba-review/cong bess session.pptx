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8" d="100"/>
          <a:sy n="58" d="100"/>
        </p:scale>
        <p:origin x="96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D22F88-BBB1-4358-B5B5-0447A4D090F0}"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F1730-870F-4922-928D-D672AECE8412}" type="slidenum">
              <a:rPr lang="en-US" smtClean="0"/>
              <a:t>‹#›</a:t>
            </a:fld>
            <a:endParaRPr lang="en-US"/>
          </a:p>
        </p:txBody>
      </p:sp>
    </p:spTree>
    <p:extLst>
      <p:ext uri="{BB962C8B-B14F-4D97-AF65-F5344CB8AC3E}">
        <p14:creationId xmlns:p14="http://schemas.microsoft.com/office/powerpoint/2010/main" val="690928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4"/>
        <p:cNvGrpSpPr/>
        <p:nvPr/>
      </p:nvGrpSpPr>
      <p:grpSpPr>
        <a:xfrm>
          <a:off x="0" y="0"/>
          <a:ext cx="0" cy="0"/>
          <a:chOff x="0" y="0"/>
          <a:chExt cx="0" cy="0"/>
        </a:xfrm>
      </p:grpSpPr>
      <p:sp>
        <p:nvSpPr>
          <p:cNvPr id="845" name="Google Shape;845;g3ec0c65eb5b_2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6" name="Google Shape;846;g3ec0c65eb5b_2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3ec0c65eb5b_2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8" name="Google Shape;858;g3ec0c65eb5b_2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Char char="●"/>
            </a:pP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ec0c65eb5b_2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g3ec0c65eb5b_2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3ec0c65eb5b_2_2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4" name="Google Shape;884;g3ec0c65eb5b_2_2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c0c65eb5b_2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c0c65eb5b_2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ec0c65eb5b_2_2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3ec0c65eb5b_2_2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ec0c65eb5b_2_3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6" name="Google Shape;956;g3ec0c65eb5b_2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3ec0c65eb5b_2_3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3ec0c65eb5b_2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3ec0c65eb5b_2_3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3ec0c65eb5b_2_3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7"/>
        <p:cNvGrpSpPr/>
        <p:nvPr/>
      </p:nvGrpSpPr>
      <p:grpSpPr>
        <a:xfrm>
          <a:off x="0" y="0"/>
          <a:ext cx="0" cy="0"/>
          <a:chOff x="0" y="0"/>
          <a:chExt cx="0" cy="0"/>
        </a:xfrm>
      </p:grpSpPr>
      <p:sp>
        <p:nvSpPr>
          <p:cNvPr id="1038" name="Google Shape;1038;g3ec0c65eb5b_2_3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9" name="Google Shape;1039;g3ec0c65eb5b_2_3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g3ec0c65eb5b_2_4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8" name="Google Shape;1058;g3ec0c65eb5b_2_4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3ec0c65eb5b_2_4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3ec0c65eb5b_2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3ec0c65eb5b_2_4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1" name="Google Shape;1111;g3ec0c65eb5b_2_4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3ec0c65eb5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3ec0c65eb5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ec0c65eb5b_2_5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0" name="Google Shape;1170;g3ec0c65eb5b_2_5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3ec0c65eb5b_2_6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4" name="Google Shape;1204;g3ec0c65eb5b_2_6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3ec0c65eb5b_2_6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3ec0c65eb5b_2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1"/>
        <p:cNvGrpSpPr/>
        <p:nvPr/>
      </p:nvGrpSpPr>
      <p:grpSpPr>
        <a:xfrm>
          <a:off x="0" y="0"/>
          <a:ext cx="0" cy="0"/>
          <a:chOff x="0" y="0"/>
          <a:chExt cx="0" cy="0"/>
        </a:xfrm>
      </p:grpSpPr>
      <p:sp>
        <p:nvSpPr>
          <p:cNvPr id="1262" name="Google Shape;1262;g3ec0c65eb5b_2_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3" name="Google Shape;1263;g3ec0c65eb5b_2_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g3ec0c65eb5b_2_6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2" name="Google Shape;1292;g3ec0c65eb5b_2_6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B4FD4-31B8-EB16-CDF0-8306D6F233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78B6DC6-6FB2-787A-3200-3B8EA6045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975AF91-A1A8-7ED2-092B-633E273E4CF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114CCE3E-6CA6-2371-9E03-D3A079ACB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491D27-9099-203A-EE5D-C48BD639099F}"/>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3643696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4BB1D-EFCB-A859-857D-D1373ABC95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5C0209-EEEE-1A8E-CF63-3B5F48926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53A0AA-8DAB-3B1B-62E3-68AA5A3275CB}"/>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330D263F-8116-4698-7CFA-3F511E110D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E01B9-3D81-F639-6E2E-A6474128700A}"/>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355145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CE5EB-983B-FF14-5EF4-5AF53A2419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8342AD5-E76A-75D6-18E8-85BA6BFC60C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95B4D2-69B5-78A4-8D95-DA2E4CEF07F1}"/>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2246E239-5292-FF57-977C-7F6E87847B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76D3DB-833C-E5E3-81F8-1A5D2F2B526C}"/>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731938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A2343-F246-129D-09E2-452F3C298AF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D26F3D-481C-C637-02E8-1863F504E9A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537F70-B487-7ED3-4726-4CD0792433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FFD7E8-F26F-C198-376C-C8E38154695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77F89EA3-FF20-118E-3718-C96D6FE57E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FE1DF7-3306-A251-FCF8-CD0025E84FBD}"/>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660350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BDD44-D2B9-4CC3-8BD8-42DFDF1045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B46A404-D5C2-0E74-9DBE-6CA162B059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65ACEF-3A56-5C92-B329-9E20244AA6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300842-FA5B-9A8D-940F-2EB8DFD4EC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5C927E2-FF85-D9D6-2636-42A77E2644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FCC7DB7-A178-F739-1C56-C6E5740F66D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8" name="Footer Placeholder 7">
            <a:extLst>
              <a:ext uri="{FF2B5EF4-FFF2-40B4-BE49-F238E27FC236}">
                <a16:creationId xmlns:a16="http://schemas.microsoft.com/office/drawing/2014/main" id="{D27716C0-4E2A-4D36-34F5-32E3854BDD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799A1D-3E01-3931-8572-9F3B80648C79}"/>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4288469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79DD2-72C2-9920-D392-EEF112AA53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FEACCA-1895-859B-68EF-26564A762E5A}"/>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4" name="Footer Placeholder 3">
            <a:extLst>
              <a:ext uri="{FF2B5EF4-FFF2-40B4-BE49-F238E27FC236}">
                <a16:creationId xmlns:a16="http://schemas.microsoft.com/office/drawing/2014/main" id="{67F49F9D-9DA4-C374-9DBE-0904E63F49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BC78B7-13A6-17AF-DD71-DEE079BC1BD3}"/>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38308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E15B07-0E25-32A8-F27B-EC4D3391B035}"/>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3" name="Footer Placeholder 2">
            <a:extLst>
              <a:ext uri="{FF2B5EF4-FFF2-40B4-BE49-F238E27FC236}">
                <a16:creationId xmlns:a16="http://schemas.microsoft.com/office/drawing/2014/main" id="{32D12852-994A-891B-FE89-D2CFCD10460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81126D-05E0-EB48-06DD-DE6E009436A3}"/>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1828211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C4073-CE85-F028-7815-C014961F86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62F6A1-29F4-63B1-01C5-9BD889E97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B80CF9-EF97-425D-C48A-CAAC892ABA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DB4E39-B802-7D00-FC09-90FD5AAA9E3A}"/>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F9DFE59D-6D10-81D6-1317-2C5C2E4C27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017BAD-1670-3773-CE29-0A0F5390052E}"/>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208681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DEA0C-4030-C688-8964-4956C0B36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0F3ECB-0E62-B2B9-5599-5324F23BA6C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1D1861-7D7E-1FD2-C693-BD27624D0D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9F1542-9FCA-06B1-5B6B-FAC70510A9E8}"/>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6" name="Footer Placeholder 5">
            <a:extLst>
              <a:ext uri="{FF2B5EF4-FFF2-40B4-BE49-F238E27FC236}">
                <a16:creationId xmlns:a16="http://schemas.microsoft.com/office/drawing/2014/main" id="{DF5E18FA-107E-DCAA-E689-91F7795482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79037-7C11-A99F-DAE9-7DAE406CF269}"/>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26876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BB25D-9F62-9501-3D16-D62D3D1ED3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EC366B-092D-5FBD-935E-2403FFF14C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3C3A0B-F8DF-B175-9CFE-48E8D3EEA2A3}"/>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08599171-B678-648F-3E5C-86C98FDECF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0B9801-AF39-D3A8-6B40-789D7A3FCD88}"/>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3583270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DFAAAB-5DC6-D2E4-909F-B99CC047C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99357-4ABE-0015-CDA8-227757D650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71B8B-D176-914A-4986-677864175B1E}"/>
              </a:ext>
            </a:extLst>
          </p:cNvPr>
          <p:cNvSpPr>
            <a:spLocks noGrp="1"/>
          </p:cNvSpPr>
          <p:nvPr>
            <p:ph type="dt" sz="half" idx="10"/>
          </p:nvPr>
        </p:nvSpPr>
        <p:spPr/>
        <p:txBody>
          <a:body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0233DE93-1CCB-EB88-CD1C-A586CE4E66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71070C-B2D0-7DF6-6130-13B393669B3E}"/>
              </a:ext>
            </a:extLst>
          </p:cNvPr>
          <p:cNvSpPr>
            <a:spLocks noGrp="1"/>
          </p:cNvSpPr>
          <p:nvPr>
            <p:ph type="sldNum" sz="quarter" idx="12"/>
          </p:nvPr>
        </p:nvSpPr>
        <p:spPr/>
        <p:txBody>
          <a:bodyPr/>
          <a:lstStyle/>
          <a:p>
            <a:fld id="{40114B82-3374-4FE9-BD11-E13B28D1A6EA}" type="slidenum">
              <a:rPr lang="en-US" smtClean="0"/>
              <a:t>‹#›</a:t>
            </a:fld>
            <a:endParaRPr lang="en-US"/>
          </a:p>
        </p:txBody>
      </p:sp>
    </p:spTree>
    <p:extLst>
      <p:ext uri="{BB962C8B-B14F-4D97-AF65-F5344CB8AC3E}">
        <p14:creationId xmlns:p14="http://schemas.microsoft.com/office/powerpoint/2010/main" val="2661325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_HEADER_1">
  <p:cSld name="SECTION_HEADER_1">
    <p:spTree>
      <p:nvGrpSpPr>
        <p:cNvPr id="1" name="Shape 366"/>
        <p:cNvGrpSpPr/>
        <p:nvPr/>
      </p:nvGrpSpPr>
      <p:grpSpPr>
        <a:xfrm>
          <a:off x="0" y="0"/>
          <a:ext cx="0" cy="0"/>
          <a:chOff x="0" y="0"/>
          <a:chExt cx="0" cy="0"/>
        </a:xfrm>
      </p:grpSpPr>
      <p:sp>
        <p:nvSpPr>
          <p:cNvPr id="367" name="Google Shape;367;p80"/>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368" name="Google Shape;368;p8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6397172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364"/>
        <p:cNvGrpSpPr/>
        <p:nvPr/>
      </p:nvGrpSpPr>
      <p:grpSpPr>
        <a:xfrm>
          <a:off x="0" y="0"/>
          <a:ext cx="0" cy="0"/>
          <a:chOff x="0" y="0"/>
          <a:chExt cx="0" cy="0"/>
        </a:xfrm>
      </p:grpSpPr>
      <p:sp>
        <p:nvSpPr>
          <p:cNvPr id="365" name="Google Shape;365;p79"/>
          <p:cNvSpPr>
            <a:spLocks noGrp="1"/>
          </p:cNvSpPr>
          <p:nvPr>
            <p:ph type="pic" idx="2"/>
          </p:nvPr>
        </p:nvSpPr>
        <p:spPr>
          <a:xfrm>
            <a:off x="5165576" y="-1265573"/>
            <a:ext cx="6873600" cy="6873600"/>
          </a:xfrm>
          <a:prstGeom prst="rect">
            <a:avLst/>
          </a:prstGeom>
          <a:noFill/>
          <a:ln>
            <a:noFill/>
          </a:ln>
        </p:spPr>
      </p:sp>
    </p:spTree>
    <p:extLst>
      <p:ext uri="{BB962C8B-B14F-4D97-AF65-F5344CB8AC3E}">
        <p14:creationId xmlns:p14="http://schemas.microsoft.com/office/powerpoint/2010/main" val="2709388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E50F0D-A45E-0F33-3493-8F2D04BE4A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F40513-8D24-BAE9-4223-B3C402699B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BCBA21-50FC-57B8-B196-6CE8EF75BC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AE17B-A477-475E-B310-8DD1855EA733}" type="datetimeFigureOut">
              <a:rPr lang="en-US" smtClean="0"/>
              <a:t>6/17/2026</a:t>
            </a:fld>
            <a:endParaRPr lang="en-US"/>
          </a:p>
        </p:txBody>
      </p:sp>
      <p:sp>
        <p:nvSpPr>
          <p:cNvPr id="5" name="Footer Placeholder 4">
            <a:extLst>
              <a:ext uri="{FF2B5EF4-FFF2-40B4-BE49-F238E27FC236}">
                <a16:creationId xmlns:a16="http://schemas.microsoft.com/office/drawing/2014/main" id="{E817F9D5-8AAB-3A50-3585-51B885A71E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AF726B-FC4C-7749-7459-1E450091B3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114B82-3374-4FE9-BD11-E13B28D1A6EA}" type="slidenum">
              <a:rPr lang="en-US" smtClean="0"/>
              <a:t>‹#›</a:t>
            </a:fld>
            <a:endParaRPr lang="en-US"/>
          </a:p>
        </p:txBody>
      </p:sp>
    </p:spTree>
    <p:extLst>
      <p:ext uri="{BB962C8B-B14F-4D97-AF65-F5344CB8AC3E}">
        <p14:creationId xmlns:p14="http://schemas.microsoft.com/office/powerpoint/2010/main" val="30714051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5.png"/><Relationship Id="rId7"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7"/>
        <p:cNvGrpSpPr/>
        <p:nvPr/>
      </p:nvGrpSpPr>
      <p:grpSpPr>
        <a:xfrm>
          <a:off x="0" y="0"/>
          <a:ext cx="0" cy="0"/>
          <a:chOff x="0" y="0"/>
          <a:chExt cx="0" cy="0"/>
        </a:xfrm>
      </p:grpSpPr>
      <p:pic>
        <p:nvPicPr>
          <p:cNvPr id="848" name="Google Shape;848;p132"/>
          <p:cNvPicPr preferRelativeResize="0"/>
          <p:nvPr/>
        </p:nvPicPr>
        <p:blipFill rotWithShape="1">
          <a:blip r:embed="rId3">
            <a:alphaModFix/>
          </a:blip>
          <a:srcRect t="23571"/>
          <a:stretch/>
        </p:blipFill>
        <p:spPr>
          <a:xfrm>
            <a:off x="0" y="0"/>
            <a:ext cx="12191997" cy="6875635"/>
          </a:xfrm>
          <a:prstGeom prst="rect">
            <a:avLst/>
          </a:prstGeom>
          <a:noFill/>
          <a:ln>
            <a:noFill/>
          </a:ln>
        </p:spPr>
      </p:pic>
      <p:sp>
        <p:nvSpPr>
          <p:cNvPr id="849" name="Google Shape;849;p132"/>
          <p:cNvSpPr/>
          <p:nvPr/>
        </p:nvSpPr>
        <p:spPr>
          <a:xfrm>
            <a:off x="0" y="0"/>
            <a:ext cx="121920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pic>
        <p:nvPicPr>
          <p:cNvPr id="850" name="Google Shape;850;p132" title="white layer.png"/>
          <p:cNvPicPr preferRelativeResize="0"/>
          <p:nvPr/>
        </p:nvPicPr>
        <p:blipFill>
          <a:blip r:embed="rId4">
            <a:alphaModFix/>
          </a:blip>
          <a:stretch>
            <a:fillRect/>
          </a:stretch>
        </p:blipFill>
        <p:spPr>
          <a:xfrm>
            <a:off x="1217101" y="2601300"/>
            <a:ext cx="10974897" cy="4274333"/>
          </a:xfrm>
          <a:prstGeom prst="rect">
            <a:avLst/>
          </a:prstGeom>
          <a:noFill/>
          <a:ln>
            <a:noFill/>
          </a:ln>
        </p:spPr>
      </p:pic>
      <p:pic>
        <p:nvPicPr>
          <p:cNvPr id="851" name="Google Shape;851;p132" title="Gemini_Generated_Image_rtvpp5rtvpp5rtvp (1).png"/>
          <p:cNvPicPr preferRelativeResize="0"/>
          <p:nvPr/>
        </p:nvPicPr>
        <p:blipFill rotWithShape="1">
          <a:blip r:embed="rId5">
            <a:alphaModFix amt="85000"/>
          </a:blip>
          <a:srcRect l="862"/>
          <a:stretch/>
        </p:blipFill>
        <p:spPr>
          <a:xfrm>
            <a:off x="1" y="-604129"/>
            <a:ext cx="12192004" cy="7475367"/>
          </a:xfrm>
          <a:prstGeom prst="rect">
            <a:avLst/>
          </a:prstGeom>
          <a:noFill/>
          <a:ln>
            <a:noFill/>
          </a:ln>
        </p:spPr>
      </p:pic>
      <p:grpSp>
        <p:nvGrpSpPr>
          <p:cNvPr id="852" name="Google Shape;852;p132"/>
          <p:cNvGrpSpPr/>
          <p:nvPr/>
        </p:nvGrpSpPr>
        <p:grpSpPr>
          <a:xfrm>
            <a:off x="9893031" y="6440969"/>
            <a:ext cx="2147396" cy="417033"/>
            <a:chOff x="7472673" y="4830726"/>
            <a:chExt cx="1610547" cy="312775"/>
          </a:xfrm>
        </p:grpSpPr>
        <p:pic>
          <p:nvPicPr>
            <p:cNvPr id="853" name="Google Shape;853;p132"/>
            <p:cNvPicPr preferRelativeResize="0"/>
            <p:nvPr/>
          </p:nvPicPr>
          <p:blipFill>
            <a:blip r:embed="rId6">
              <a:alphaModFix/>
            </a:blip>
            <a:stretch>
              <a:fillRect/>
            </a:stretch>
          </p:blipFill>
          <p:spPr>
            <a:xfrm>
              <a:off x="7472673" y="4830726"/>
              <a:ext cx="894924" cy="312775"/>
            </a:xfrm>
            <a:prstGeom prst="rect">
              <a:avLst/>
            </a:prstGeom>
            <a:noFill/>
            <a:ln>
              <a:noFill/>
            </a:ln>
          </p:spPr>
        </p:pic>
        <p:pic>
          <p:nvPicPr>
            <p:cNvPr id="854" name="Google Shape;854;p132" title="CEBA new logo.png"/>
            <p:cNvPicPr preferRelativeResize="0"/>
            <p:nvPr/>
          </p:nvPicPr>
          <p:blipFill>
            <a:blip r:embed="rId7">
              <a:alphaModFix/>
            </a:blip>
            <a:stretch>
              <a:fillRect/>
            </a:stretch>
          </p:blipFill>
          <p:spPr>
            <a:xfrm>
              <a:off x="8374923" y="4890787"/>
              <a:ext cx="708296" cy="211825"/>
            </a:xfrm>
            <a:prstGeom prst="rect">
              <a:avLst/>
            </a:prstGeom>
            <a:noFill/>
            <a:ln>
              <a:noFill/>
            </a:ln>
          </p:spPr>
        </p:pic>
      </p:grpSp>
      <p:sp>
        <p:nvSpPr>
          <p:cNvPr id="855" name="Google Shape;855;p132"/>
          <p:cNvSpPr txBox="1"/>
          <p:nvPr/>
        </p:nvSpPr>
        <p:spPr>
          <a:xfrm>
            <a:off x="723200" y="4262156"/>
            <a:ext cx="11080400" cy="1805600"/>
          </a:xfrm>
          <a:prstGeom prst="rect">
            <a:avLst/>
          </a:prstGeom>
          <a:noFill/>
          <a:ln>
            <a:noFill/>
          </a:ln>
        </p:spPr>
        <p:txBody>
          <a:bodyPr spcFirstLastPara="1" wrap="square" lIns="121900" tIns="121900" rIns="121900" bIns="121900" anchor="t" anchorCtr="0">
            <a:noAutofit/>
          </a:bodyPr>
          <a:lstStyle/>
          <a:p>
            <a:pPr algn="r">
              <a:buClr>
                <a:schemeClr val="dk1"/>
              </a:buClr>
            </a:pPr>
            <a:r>
              <a:rPr lang="en" sz="4000" b="1">
                <a:solidFill>
                  <a:srgbClr val="035D4E"/>
                </a:solidFill>
                <a:latin typeface="Montserrat"/>
                <a:ea typeface="Montserrat"/>
                <a:cs typeface="Montserrat"/>
                <a:sym typeface="Montserrat"/>
              </a:rPr>
              <a:t>Session 4.3: </a:t>
            </a:r>
            <a:endParaRPr sz="4000" b="1">
              <a:solidFill>
                <a:srgbClr val="035D4E"/>
              </a:solidFill>
              <a:latin typeface="Montserrat"/>
              <a:ea typeface="Montserrat"/>
              <a:cs typeface="Montserrat"/>
              <a:sym typeface="Montserrat"/>
            </a:endParaRPr>
          </a:p>
          <a:p>
            <a:pPr algn="r">
              <a:buClr>
                <a:schemeClr val="dk1"/>
              </a:buClr>
            </a:pPr>
            <a:r>
              <a:rPr lang="en" sz="3200" b="1">
                <a:solidFill>
                  <a:srgbClr val="035D4E"/>
                </a:solidFill>
                <a:latin typeface="Montserrat"/>
                <a:ea typeface="Montserrat"/>
                <a:cs typeface="Montserrat"/>
                <a:sym typeface="Montserrat"/>
              </a:rPr>
              <a:t>On-Site Solutions Deep Dive </a:t>
            </a:r>
            <a:endParaRPr sz="3200">
              <a:solidFill>
                <a:srgbClr val="035D4E"/>
              </a:solidFill>
              <a:latin typeface="Montserrat"/>
              <a:ea typeface="Montserrat"/>
              <a:cs typeface="Montserrat"/>
              <a:sym typeface="Montserrat"/>
            </a:endParaRPr>
          </a:p>
          <a:p>
            <a:pPr algn="r"/>
            <a:r>
              <a:rPr lang="en" sz="3200" i="1">
                <a:solidFill>
                  <a:schemeClr val="dk1"/>
                </a:solidFill>
                <a:latin typeface="Montserrat"/>
                <a:ea typeface="Montserrat"/>
                <a:cs typeface="Montserrat"/>
                <a:sym typeface="Montserrat"/>
              </a:rPr>
              <a:t>Additional Considerations</a:t>
            </a:r>
            <a:endParaRPr sz="3200">
              <a:solidFill>
                <a:schemeClr val="dk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133"/>
          <p:cNvSpPr txBox="1"/>
          <p:nvPr/>
        </p:nvSpPr>
        <p:spPr>
          <a:xfrm>
            <a:off x="5929268" y="441500"/>
            <a:ext cx="6011200" cy="2172800"/>
          </a:xfrm>
          <a:prstGeom prst="rect">
            <a:avLst/>
          </a:prstGeom>
          <a:noFill/>
          <a:ln>
            <a:noFill/>
          </a:ln>
        </p:spPr>
        <p:txBody>
          <a:bodyPr spcFirstLastPara="1" wrap="square" lIns="91433" tIns="91433" rIns="91433" bIns="91433" anchor="t" anchorCtr="0">
            <a:noAutofit/>
          </a:bodyPr>
          <a:lstStyle/>
          <a:p>
            <a:r>
              <a:rPr lang="en" sz="4000" b="1">
                <a:solidFill>
                  <a:srgbClr val="1B786E"/>
                </a:solidFill>
                <a:latin typeface="Montserrat"/>
                <a:ea typeface="Montserrat"/>
                <a:cs typeface="Montserrat"/>
                <a:sym typeface="Montserrat"/>
              </a:rPr>
              <a:t>About the Speaker</a:t>
            </a:r>
            <a:endParaRPr sz="4000" b="1">
              <a:solidFill>
                <a:srgbClr val="1B786E"/>
              </a:solidFill>
              <a:latin typeface="Montserrat"/>
              <a:ea typeface="Montserrat"/>
              <a:cs typeface="Montserrat"/>
              <a:sym typeface="Montserrat"/>
            </a:endParaRPr>
          </a:p>
        </p:txBody>
      </p:sp>
      <p:sp>
        <p:nvSpPr>
          <p:cNvPr id="861" name="Google Shape;861;p133"/>
          <p:cNvSpPr txBox="1"/>
          <p:nvPr/>
        </p:nvSpPr>
        <p:spPr>
          <a:xfrm>
            <a:off x="5929277" y="2394061"/>
            <a:ext cx="5923600" cy="3571156"/>
          </a:xfrm>
          <a:prstGeom prst="rect">
            <a:avLst/>
          </a:prstGeom>
          <a:noFill/>
          <a:ln>
            <a:noFill/>
          </a:ln>
        </p:spPr>
        <p:txBody>
          <a:bodyPr spcFirstLastPara="1" wrap="square" lIns="91433" tIns="91433" rIns="91433" bIns="91433" anchor="t" anchorCtr="0">
            <a:spAutoFit/>
          </a:bodyPr>
          <a:lstStyle/>
          <a:p>
            <a:pPr algn="just"/>
            <a:r>
              <a:rPr lang="en" sz="1467">
                <a:solidFill>
                  <a:schemeClr val="dk1"/>
                </a:solidFill>
                <a:latin typeface="Montserrat"/>
                <a:ea typeface="Montserrat"/>
                <a:cs typeface="Montserrat"/>
                <a:sym typeface="Montserrat"/>
              </a:rPr>
              <a:t>Cong is a renewable energy professional with over a decade of experience. Prior to joining Allotrope, Cong cultivated extensive clean energy technical expertise by supporting the development of solar and wind farms, battery energy storage systems, and asset management projects. In his role with Allotrope, Cong supports corporate clients to evaluate and implement clean energy and decarbonization solutions across a range of technologies. This includes leading techno-economic assessments to determine costs and benefits for specific sites, managing projects and building stakeholder relationships, and supporting business development efforts in Vietnam. Cong holds a Bachelor’s degree in Electromechanics Maintenance Engineering from Hung Yen University of Technology and Education and has advanced certifications in renewable energy and reliability engineering.</a:t>
            </a:r>
            <a:endParaRPr sz="1467">
              <a:solidFill>
                <a:schemeClr val="dk1"/>
              </a:solidFill>
              <a:latin typeface="Montserrat"/>
              <a:ea typeface="Montserrat"/>
              <a:cs typeface="Montserrat"/>
              <a:sym typeface="Montserrat"/>
            </a:endParaRPr>
          </a:p>
        </p:txBody>
      </p:sp>
      <p:sp>
        <p:nvSpPr>
          <p:cNvPr id="862" name="Google Shape;862;p133"/>
          <p:cNvSpPr txBox="1"/>
          <p:nvPr/>
        </p:nvSpPr>
        <p:spPr>
          <a:xfrm>
            <a:off x="5929277" y="1203237"/>
            <a:ext cx="5531600" cy="1354176"/>
          </a:xfrm>
          <a:prstGeom prst="rect">
            <a:avLst/>
          </a:prstGeom>
          <a:noFill/>
          <a:ln>
            <a:noFill/>
          </a:ln>
        </p:spPr>
        <p:txBody>
          <a:bodyPr spcFirstLastPara="1" wrap="square" lIns="121900" tIns="121900" rIns="121900" bIns="121900" anchor="t" anchorCtr="0">
            <a:spAutoFit/>
          </a:bodyPr>
          <a:lstStyle/>
          <a:p>
            <a:r>
              <a:rPr lang="en" sz="2400" b="1">
                <a:solidFill>
                  <a:srgbClr val="035D4E"/>
                </a:solidFill>
                <a:latin typeface="Montserrat"/>
                <a:ea typeface="Montserrat"/>
                <a:cs typeface="Montserrat"/>
                <a:sym typeface="Montserrat"/>
              </a:rPr>
              <a:t>Cong Nguyen</a:t>
            </a:r>
            <a:endParaRPr sz="2400" b="1">
              <a:solidFill>
                <a:srgbClr val="035D4E"/>
              </a:solidFill>
              <a:latin typeface="Montserrat"/>
              <a:ea typeface="Montserrat"/>
              <a:cs typeface="Montserrat"/>
              <a:sym typeface="Montserrat"/>
            </a:endParaRPr>
          </a:p>
          <a:p>
            <a:r>
              <a:rPr lang="en" sz="2400" b="1">
                <a:solidFill>
                  <a:srgbClr val="035D4E"/>
                </a:solidFill>
                <a:latin typeface="Montserrat"/>
                <a:ea typeface="Montserrat"/>
                <a:cs typeface="Montserrat"/>
                <a:sym typeface="Montserrat"/>
              </a:rPr>
              <a:t>Allotrope Partners</a:t>
            </a:r>
            <a:endParaRPr sz="2400" b="1">
              <a:solidFill>
                <a:srgbClr val="035D4E"/>
              </a:solidFill>
              <a:latin typeface="Montserrat"/>
              <a:ea typeface="Montserrat"/>
              <a:cs typeface="Montserrat"/>
              <a:sym typeface="Montserrat"/>
            </a:endParaRPr>
          </a:p>
          <a:p>
            <a:r>
              <a:rPr lang="en" sz="2400" b="1">
                <a:solidFill>
                  <a:srgbClr val="035D4E"/>
                </a:solidFill>
                <a:latin typeface="Montserrat"/>
                <a:ea typeface="Montserrat"/>
                <a:cs typeface="Montserrat"/>
                <a:sym typeface="Montserrat"/>
              </a:rPr>
              <a:t>Vietnam Clean Energy Manager</a:t>
            </a:r>
            <a:endParaRPr sz="2267">
              <a:solidFill>
                <a:srgbClr val="035D4E"/>
              </a:solidFill>
            </a:endParaRPr>
          </a:p>
        </p:txBody>
      </p:sp>
      <p:pic>
        <p:nvPicPr>
          <p:cNvPr id="863" name="Google Shape;863;p133"/>
          <p:cNvPicPr preferRelativeResize="0"/>
          <p:nvPr/>
        </p:nvPicPr>
        <p:blipFill>
          <a:blip r:embed="rId3">
            <a:alphaModFix/>
          </a:blip>
          <a:stretch>
            <a:fillRect/>
          </a:stretch>
        </p:blipFill>
        <p:spPr>
          <a:xfrm>
            <a:off x="9963564" y="6440969"/>
            <a:ext cx="1193232" cy="417033"/>
          </a:xfrm>
          <a:prstGeom prst="rect">
            <a:avLst/>
          </a:prstGeom>
          <a:noFill/>
          <a:ln>
            <a:noFill/>
          </a:ln>
        </p:spPr>
      </p:pic>
      <p:pic>
        <p:nvPicPr>
          <p:cNvPr id="864" name="Google Shape;864;p133" title="CEBA new logo.png"/>
          <p:cNvPicPr preferRelativeResize="0"/>
          <p:nvPr/>
        </p:nvPicPr>
        <p:blipFill>
          <a:blip r:embed="rId4">
            <a:alphaModFix/>
          </a:blip>
          <a:stretch>
            <a:fillRect/>
          </a:stretch>
        </p:blipFill>
        <p:spPr>
          <a:xfrm>
            <a:off x="11166564" y="6521050"/>
            <a:ext cx="944395" cy="282433"/>
          </a:xfrm>
          <a:prstGeom prst="rect">
            <a:avLst/>
          </a:prstGeom>
          <a:noFill/>
          <a:ln>
            <a:noFill/>
          </a:ln>
        </p:spPr>
      </p:pic>
      <p:sp>
        <p:nvSpPr>
          <p:cNvPr id="865" name="Google Shape;865;p133"/>
          <p:cNvSpPr/>
          <p:nvPr/>
        </p:nvSpPr>
        <p:spPr>
          <a:xfrm rot="10800000" flipH="1">
            <a:off x="507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866" name="Google Shape;866;p133"/>
          <p:cNvSpPr/>
          <p:nvPr/>
        </p:nvSpPr>
        <p:spPr>
          <a:xfrm>
            <a:off x="635503" y="1704400"/>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
        <p:nvSpPr>
          <p:cNvPr id="867" name="Google Shape;867;p133"/>
          <p:cNvSpPr/>
          <p:nvPr/>
        </p:nvSpPr>
        <p:spPr>
          <a:xfrm>
            <a:off x="-10948" y="269133"/>
            <a:ext cx="5502400" cy="5841200"/>
          </a:xfrm>
          <a:prstGeom prst="flowChartDelay">
            <a:avLst/>
          </a:prstGeom>
          <a:solidFill>
            <a:srgbClr val="D9D9D9">
              <a:alpha val="69620"/>
            </a:srgbClr>
          </a:solidFill>
          <a:ln>
            <a:noFill/>
          </a:ln>
        </p:spPr>
        <p:txBody>
          <a:bodyPr spcFirstLastPara="1" wrap="square" lIns="121900" tIns="121900" rIns="121900" bIns="121900" anchor="ctr" anchorCtr="0">
            <a:noAutofit/>
          </a:bodyPr>
          <a:lstStyle/>
          <a:p>
            <a:pPr algn="ctr"/>
            <a:endParaRPr sz="2400"/>
          </a:p>
        </p:txBody>
      </p:sp>
      <p:pic>
        <p:nvPicPr>
          <p:cNvPr id="868" name="Google Shape;868;p133" title="Screenshot 2025-09-12 094335.png"/>
          <p:cNvPicPr preferRelativeResize="0"/>
          <p:nvPr/>
        </p:nvPicPr>
        <p:blipFill rotWithShape="1">
          <a:blip r:embed="rId5">
            <a:alphaModFix/>
          </a:blip>
          <a:srcRect l="1500" r="-1500" b="12181"/>
          <a:stretch/>
        </p:blipFill>
        <p:spPr>
          <a:xfrm>
            <a:off x="-10948" y="591933"/>
            <a:ext cx="5119600" cy="5119600"/>
          </a:xfrm>
          <a:prstGeom prst="flowChartDelay">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34"/>
          <p:cNvSpPr txBox="1"/>
          <p:nvPr/>
        </p:nvSpPr>
        <p:spPr>
          <a:xfrm>
            <a:off x="6325467" y="1920901"/>
            <a:ext cx="5688800" cy="2121566"/>
          </a:xfrm>
          <a:prstGeom prst="rect">
            <a:avLst/>
          </a:prstGeom>
          <a:noFill/>
          <a:ln>
            <a:noFill/>
          </a:ln>
        </p:spPr>
        <p:txBody>
          <a:bodyPr spcFirstLastPara="1" wrap="square" lIns="91433" tIns="45700" rIns="91433" bIns="45700" anchor="t" anchorCtr="0">
            <a:spAutoFit/>
          </a:bodyPr>
          <a:lstStyle/>
          <a:p>
            <a:pPr>
              <a:lnSpc>
                <a:spcPct val="120000"/>
              </a:lnSpc>
              <a:spcAft>
                <a:spcPts val="2000"/>
              </a:spcAft>
              <a:buClr>
                <a:schemeClr val="dk1"/>
              </a:buClr>
              <a:buSzPts val="1100"/>
            </a:pPr>
            <a:r>
              <a:rPr lang="en" sz="4800" b="1">
                <a:solidFill>
                  <a:srgbClr val="2F645B"/>
                </a:solidFill>
                <a:highlight>
                  <a:srgbClr val="FFFFFF"/>
                </a:highlight>
                <a:latin typeface="Montserrat"/>
                <a:ea typeface="Montserrat"/>
                <a:cs typeface="Montserrat"/>
                <a:sym typeface="Montserrat"/>
              </a:rPr>
              <a:t>BESS Integration Strategy</a:t>
            </a:r>
            <a:endParaRPr sz="4800">
              <a:solidFill>
                <a:srgbClr val="2F645B"/>
              </a:solidFill>
              <a:latin typeface="Montserrat"/>
              <a:ea typeface="Montserrat"/>
              <a:cs typeface="Montserrat"/>
              <a:sym typeface="Montserrat"/>
            </a:endParaRPr>
          </a:p>
        </p:txBody>
      </p:sp>
      <p:pic>
        <p:nvPicPr>
          <p:cNvPr id="874" name="Google Shape;874;p134"/>
          <p:cNvPicPr preferRelativeResize="0"/>
          <p:nvPr/>
        </p:nvPicPr>
        <p:blipFill rotWithShape="1">
          <a:blip r:embed="rId3">
            <a:alphaModFix/>
          </a:blip>
          <a:srcRect l="6658" t="3134" r="48140" b="13296"/>
          <a:stretch/>
        </p:blipFill>
        <p:spPr>
          <a:xfrm>
            <a:off x="0" y="1"/>
            <a:ext cx="5688800" cy="6857999"/>
          </a:xfrm>
          <a:prstGeom prst="rect">
            <a:avLst/>
          </a:prstGeom>
          <a:noFill/>
          <a:ln>
            <a:noFill/>
          </a:ln>
        </p:spPr>
      </p:pic>
      <p:sp>
        <p:nvSpPr>
          <p:cNvPr id="875" name="Google Shape;875;p134"/>
          <p:cNvSpPr txBox="1"/>
          <p:nvPr/>
        </p:nvSpPr>
        <p:spPr>
          <a:xfrm>
            <a:off x="6325467" y="3704767"/>
            <a:ext cx="4958800" cy="1354176"/>
          </a:xfrm>
          <a:prstGeom prst="rect">
            <a:avLst/>
          </a:prstGeom>
          <a:noFill/>
          <a:ln>
            <a:noFill/>
          </a:ln>
        </p:spPr>
        <p:txBody>
          <a:bodyPr spcFirstLastPara="1" wrap="square" lIns="121900" tIns="121900" rIns="121900" bIns="121900" anchor="t" anchorCtr="0">
            <a:spAutoFit/>
          </a:bodyPr>
          <a:lstStyle/>
          <a:p>
            <a:r>
              <a:rPr lang="en" sz="2400">
                <a:solidFill>
                  <a:schemeClr val="dk1"/>
                </a:solidFill>
                <a:highlight>
                  <a:srgbClr val="FFFFFF"/>
                </a:highlight>
                <a:latin typeface="Montserrat"/>
                <a:ea typeface="Montserrat"/>
                <a:cs typeface="Montserrat"/>
                <a:sym typeface="Montserrat"/>
              </a:rPr>
              <a:t>Clean Energy Procurement Analysis &amp; Optimization Framework</a:t>
            </a:r>
            <a:r>
              <a:rPr lang="en" sz="2400">
                <a:solidFill>
                  <a:schemeClr val="dk1"/>
                </a:solidFill>
                <a:latin typeface="Montserrat"/>
                <a:ea typeface="Montserrat"/>
                <a:cs typeface="Montserrat"/>
                <a:sym typeface="Montserrat"/>
              </a:rPr>
              <a:t> </a:t>
            </a:r>
            <a:endParaRPr sz="2400">
              <a:solidFill>
                <a:schemeClr val="dk1"/>
              </a:solidFill>
              <a:latin typeface="Montserrat"/>
              <a:ea typeface="Montserrat"/>
              <a:cs typeface="Montserrat"/>
              <a:sym typeface="Montserrat"/>
            </a:endParaRPr>
          </a:p>
        </p:txBody>
      </p:sp>
      <p:grpSp>
        <p:nvGrpSpPr>
          <p:cNvPr id="876" name="Google Shape;876;p134"/>
          <p:cNvGrpSpPr/>
          <p:nvPr/>
        </p:nvGrpSpPr>
        <p:grpSpPr>
          <a:xfrm>
            <a:off x="9893031" y="6440969"/>
            <a:ext cx="2147396" cy="417033"/>
            <a:chOff x="7472673" y="4830726"/>
            <a:chExt cx="1610547" cy="312775"/>
          </a:xfrm>
        </p:grpSpPr>
        <p:pic>
          <p:nvPicPr>
            <p:cNvPr id="877" name="Google Shape;877;p13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878" name="Google Shape;878;p134"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sp>
        <p:nvSpPr>
          <p:cNvPr id="879" name="Google Shape;879;p134"/>
          <p:cNvSpPr/>
          <p:nvPr/>
        </p:nvSpPr>
        <p:spPr>
          <a:xfrm>
            <a:off x="0" y="0"/>
            <a:ext cx="56888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sp>
        <p:nvSpPr>
          <p:cNvPr id="880" name="Google Shape;880;p134"/>
          <p:cNvSpPr/>
          <p:nvPr/>
        </p:nvSpPr>
        <p:spPr>
          <a:xfrm rot="10800000" flipH="1">
            <a:off x="4008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881" name="Google Shape;881;p134"/>
          <p:cNvSpPr/>
          <p:nvPr/>
        </p:nvSpPr>
        <p:spPr>
          <a:xfrm>
            <a:off x="1653969" y="1704467"/>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5"/>
        <p:cNvGrpSpPr/>
        <p:nvPr/>
      </p:nvGrpSpPr>
      <p:grpSpPr>
        <a:xfrm>
          <a:off x="0" y="0"/>
          <a:ext cx="0" cy="0"/>
          <a:chOff x="0" y="0"/>
          <a:chExt cx="0" cy="0"/>
        </a:xfrm>
      </p:grpSpPr>
      <p:sp>
        <p:nvSpPr>
          <p:cNvPr id="886" name="Google Shape;886;p135"/>
          <p:cNvSpPr txBox="1"/>
          <p:nvPr/>
        </p:nvSpPr>
        <p:spPr>
          <a:xfrm>
            <a:off x="431033" y="1441200"/>
            <a:ext cx="6481200" cy="4131603"/>
          </a:xfrm>
          <a:prstGeom prst="rect">
            <a:avLst/>
          </a:prstGeom>
          <a:noFill/>
          <a:ln>
            <a:noFill/>
          </a:ln>
        </p:spPr>
        <p:txBody>
          <a:bodyPr spcFirstLastPara="1" wrap="square" lIns="121900" tIns="121900" rIns="121900" bIns="121900" anchor="t" anchorCtr="0">
            <a:spAutoFit/>
          </a:bodyPr>
          <a:lstStyle/>
          <a:p>
            <a:pPr marL="609585" indent="-414856">
              <a:lnSpc>
                <a:spcPct val="115000"/>
              </a:lnSpc>
              <a:spcBef>
                <a:spcPts val="1600"/>
              </a:spcBef>
              <a:buSzPts val="1300"/>
              <a:buFont typeface="Montserrat"/>
              <a:buChar char="●"/>
            </a:pPr>
            <a:r>
              <a:rPr lang="en" sz="1733">
                <a:latin typeface="Montserrat"/>
                <a:ea typeface="Montserrat"/>
                <a:cs typeface="Montserrat"/>
                <a:sym typeface="Montserrat"/>
              </a:rPr>
              <a:t>Vietnam's energy market is undergoing a </a:t>
            </a:r>
            <a:r>
              <a:rPr lang="en" sz="1733" b="1">
                <a:latin typeface="Montserrat"/>
                <a:ea typeface="Montserrat"/>
                <a:cs typeface="Montserrat"/>
                <a:sym typeface="Montserrat"/>
              </a:rPr>
              <a:t>complex structural transition</a:t>
            </a:r>
            <a:r>
              <a:rPr lang="en" sz="1733">
                <a:latin typeface="Montserrat"/>
                <a:ea typeface="Montserrat"/>
                <a:cs typeface="Montserrat"/>
                <a:sym typeface="Montserrat"/>
              </a:rPr>
              <a:t>, ending the era of fixed, subsidized grid electricity.</a:t>
            </a:r>
            <a:endParaRPr sz="1733">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Average retail electricity prices have increased by </a:t>
            </a:r>
            <a:r>
              <a:rPr lang="en" sz="1733" b="1">
                <a:latin typeface="Montserrat"/>
                <a:ea typeface="Montserrat"/>
                <a:cs typeface="Montserrat"/>
                <a:sym typeface="Montserrat"/>
              </a:rPr>
              <a:t>over 17%</a:t>
            </a:r>
            <a:r>
              <a:rPr lang="en" sz="1733">
                <a:latin typeface="Montserrat"/>
                <a:ea typeface="Montserrat"/>
                <a:cs typeface="Montserrat"/>
                <a:sym typeface="Montserrat"/>
              </a:rPr>
              <a:t> in the past three years.</a:t>
            </a:r>
            <a:endParaRPr sz="1733">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The cross-subsidy mechanism for production is being phased out, which directly threatens </a:t>
            </a:r>
            <a:r>
              <a:rPr lang="en" sz="1733" b="1">
                <a:latin typeface="Montserrat"/>
                <a:ea typeface="Montserrat"/>
                <a:cs typeface="Montserrat"/>
                <a:sym typeface="Montserrat"/>
              </a:rPr>
              <a:t>corporate profit margins.</a:t>
            </a:r>
            <a:endParaRPr sz="1733" b="1">
              <a:latin typeface="Montserrat"/>
              <a:ea typeface="Montserrat"/>
              <a:cs typeface="Montserrat"/>
              <a:sym typeface="Montserrat"/>
            </a:endParaRPr>
          </a:p>
          <a:p>
            <a:pPr marL="609585" indent="-414856">
              <a:lnSpc>
                <a:spcPct val="115000"/>
              </a:lnSpc>
              <a:buSzPts val="1300"/>
              <a:buFont typeface="Montserrat"/>
              <a:buChar char="●"/>
            </a:pPr>
            <a:r>
              <a:rPr lang="en" sz="1733">
                <a:latin typeface="Montserrat"/>
                <a:ea typeface="Montserrat"/>
                <a:cs typeface="Montserrat"/>
                <a:sym typeface="Montserrat"/>
              </a:rPr>
              <a:t>Battery Energy Storage Systems (BESS) are now foundational for managing electricity price risks and meeting stringent international decarbonization standards.</a:t>
            </a:r>
            <a:endParaRPr sz="1733">
              <a:latin typeface="Montserrat"/>
              <a:ea typeface="Montserrat"/>
              <a:cs typeface="Montserrat"/>
              <a:sym typeface="Montserrat"/>
            </a:endParaRPr>
          </a:p>
        </p:txBody>
      </p:sp>
      <p:pic>
        <p:nvPicPr>
          <p:cNvPr id="887" name="Google Shape;887;p135"/>
          <p:cNvPicPr preferRelativeResize="0"/>
          <p:nvPr/>
        </p:nvPicPr>
        <p:blipFill>
          <a:blip r:embed="rId3">
            <a:alphaModFix/>
          </a:blip>
          <a:stretch>
            <a:fillRect/>
          </a:stretch>
        </p:blipFill>
        <p:spPr>
          <a:xfrm>
            <a:off x="7252533" y="1336584"/>
            <a:ext cx="4736267" cy="4736267"/>
          </a:xfrm>
          <a:prstGeom prst="rect">
            <a:avLst/>
          </a:prstGeom>
          <a:noFill/>
          <a:ln>
            <a:noFill/>
          </a:ln>
        </p:spPr>
      </p:pic>
      <p:grpSp>
        <p:nvGrpSpPr>
          <p:cNvPr id="888" name="Google Shape;888;p135"/>
          <p:cNvGrpSpPr/>
          <p:nvPr/>
        </p:nvGrpSpPr>
        <p:grpSpPr>
          <a:xfrm>
            <a:off x="9893031" y="6440969"/>
            <a:ext cx="2147396" cy="417033"/>
            <a:chOff x="7472673" y="4830726"/>
            <a:chExt cx="1610547" cy="312775"/>
          </a:xfrm>
        </p:grpSpPr>
        <p:pic>
          <p:nvPicPr>
            <p:cNvPr id="889" name="Google Shape;889;p135"/>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890" name="Google Shape;890;p135"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891" name="Google Shape;891;p135"/>
          <p:cNvGrpSpPr/>
          <p:nvPr/>
        </p:nvGrpSpPr>
        <p:grpSpPr>
          <a:xfrm>
            <a:off x="319989" y="85138"/>
            <a:ext cx="11637400" cy="994663"/>
            <a:chOff x="236700" y="63853"/>
            <a:chExt cx="8728050" cy="745997"/>
          </a:xfrm>
        </p:grpSpPr>
        <p:sp>
          <p:nvSpPr>
            <p:cNvPr id="892" name="Google Shape;892;p135"/>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893" name="Google Shape;893;p13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894" name="Google Shape;894;p13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895" name="Google Shape;895;p13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896" name="Google Shape;896;p13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897" name="Google Shape;897;p13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898" name="Google Shape;898;p13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899" name="Google Shape;899;p135"/>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The New Energy Era</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00" name="Google Shape;900;p13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01" name="Google Shape;901;p13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5"/>
        <p:cNvGrpSpPr/>
        <p:nvPr/>
      </p:nvGrpSpPr>
      <p:grpSpPr>
        <a:xfrm>
          <a:off x="0" y="0"/>
          <a:ext cx="0" cy="0"/>
          <a:chOff x="0" y="0"/>
          <a:chExt cx="0" cy="0"/>
        </a:xfrm>
      </p:grpSpPr>
      <p:graphicFrame>
        <p:nvGraphicFramePr>
          <p:cNvPr id="906" name="Google Shape;906;p136"/>
          <p:cNvGraphicFramePr/>
          <p:nvPr/>
        </p:nvGraphicFramePr>
        <p:xfrm>
          <a:off x="611007" y="1410267"/>
          <a:ext cx="6391500" cy="5120267"/>
        </p:xfrm>
        <a:graphic>
          <a:graphicData uri="http://schemas.openxmlformats.org/drawingml/2006/table">
            <a:tbl>
              <a:tblPr>
                <a:noFill/>
              </a:tblPr>
              <a:tblGrid>
                <a:gridCol w="1571167">
                  <a:extLst>
                    <a:ext uri="{9D8B030D-6E8A-4147-A177-3AD203B41FA5}">
                      <a16:colId xmlns:a16="http://schemas.microsoft.com/office/drawing/2014/main" val="20000"/>
                    </a:ext>
                  </a:extLst>
                </a:gridCol>
                <a:gridCol w="2381500">
                  <a:extLst>
                    <a:ext uri="{9D8B030D-6E8A-4147-A177-3AD203B41FA5}">
                      <a16:colId xmlns:a16="http://schemas.microsoft.com/office/drawing/2014/main" val="20001"/>
                    </a:ext>
                  </a:extLst>
                </a:gridCol>
                <a:gridCol w="2438833">
                  <a:extLst>
                    <a:ext uri="{9D8B030D-6E8A-4147-A177-3AD203B41FA5}">
                      <a16:colId xmlns:a16="http://schemas.microsoft.com/office/drawing/2014/main" val="20002"/>
                    </a:ext>
                  </a:extLst>
                </a:gridCol>
              </a:tblGrid>
              <a:tr h="1099700">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Comparison Criteria</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Old TOU Mechanism (Pre-2026)</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tc>
                  <a:txBody>
                    <a:bodyPr/>
                    <a:lstStyle/>
                    <a:p>
                      <a:pPr marL="0" marR="0" lvl="0" indent="0" algn="l" rtl="0">
                        <a:spcBef>
                          <a:spcPts val="0"/>
                        </a:spcBef>
                        <a:spcAft>
                          <a:spcPts val="0"/>
                        </a:spcAft>
                        <a:buClr>
                          <a:srgbClr val="FFFFFF"/>
                        </a:buClr>
                        <a:buSzPts val="1500"/>
                        <a:buFont typeface="Poppins"/>
                        <a:buNone/>
                      </a:pPr>
                      <a:r>
                        <a:rPr lang="en" sz="1500" b="1" u="none" strike="noStrike" cap="none">
                          <a:solidFill>
                            <a:srgbClr val="FFFFFF"/>
                          </a:solidFill>
                          <a:latin typeface="Montserrat"/>
                          <a:ea typeface="Montserrat"/>
                          <a:cs typeface="Montserrat"/>
                          <a:sym typeface="Montserrat"/>
                        </a:rPr>
                        <a:t>New Mechanism (Decision 963, 2026)</a:t>
                      </a:r>
                      <a:endParaRPr sz="1500" u="none" strike="noStrike" cap="none">
                        <a:solidFill>
                          <a:srgbClr val="FFFFFF"/>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176B62"/>
                    </a:solidFill>
                  </a:tcPr>
                </a:tc>
                <a:extLst>
                  <a:ext uri="{0D108BD9-81ED-4DB2-BD59-A6C34878D82A}">
                    <a16:rowId xmlns:a16="http://schemas.microsoft.com/office/drawing/2014/main" val="10000"/>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Morning Peak Window</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09:30 – 11:30 (matches solar generation peak)</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Completely eliminated</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Evening Peak Window</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Fragmented structure, short duration</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17:30 – 22:30 (5 continuous hours)</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840467">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Standalone Solar</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High profit by cutting morning peak costs</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Dropping IRR, only offsets normal prices</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060033">
                <a:tc>
                  <a:txBody>
                    <a:bodyPr/>
                    <a:lstStyle/>
                    <a:p>
                      <a:pPr marL="0" marR="0" lvl="0" indent="0" algn="l" rtl="0">
                        <a:spcBef>
                          <a:spcPts val="0"/>
                        </a:spcBef>
                        <a:spcAft>
                          <a:spcPts val="0"/>
                        </a:spcAft>
                        <a:buClr>
                          <a:srgbClr val="0F172A"/>
                        </a:buClr>
                        <a:buSzPts val="1450"/>
                        <a:buFont typeface="Calibri"/>
                        <a:buNone/>
                      </a:pPr>
                      <a:r>
                        <a:rPr lang="en" sz="1500" b="1" u="none" strike="noStrike" cap="none">
                          <a:solidFill>
                            <a:schemeClr val="dk1"/>
                          </a:solidFill>
                          <a:latin typeface="Montserrat"/>
                          <a:ea typeface="Montserrat"/>
                          <a:cs typeface="Montserrat"/>
                          <a:sym typeface="Montserrat"/>
                        </a:rPr>
                        <a:t>BESS in Production</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Clr>
                          <a:srgbClr val="334155"/>
                        </a:buClr>
                        <a:buSzPts val="1450"/>
                        <a:buFont typeface="Calibri"/>
                        <a:buNone/>
                      </a:pPr>
                      <a:r>
                        <a:rPr lang="en" sz="1500" u="none" strike="noStrike" cap="none">
                          <a:solidFill>
                            <a:schemeClr val="dk1"/>
                          </a:solidFill>
                          <a:latin typeface="Montserrat"/>
                          <a:ea typeface="Montserrat"/>
                          <a:cs typeface="Montserrat"/>
                          <a:sym typeface="Montserrat"/>
                        </a:rPr>
                        <a:t>Optional auxiliary for price arbitrage</a:t>
                      </a:r>
                      <a:endParaRPr sz="1500" u="none" strike="noStrike" cap="none">
                        <a:solidFill>
                          <a:schemeClr val="dk1"/>
                        </a:solidFill>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B91C1C"/>
                        </a:buClr>
                        <a:buSzPts val="1450"/>
                        <a:buFont typeface="Calibri"/>
                        <a:buNone/>
                      </a:pPr>
                      <a:r>
                        <a:rPr lang="en" sz="1500" b="1" u="none" strike="noStrike" cap="none">
                          <a:solidFill>
                            <a:srgbClr val="B91C1C"/>
                          </a:solidFill>
                          <a:latin typeface="Montserrat"/>
                          <a:ea typeface="Montserrat"/>
                          <a:cs typeface="Montserrat"/>
                          <a:sym typeface="Montserrat"/>
                        </a:rPr>
                        <a:t>Mandatory to offset evening prices &amp; restore IRR</a:t>
                      </a:r>
                      <a:endParaRPr sz="1500" u="none" strike="noStrike" cap="none">
                        <a:latin typeface="Montserrat"/>
                        <a:ea typeface="Montserrat"/>
                        <a:cs typeface="Montserrat"/>
                        <a:sym typeface="Montserrat"/>
                      </a:endParaRPr>
                    </a:p>
                  </a:txBody>
                  <a:tcPr marL="169333" marR="169333" marT="101600" marB="101600" anchor="ctr">
                    <a:lnL w="12700" cap="flat" cmpd="sng">
                      <a:solidFill>
                        <a:srgbClr val="E2E8F0"/>
                      </a:solidFill>
                      <a:prstDash val="solid"/>
                      <a:round/>
                      <a:headEnd type="none" w="sm" len="sm"/>
                      <a:tailEnd type="none" w="sm" len="sm"/>
                    </a:lnL>
                    <a:lnR w="12700" cap="flat" cmpd="sng">
                      <a:solidFill>
                        <a:srgbClr val="E2E8F0"/>
                      </a:solidFill>
                      <a:prstDash val="solid"/>
                      <a:round/>
                      <a:headEnd type="none" w="sm" len="sm"/>
                      <a:tailEnd type="none" w="sm" len="sm"/>
                    </a:lnR>
                    <a:lnT w="12700" cap="flat" cmpd="sng">
                      <a:solidFill>
                        <a:srgbClr val="E2E8F0"/>
                      </a:solidFill>
                      <a:prstDash val="solid"/>
                      <a:round/>
                      <a:headEnd type="none" w="sm" len="sm"/>
                      <a:tailEnd type="none" w="sm" len="sm"/>
                    </a:lnT>
                    <a:lnB w="12700" cap="flat" cmpd="sng">
                      <a:solidFill>
                        <a:srgbClr val="E2E8F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pic>
        <p:nvPicPr>
          <p:cNvPr id="907" name="Google Shape;907;p136"/>
          <p:cNvPicPr preferRelativeResize="0"/>
          <p:nvPr/>
        </p:nvPicPr>
        <p:blipFill rotWithShape="1">
          <a:blip r:embed="rId3">
            <a:alphaModFix/>
          </a:blip>
          <a:srcRect t="10" b="20"/>
          <a:stretch/>
        </p:blipFill>
        <p:spPr>
          <a:xfrm>
            <a:off x="7170467" y="2354535"/>
            <a:ext cx="4808200" cy="2929115"/>
          </a:xfrm>
          <a:prstGeom prst="rect">
            <a:avLst/>
          </a:prstGeom>
          <a:noFill/>
          <a:ln>
            <a:noFill/>
          </a:ln>
        </p:spPr>
      </p:pic>
      <p:grpSp>
        <p:nvGrpSpPr>
          <p:cNvPr id="908" name="Google Shape;908;p136"/>
          <p:cNvGrpSpPr/>
          <p:nvPr/>
        </p:nvGrpSpPr>
        <p:grpSpPr>
          <a:xfrm>
            <a:off x="9893031" y="6440969"/>
            <a:ext cx="2147396" cy="417033"/>
            <a:chOff x="7472673" y="4830726"/>
            <a:chExt cx="1610547" cy="312775"/>
          </a:xfrm>
        </p:grpSpPr>
        <p:pic>
          <p:nvPicPr>
            <p:cNvPr id="909" name="Google Shape;909;p136"/>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10" name="Google Shape;910;p136"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911" name="Google Shape;911;p136"/>
          <p:cNvGrpSpPr/>
          <p:nvPr/>
        </p:nvGrpSpPr>
        <p:grpSpPr>
          <a:xfrm>
            <a:off x="319989" y="85138"/>
            <a:ext cx="11637400" cy="994663"/>
            <a:chOff x="236700" y="63853"/>
            <a:chExt cx="8728050" cy="745997"/>
          </a:xfrm>
        </p:grpSpPr>
        <p:sp>
          <p:nvSpPr>
            <p:cNvPr id="912" name="Google Shape;912;p136"/>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13" name="Google Shape;913;p13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14" name="Google Shape;914;p13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15" name="Google Shape;915;p13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16" name="Google Shape;916;p13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17" name="Google Shape;917;p13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18" name="Google Shape;918;p13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19" name="Google Shape;919;p136"/>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Cost Shock: TOU Tariff Updates (QĐ963)  </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20" name="Google Shape;920;p136"/>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21" name="Google Shape;921;p136"/>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22" name="Google Shape;922;p136"/>
          <p:cNvSpPr/>
          <p:nvPr/>
        </p:nvSpPr>
        <p:spPr>
          <a:xfrm>
            <a:off x="10167133" y="2419667"/>
            <a:ext cx="1078400" cy="599200"/>
          </a:xfrm>
          <a:prstGeom prst="rect">
            <a:avLst/>
          </a:prstGeom>
          <a:solidFill>
            <a:srgbClr val="E06666"/>
          </a:solidFill>
          <a:ln>
            <a:noFill/>
          </a:ln>
        </p:spPr>
        <p:txBody>
          <a:bodyPr spcFirstLastPara="1" wrap="square" lIns="121900" tIns="121900" rIns="121900" bIns="121900" anchor="ctr" anchorCtr="0">
            <a:noAutofit/>
          </a:bodyPr>
          <a:lstStyle/>
          <a:p>
            <a:pPr algn="ctr"/>
            <a:r>
              <a:rPr lang="en" sz="1067">
                <a:solidFill>
                  <a:schemeClr val="lt1"/>
                </a:solidFill>
                <a:latin typeface="Montserrat"/>
                <a:ea typeface="Montserrat"/>
                <a:cs typeface="Montserrat"/>
                <a:sym typeface="Montserrat"/>
              </a:rPr>
              <a:t>Peak Hour </a:t>
            </a:r>
            <a:br>
              <a:rPr lang="en" sz="1067">
                <a:solidFill>
                  <a:schemeClr val="lt1"/>
                </a:solidFill>
                <a:latin typeface="Montserrat"/>
                <a:ea typeface="Montserrat"/>
                <a:cs typeface="Montserrat"/>
                <a:sym typeface="Montserrat"/>
              </a:rPr>
            </a:br>
            <a:r>
              <a:rPr lang="en" sz="1067">
                <a:solidFill>
                  <a:schemeClr val="lt1"/>
                </a:solidFill>
                <a:latin typeface="Montserrat"/>
                <a:ea typeface="Montserrat"/>
                <a:cs typeface="Montserrat"/>
                <a:sym typeface="Montserrat"/>
              </a:rPr>
              <a:t>(Peak Price)</a:t>
            </a:r>
            <a:endParaRPr sz="1067">
              <a:solidFill>
                <a:schemeClr val="lt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grpSp>
        <p:nvGrpSpPr>
          <p:cNvPr id="927" name="Google Shape;927;p137"/>
          <p:cNvGrpSpPr/>
          <p:nvPr/>
        </p:nvGrpSpPr>
        <p:grpSpPr>
          <a:xfrm>
            <a:off x="638433" y="1497667"/>
            <a:ext cx="6049547" cy="2406973"/>
            <a:chOff x="176608" y="1401195"/>
            <a:chExt cx="4046700" cy="2566435"/>
          </a:xfrm>
        </p:grpSpPr>
        <p:sp>
          <p:nvSpPr>
            <p:cNvPr id="928" name="Google Shape;928;p137"/>
            <p:cNvSpPr/>
            <p:nvPr/>
          </p:nvSpPr>
          <p:spPr>
            <a:xfrm>
              <a:off x="176608" y="1401195"/>
              <a:ext cx="4046700" cy="2566200"/>
            </a:xfrm>
            <a:prstGeom prst="roundRect">
              <a:avLst>
                <a:gd name="adj" fmla="val 2069"/>
              </a:avLst>
            </a:prstGeom>
            <a:solidFill>
              <a:srgbClr val="F8FAFC"/>
            </a:solidFill>
            <a:ln w="8475" cap="flat" cmpd="sng">
              <a:solidFill>
                <a:srgbClr val="E2E8F0"/>
              </a:solidFill>
              <a:prstDash val="solid"/>
              <a:round/>
              <a:headEnd type="none" w="sm" len="sm"/>
              <a:tailEnd type="none" w="sm" len="sm"/>
            </a:ln>
            <a:effectLst>
              <a:outerShdw blurRad="76135" dist="25378" dir="8100000" algn="bl" rotWithShape="0">
                <a:srgbClr val="0F172A">
                  <a:alpha val="12160"/>
                </a:srgbClr>
              </a:outerShdw>
            </a:effectLst>
          </p:spPr>
          <p:txBody>
            <a:bodyPr spcFirstLastPara="1" wrap="square" lIns="81200" tIns="81200" rIns="81200" bIns="81200" anchor="ctr" anchorCtr="0">
              <a:noAutofit/>
            </a:bodyPr>
            <a:lstStyle/>
            <a:p>
              <a:endParaRPr sz="1481"/>
            </a:p>
          </p:txBody>
        </p:sp>
        <p:sp>
          <p:nvSpPr>
            <p:cNvPr id="929" name="Google Shape;929;p137"/>
            <p:cNvSpPr/>
            <p:nvPr/>
          </p:nvSpPr>
          <p:spPr>
            <a:xfrm>
              <a:off x="445322" y="1529111"/>
              <a:ext cx="422100" cy="46200"/>
            </a:xfrm>
            <a:prstGeom prst="rect">
              <a:avLst/>
            </a:prstGeom>
            <a:solidFill>
              <a:srgbClr val="1B786E"/>
            </a:solidFill>
            <a:ln>
              <a:noFill/>
            </a:ln>
          </p:spPr>
          <p:txBody>
            <a:bodyPr spcFirstLastPara="1" wrap="square" lIns="81200" tIns="81200" rIns="81200" bIns="81200" anchor="ctr" anchorCtr="0">
              <a:noAutofit/>
            </a:bodyPr>
            <a:lstStyle/>
            <a:p>
              <a:endParaRPr sz="2400"/>
            </a:p>
          </p:txBody>
        </p:sp>
        <p:sp>
          <p:nvSpPr>
            <p:cNvPr id="930" name="Google Shape;930;p137"/>
            <p:cNvSpPr/>
            <p:nvPr/>
          </p:nvSpPr>
          <p:spPr>
            <a:xfrm>
              <a:off x="445322" y="1628921"/>
              <a:ext cx="3723900" cy="422100"/>
            </a:xfrm>
            <a:prstGeom prst="rect">
              <a:avLst/>
            </a:prstGeom>
            <a:noFill/>
            <a:ln>
              <a:noFill/>
            </a:ln>
          </p:spPr>
          <p:txBody>
            <a:bodyPr spcFirstLastPara="1" wrap="square" lIns="0" tIns="0" rIns="0" bIns="0" anchor="ctr" anchorCtr="0">
              <a:noAutofit/>
            </a:bodyPr>
            <a:lstStyle/>
            <a:p>
              <a:pPr>
                <a:buClr>
                  <a:srgbClr val="2563EB"/>
                </a:buClr>
                <a:buSzPts val="1399"/>
              </a:pPr>
              <a:r>
                <a:rPr lang="en" sz="2400" b="1">
                  <a:solidFill>
                    <a:srgbClr val="1B786E"/>
                  </a:solidFill>
                  <a:latin typeface="Montserrat"/>
                  <a:ea typeface="Montserrat"/>
                  <a:cs typeface="Montserrat"/>
                  <a:sym typeface="Montserrat"/>
                </a:rPr>
                <a:t>Spiky Load Profile</a:t>
              </a:r>
              <a:endParaRPr sz="2400">
                <a:solidFill>
                  <a:srgbClr val="1B786E"/>
                </a:solidFill>
                <a:latin typeface="Montserrat"/>
                <a:ea typeface="Montserrat"/>
                <a:cs typeface="Montserrat"/>
                <a:sym typeface="Montserrat"/>
              </a:endParaRPr>
            </a:p>
          </p:txBody>
        </p:sp>
        <p:sp>
          <p:nvSpPr>
            <p:cNvPr id="931" name="Google Shape;931;p137"/>
            <p:cNvSpPr/>
            <p:nvPr/>
          </p:nvSpPr>
          <p:spPr>
            <a:xfrm>
              <a:off x="445325" y="2143330"/>
              <a:ext cx="3723900" cy="1824300"/>
            </a:xfrm>
            <a:prstGeom prst="rect">
              <a:avLst/>
            </a:prstGeom>
            <a:solidFill>
              <a:srgbClr val="000000">
                <a:alpha val="0"/>
              </a:srgbClr>
            </a:solidFill>
            <a:ln>
              <a:noFill/>
            </a:ln>
          </p:spPr>
          <p:txBody>
            <a:bodyPr spcFirstLastPara="1" wrap="square" lIns="0" tIns="0" rIns="0" bIns="0" anchor="t" anchorCtr="0">
              <a:noAutofit/>
            </a:bodyPr>
            <a:lstStyle/>
            <a:p>
              <a:r>
                <a:rPr lang="en" sz="1333">
                  <a:solidFill>
                    <a:schemeClr val="dk1"/>
                  </a:solidFill>
                  <a:latin typeface="Montserrat"/>
                  <a:ea typeface="Montserrat"/>
                  <a:cs typeface="Montserrat"/>
                  <a:sym typeface="Montserrat"/>
                </a:rPr>
                <a:t>The new pilot pricing mechanism separates the bill into an </a:t>
              </a:r>
              <a:r>
                <a:rPr lang="en" sz="1333" b="1">
                  <a:solidFill>
                    <a:schemeClr val="dk1"/>
                  </a:solidFill>
                  <a:latin typeface="Montserrat"/>
                  <a:ea typeface="Montserrat"/>
                  <a:cs typeface="Montserrat"/>
                  <a:sym typeface="Montserrat"/>
                </a:rPr>
                <a:t>Energy Charge (kWh)</a:t>
              </a:r>
              <a:r>
                <a:rPr lang="en" sz="1333">
                  <a:solidFill>
                    <a:schemeClr val="dk1"/>
                  </a:solidFill>
                  <a:latin typeface="Montserrat"/>
                  <a:ea typeface="Montserrat"/>
                  <a:cs typeface="Montserrat"/>
                  <a:sym typeface="Montserrat"/>
                </a:rPr>
                <a:t> and a </a:t>
              </a:r>
              <a:r>
                <a:rPr lang="en" sz="1333" b="1">
                  <a:solidFill>
                    <a:schemeClr val="dk1"/>
                  </a:solidFill>
                  <a:latin typeface="Montserrat"/>
                  <a:ea typeface="Montserrat"/>
                  <a:cs typeface="Montserrat"/>
                  <a:sym typeface="Montserrat"/>
                </a:rPr>
                <a:t>Maximum Capacity Charge (kW)</a:t>
              </a:r>
              <a:r>
                <a:rPr lang="en" sz="1333">
                  <a:solidFill>
                    <a:schemeClr val="dk1"/>
                  </a:solidFill>
                  <a:latin typeface="Montserrat"/>
                  <a:ea typeface="Montserrat"/>
                  <a:cs typeface="Montserrat"/>
                  <a:sym typeface="Montserrat"/>
                </a:rPr>
                <a:t>.</a:t>
              </a:r>
              <a:endParaRPr sz="1333">
                <a:solidFill>
                  <a:schemeClr val="dk1"/>
                </a:solidFill>
                <a:latin typeface="Montserrat"/>
                <a:ea typeface="Montserrat"/>
                <a:cs typeface="Montserrat"/>
                <a:sym typeface="Montserrat"/>
              </a:endParaRPr>
            </a:p>
            <a:p>
              <a:pPr marL="609585" indent="-389457">
                <a:spcBef>
                  <a:spcPts val="800"/>
                </a:spcBef>
                <a:buClr>
                  <a:schemeClr val="dk1"/>
                </a:buClr>
                <a:buSzPts val="1000"/>
                <a:buFont typeface="Montserrat"/>
                <a:buChar char="●"/>
              </a:pPr>
              <a:r>
                <a:rPr lang="en" sz="1333">
                  <a:solidFill>
                    <a:schemeClr val="dk1"/>
                  </a:solidFill>
                  <a:latin typeface="Montserrat"/>
                  <a:ea typeface="Montserrat"/>
                  <a:cs typeface="Montserrat"/>
                  <a:sym typeface="Montserrat"/>
                </a:rPr>
                <a:t>The system records the highest demand peak in every 30-minute cycle of the month.</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Factories with equipment consuming large instantaneous power (welding, smelting, pressing) will face massive capacity penalties, causing total bills to skyrocket.</a:t>
              </a:r>
              <a:endParaRPr sz="1333">
                <a:solidFill>
                  <a:schemeClr val="dk1"/>
                </a:solidFill>
                <a:latin typeface="Montserrat"/>
                <a:ea typeface="Montserrat"/>
                <a:cs typeface="Montserrat"/>
                <a:sym typeface="Montserrat"/>
              </a:endParaRPr>
            </a:p>
          </p:txBody>
        </p:sp>
      </p:grpSp>
      <p:grpSp>
        <p:nvGrpSpPr>
          <p:cNvPr id="932" name="Google Shape;932;p137"/>
          <p:cNvGrpSpPr/>
          <p:nvPr/>
        </p:nvGrpSpPr>
        <p:grpSpPr>
          <a:xfrm>
            <a:off x="586033" y="4338067"/>
            <a:ext cx="6101987" cy="2102916"/>
            <a:chOff x="4706503" y="1424830"/>
            <a:chExt cx="4048200" cy="2566200"/>
          </a:xfrm>
        </p:grpSpPr>
        <p:sp>
          <p:nvSpPr>
            <p:cNvPr id="933" name="Google Shape;933;p137"/>
            <p:cNvSpPr/>
            <p:nvPr/>
          </p:nvSpPr>
          <p:spPr>
            <a:xfrm>
              <a:off x="4706503" y="1424830"/>
              <a:ext cx="4048200" cy="2566200"/>
            </a:xfrm>
            <a:prstGeom prst="roundRect">
              <a:avLst>
                <a:gd name="adj" fmla="val 2069"/>
              </a:avLst>
            </a:prstGeom>
            <a:solidFill>
              <a:srgbClr val="F8FAFC"/>
            </a:solidFill>
            <a:ln w="9075" cap="flat" cmpd="sng">
              <a:solidFill>
                <a:srgbClr val="E2E8F0"/>
              </a:solidFill>
              <a:prstDash val="solid"/>
              <a:round/>
              <a:headEnd type="none" w="sm" len="sm"/>
              <a:tailEnd type="none" w="sm" len="sm"/>
            </a:ln>
            <a:effectLst>
              <a:outerShdw blurRad="81513" dist="27171" dir="8100000" algn="bl" rotWithShape="0">
                <a:srgbClr val="0F172A">
                  <a:alpha val="12160"/>
                </a:srgbClr>
              </a:outerShdw>
            </a:effectLst>
          </p:spPr>
          <p:txBody>
            <a:bodyPr spcFirstLastPara="1" wrap="square" lIns="86933" tIns="86933" rIns="86933" bIns="86933" anchor="ctr" anchorCtr="0">
              <a:noAutofit/>
            </a:bodyPr>
            <a:lstStyle/>
            <a:p>
              <a:endParaRPr sz="1585"/>
            </a:p>
          </p:txBody>
        </p:sp>
        <p:sp>
          <p:nvSpPr>
            <p:cNvPr id="934" name="Google Shape;934;p137"/>
            <p:cNvSpPr/>
            <p:nvPr/>
          </p:nvSpPr>
          <p:spPr>
            <a:xfrm>
              <a:off x="4975215" y="1529111"/>
              <a:ext cx="422100" cy="46200"/>
            </a:xfrm>
            <a:prstGeom prst="rect">
              <a:avLst/>
            </a:prstGeom>
            <a:solidFill>
              <a:srgbClr val="1B786E"/>
            </a:solidFill>
            <a:ln>
              <a:noFill/>
            </a:ln>
          </p:spPr>
          <p:txBody>
            <a:bodyPr spcFirstLastPara="1" wrap="square" lIns="86933" tIns="86933" rIns="86933" bIns="86933" anchor="ctr" anchorCtr="0">
              <a:noAutofit/>
            </a:bodyPr>
            <a:lstStyle/>
            <a:p>
              <a:endParaRPr sz="2400"/>
            </a:p>
          </p:txBody>
        </p:sp>
        <p:sp>
          <p:nvSpPr>
            <p:cNvPr id="935" name="Google Shape;935;p137"/>
            <p:cNvSpPr/>
            <p:nvPr/>
          </p:nvSpPr>
          <p:spPr>
            <a:xfrm>
              <a:off x="4975221" y="1605301"/>
              <a:ext cx="3723900" cy="312900"/>
            </a:xfrm>
            <a:prstGeom prst="rect">
              <a:avLst/>
            </a:prstGeom>
            <a:noFill/>
            <a:ln>
              <a:noFill/>
            </a:ln>
          </p:spPr>
          <p:txBody>
            <a:bodyPr spcFirstLastPara="1" wrap="square" lIns="0" tIns="0" rIns="0" bIns="0" anchor="ctr" anchorCtr="0">
              <a:noAutofit/>
            </a:bodyPr>
            <a:lstStyle/>
            <a:p>
              <a:pPr>
                <a:buClr>
                  <a:srgbClr val="0EA5E9"/>
                </a:buClr>
                <a:buSzPts val="1498"/>
              </a:pPr>
              <a:r>
                <a:rPr lang="en" sz="2400" b="1">
                  <a:solidFill>
                    <a:srgbClr val="1B786E"/>
                  </a:solidFill>
                  <a:latin typeface="Montserrat"/>
                  <a:ea typeface="Montserrat"/>
                  <a:cs typeface="Montserrat"/>
                  <a:sym typeface="Montserrat"/>
                </a:rPr>
                <a:t>Peak Shaving Strategy</a:t>
              </a:r>
              <a:endParaRPr sz="2400">
                <a:solidFill>
                  <a:srgbClr val="1B786E"/>
                </a:solidFill>
                <a:latin typeface="Montserrat"/>
                <a:ea typeface="Montserrat"/>
                <a:cs typeface="Montserrat"/>
                <a:sym typeface="Montserrat"/>
              </a:endParaRPr>
            </a:p>
          </p:txBody>
        </p:sp>
        <p:sp>
          <p:nvSpPr>
            <p:cNvPr id="936" name="Google Shape;936;p137"/>
            <p:cNvSpPr/>
            <p:nvPr/>
          </p:nvSpPr>
          <p:spPr>
            <a:xfrm>
              <a:off x="4992293" y="2091938"/>
              <a:ext cx="3723900" cy="1409100"/>
            </a:xfrm>
            <a:prstGeom prst="rect">
              <a:avLst/>
            </a:prstGeom>
            <a:solidFill>
              <a:srgbClr val="000000">
                <a:alpha val="0"/>
              </a:srgbClr>
            </a:solidFill>
            <a:ln>
              <a:noFill/>
            </a:ln>
          </p:spPr>
          <p:txBody>
            <a:bodyPr spcFirstLastPara="1" wrap="square" lIns="0" tIns="0" rIns="0" bIns="0" anchor="t" anchorCtr="0">
              <a:noAutofit/>
            </a:bodyPr>
            <a:lstStyle/>
            <a:p>
              <a:pPr marL="609585" indent="-389457">
                <a:buClr>
                  <a:schemeClr val="dk1"/>
                </a:buClr>
                <a:buSzPts val="1000"/>
                <a:buFont typeface="Montserrat"/>
                <a:buChar char="●"/>
              </a:pPr>
              <a:r>
                <a:rPr lang="en" sz="1333">
                  <a:solidFill>
                    <a:schemeClr val="dk1"/>
                  </a:solidFill>
                  <a:latin typeface="Montserrat"/>
                  <a:ea typeface="Montserrat"/>
                  <a:cs typeface="Montserrat"/>
                  <a:sym typeface="Montserrat"/>
                </a:rPr>
                <a:t>Integrating an Energy Management System (EMS) and BESS is the defensive measure.</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BESS detects impending capacity thresholds and automatically discharges to intervene.</a:t>
              </a:r>
              <a:endParaRPr sz="1333">
                <a:solidFill>
                  <a:schemeClr val="dk1"/>
                </a:solidFill>
                <a:latin typeface="Montserrat"/>
                <a:ea typeface="Montserrat"/>
                <a:cs typeface="Montserrat"/>
                <a:sym typeface="Montserrat"/>
              </a:endParaRPr>
            </a:p>
            <a:p>
              <a:pPr marL="609585" indent="-389457">
                <a:spcBef>
                  <a:spcPts val="533"/>
                </a:spcBef>
                <a:buClr>
                  <a:schemeClr val="dk1"/>
                </a:buClr>
                <a:buSzPts val="1000"/>
                <a:buFont typeface="Montserrat"/>
                <a:buChar char="●"/>
              </a:pPr>
              <a:r>
                <a:rPr lang="en" sz="1333">
                  <a:solidFill>
                    <a:schemeClr val="dk1"/>
                  </a:solidFill>
                  <a:latin typeface="Montserrat"/>
                  <a:ea typeface="Montserrat"/>
                  <a:cs typeface="Montserrat"/>
                  <a:sym typeface="Montserrat"/>
                </a:rPr>
                <a:t>Shaving the grid power draw profile helps factories avoid expensive, fixed monthly capacity penalties.</a:t>
              </a:r>
              <a:endParaRPr sz="1333">
                <a:solidFill>
                  <a:schemeClr val="dk1"/>
                </a:solidFill>
                <a:latin typeface="Montserrat"/>
                <a:ea typeface="Montserrat"/>
                <a:cs typeface="Montserrat"/>
                <a:sym typeface="Montserrat"/>
              </a:endParaRPr>
            </a:p>
          </p:txBody>
        </p:sp>
      </p:grpSp>
      <p:pic>
        <p:nvPicPr>
          <p:cNvPr id="937" name="Google Shape;937;p137"/>
          <p:cNvPicPr preferRelativeResize="0"/>
          <p:nvPr/>
        </p:nvPicPr>
        <p:blipFill>
          <a:blip r:embed="rId3">
            <a:alphaModFix/>
          </a:blip>
          <a:stretch>
            <a:fillRect/>
          </a:stretch>
        </p:blipFill>
        <p:spPr>
          <a:xfrm>
            <a:off x="6797667" y="2294734"/>
            <a:ext cx="5349200" cy="3404167"/>
          </a:xfrm>
          <a:prstGeom prst="rect">
            <a:avLst/>
          </a:prstGeom>
          <a:noFill/>
          <a:ln>
            <a:noFill/>
          </a:ln>
        </p:spPr>
      </p:pic>
      <p:grpSp>
        <p:nvGrpSpPr>
          <p:cNvPr id="938" name="Google Shape;938;p137"/>
          <p:cNvGrpSpPr/>
          <p:nvPr/>
        </p:nvGrpSpPr>
        <p:grpSpPr>
          <a:xfrm>
            <a:off x="9893031" y="6440969"/>
            <a:ext cx="2147396" cy="417033"/>
            <a:chOff x="7472673" y="4830726"/>
            <a:chExt cx="1610547" cy="312775"/>
          </a:xfrm>
        </p:grpSpPr>
        <p:pic>
          <p:nvPicPr>
            <p:cNvPr id="939" name="Google Shape;939;p137"/>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40" name="Google Shape;940;p137"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grpSp>
        <p:nvGrpSpPr>
          <p:cNvPr id="941" name="Google Shape;941;p137"/>
          <p:cNvGrpSpPr/>
          <p:nvPr/>
        </p:nvGrpSpPr>
        <p:grpSpPr>
          <a:xfrm>
            <a:off x="319989" y="85138"/>
            <a:ext cx="11637400" cy="994663"/>
            <a:chOff x="236700" y="63853"/>
            <a:chExt cx="8728050" cy="745997"/>
          </a:xfrm>
        </p:grpSpPr>
        <p:sp>
          <p:nvSpPr>
            <p:cNvPr id="942" name="Google Shape;942;p137"/>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43" name="Google Shape;943;p13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44" name="Google Shape;944;p13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45" name="Google Shape;945;p13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46" name="Google Shape;946;p13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47" name="Google Shape;947;p13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48" name="Google Shape;948;p13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49" name="Google Shape;949;p137"/>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Two-Part Electricity Pricing Risks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50" name="Google Shape;950;p137"/>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51" name="Google Shape;951;p137"/>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52" name="Google Shape;952;p137"/>
          <p:cNvSpPr/>
          <p:nvPr/>
        </p:nvSpPr>
        <p:spPr>
          <a:xfrm>
            <a:off x="11279200" y="2951933"/>
            <a:ext cx="867600" cy="623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933">
                <a:latin typeface="Montserrat"/>
                <a:ea typeface="Montserrat"/>
                <a:cs typeface="Montserrat"/>
                <a:sym typeface="Montserrat"/>
              </a:rPr>
              <a:t>BESS Activation (Peak Shaving)</a:t>
            </a:r>
            <a:endParaRPr sz="933">
              <a:latin typeface="Montserrat"/>
              <a:ea typeface="Montserrat"/>
              <a:cs typeface="Montserrat"/>
              <a:sym typeface="Montserrat"/>
            </a:endParaRPr>
          </a:p>
        </p:txBody>
      </p:sp>
      <p:sp>
        <p:nvSpPr>
          <p:cNvPr id="953" name="Google Shape;953;p137"/>
          <p:cNvSpPr/>
          <p:nvPr/>
        </p:nvSpPr>
        <p:spPr>
          <a:xfrm>
            <a:off x="11289445" y="3731895"/>
            <a:ext cx="867600" cy="623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algn="ctr"/>
            <a:r>
              <a:rPr lang="en" sz="933">
                <a:latin typeface="Montserrat"/>
                <a:ea typeface="Montserrat"/>
                <a:cs typeface="Montserrat"/>
                <a:sym typeface="Montserrat"/>
              </a:rPr>
              <a:t>Target Capacity Threshold</a:t>
            </a:r>
            <a:endParaRPr sz="933">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p138"/>
          <p:cNvSpPr/>
          <p:nvPr/>
        </p:nvSpPr>
        <p:spPr>
          <a:xfrm>
            <a:off x="611001" y="1419400"/>
            <a:ext cx="6779200" cy="589600"/>
          </a:xfrm>
          <a:prstGeom prst="rect">
            <a:avLst/>
          </a:prstGeom>
          <a:noFill/>
          <a:ln>
            <a:noFill/>
          </a:ln>
        </p:spPr>
        <p:txBody>
          <a:bodyPr spcFirstLastPara="1" wrap="square" lIns="0" tIns="0" rIns="0" bIns="0" anchor="ctr" anchorCtr="0">
            <a:noAutofit/>
          </a:bodyPr>
          <a:lstStyle/>
          <a:p>
            <a:pPr>
              <a:buClr>
                <a:srgbClr val="2563EB"/>
              </a:buClr>
              <a:buSzPts val="1853"/>
            </a:pPr>
            <a:r>
              <a:rPr lang="en" sz="2400" b="1">
                <a:solidFill>
                  <a:srgbClr val="1B786E"/>
                </a:solidFill>
                <a:latin typeface="Montserrat"/>
                <a:ea typeface="Montserrat"/>
                <a:cs typeface="Montserrat"/>
                <a:sym typeface="Montserrat"/>
              </a:rPr>
              <a:t>Beyond “Volumetric Matching”</a:t>
            </a:r>
            <a:endParaRPr sz="2400">
              <a:solidFill>
                <a:srgbClr val="1B786E"/>
              </a:solidFill>
              <a:latin typeface="Montserrat"/>
              <a:ea typeface="Montserrat"/>
              <a:cs typeface="Montserrat"/>
              <a:sym typeface="Montserrat"/>
            </a:endParaRPr>
          </a:p>
        </p:txBody>
      </p:sp>
      <p:sp>
        <p:nvSpPr>
          <p:cNvPr id="959" name="Google Shape;959;p138"/>
          <p:cNvSpPr/>
          <p:nvPr/>
        </p:nvSpPr>
        <p:spPr>
          <a:xfrm>
            <a:off x="611000" y="1965200"/>
            <a:ext cx="6257200" cy="4022800"/>
          </a:xfrm>
          <a:prstGeom prst="rect">
            <a:avLst/>
          </a:prstGeom>
          <a:noFill/>
          <a:ln>
            <a:noFill/>
          </a:ln>
        </p:spPr>
        <p:txBody>
          <a:bodyPr spcFirstLastPara="1" wrap="square" lIns="0" tIns="0" rIns="0" bIns="0" anchor="t" anchorCtr="0">
            <a:noAutofit/>
          </a:bodyPr>
          <a:lstStyle/>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Most RE100 members (e.g., LEGO, H&amp;M) now prioritize additional, project-based procurement</a:t>
            </a:r>
            <a:endParaRPr sz="1600">
              <a:solidFill>
                <a:schemeClr val="dk1"/>
              </a:solidFill>
              <a:latin typeface="Montserrat"/>
              <a:ea typeface="Montserrat"/>
              <a:cs typeface="Montserrat"/>
              <a:sym typeface="Montserrat"/>
            </a:endParaRPr>
          </a:p>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Shift from unbundled, paper-only REC to PPAs/DPPAs.</a:t>
            </a:r>
            <a:endParaRPr sz="1600">
              <a:solidFill>
                <a:schemeClr val="dk1"/>
              </a:solidFill>
              <a:latin typeface="Montserrat"/>
              <a:ea typeface="Montserrat"/>
              <a:cs typeface="Montserrat"/>
              <a:sym typeface="Montserrat"/>
            </a:endParaRPr>
          </a:p>
          <a:p>
            <a:pPr marL="609585" indent="-406390">
              <a:lnSpc>
                <a:spcPct val="130000"/>
              </a:lnSpc>
              <a:buClr>
                <a:schemeClr val="dk1"/>
              </a:buClr>
              <a:buSzPts val="1200"/>
              <a:buFont typeface="Montserrat"/>
              <a:buChar char="●"/>
            </a:pPr>
            <a:r>
              <a:rPr lang="en" sz="1600">
                <a:solidFill>
                  <a:schemeClr val="dk1"/>
                </a:solidFill>
                <a:latin typeface="Montserrat"/>
                <a:ea typeface="Montserrat"/>
                <a:cs typeface="Montserrat"/>
                <a:sym typeface="Montserrat"/>
              </a:rPr>
              <a:t>Direct connection to new renewable energy project</a:t>
            </a:r>
            <a:endParaRPr sz="1600">
              <a:solidFill>
                <a:schemeClr val="dk1"/>
              </a:solidFill>
              <a:latin typeface="Montserrat"/>
              <a:ea typeface="Montserrat"/>
              <a:cs typeface="Montserrat"/>
              <a:sym typeface="Montserrat"/>
            </a:endParaRPr>
          </a:p>
          <a:p>
            <a:pPr>
              <a:lnSpc>
                <a:spcPct val="130000"/>
              </a:lnSpc>
              <a:spcBef>
                <a:spcPts val="1719"/>
              </a:spcBef>
              <a:buClr>
                <a:srgbClr val="334155"/>
              </a:buClr>
              <a:buSzPts val="1451"/>
            </a:pPr>
            <a:r>
              <a:rPr lang="en" sz="1600" b="1">
                <a:solidFill>
                  <a:srgbClr val="334155"/>
                </a:solidFill>
                <a:latin typeface="Montserrat"/>
                <a:ea typeface="Montserrat"/>
                <a:cs typeface="Montserrat"/>
                <a:sym typeface="Montserrat"/>
              </a:rPr>
              <a:t>  </a:t>
            </a:r>
            <a:endParaRPr sz="1600" b="1">
              <a:solidFill>
                <a:srgbClr val="334155"/>
              </a:solidFill>
              <a:latin typeface="Montserrat"/>
              <a:ea typeface="Montserrat"/>
              <a:cs typeface="Montserrat"/>
              <a:sym typeface="Montserrat"/>
            </a:endParaRPr>
          </a:p>
          <a:p>
            <a:pPr marL="609585" indent="-406390">
              <a:lnSpc>
                <a:spcPct val="130000"/>
              </a:lnSpc>
              <a:spcBef>
                <a:spcPts val="1719"/>
              </a:spcBef>
              <a:buClr>
                <a:schemeClr val="dk1"/>
              </a:buClr>
              <a:buSzPts val="1200"/>
              <a:buFont typeface="Montserrat"/>
              <a:buChar char="●"/>
            </a:pPr>
            <a:r>
              <a:rPr lang="en" sz="1600">
                <a:solidFill>
                  <a:schemeClr val="dk1"/>
                </a:solidFill>
                <a:latin typeface="Montserrat"/>
                <a:ea typeface="Montserrat"/>
                <a:cs typeface="Montserrat"/>
                <a:sym typeface="Montserrat"/>
              </a:rPr>
              <a:t>BESS is a key</a:t>
            </a:r>
            <a:r>
              <a:rPr lang="en" sz="1600" b="1">
                <a:solidFill>
                  <a:schemeClr val="dk1"/>
                </a:solidFill>
                <a:latin typeface="Montserrat"/>
                <a:ea typeface="Montserrat"/>
                <a:cs typeface="Montserrat"/>
                <a:sym typeface="Montserrat"/>
              </a:rPr>
              <a:t> technological bridge </a:t>
            </a:r>
            <a:r>
              <a:rPr lang="en" sz="1600">
                <a:solidFill>
                  <a:schemeClr val="dk1"/>
                </a:solidFill>
                <a:latin typeface="Montserrat"/>
                <a:ea typeface="Montserrat"/>
                <a:cs typeface="Montserrat"/>
                <a:sym typeface="Montserrat"/>
              </a:rPr>
              <a:t>to solve the nighttime emissions gap by storing daytime solar energy to power evening production shifts</a:t>
            </a:r>
            <a:endParaRPr sz="1600">
              <a:solidFill>
                <a:schemeClr val="dk1"/>
              </a:solidFill>
              <a:latin typeface="Montserrat"/>
              <a:ea typeface="Montserrat"/>
              <a:cs typeface="Montserrat"/>
              <a:sym typeface="Montserrat"/>
            </a:endParaRPr>
          </a:p>
        </p:txBody>
      </p:sp>
      <p:pic>
        <p:nvPicPr>
          <p:cNvPr id="960" name="Google Shape;960;p138"/>
          <p:cNvPicPr preferRelativeResize="0"/>
          <p:nvPr/>
        </p:nvPicPr>
        <p:blipFill>
          <a:blip r:embed="rId3">
            <a:alphaModFix/>
          </a:blip>
          <a:stretch>
            <a:fillRect/>
          </a:stretch>
        </p:blipFill>
        <p:spPr>
          <a:xfrm>
            <a:off x="7390201" y="1441850"/>
            <a:ext cx="4245767" cy="4245767"/>
          </a:xfrm>
          <a:prstGeom prst="rect">
            <a:avLst/>
          </a:prstGeom>
          <a:noFill/>
          <a:ln>
            <a:noFill/>
          </a:ln>
        </p:spPr>
      </p:pic>
      <p:grpSp>
        <p:nvGrpSpPr>
          <p:cNvPr id="961" name="Google Shape;961;p138"/>
          <p:cNvGrpSpPr/>
          <p:nvPr/>
        </p:nvGrpSpPr>
        <p:grpSpPr>
          <a:xfrm>
            <a:off x="9893031" y="6440969"/>
            <a:ext cx="2147396" cy="417033"/>
            <a:chOff x="7472673" y="4830726"/>
            <a:chExt cx="1610547" cy="312775"/>
          </a:xfrm>
        </p:grpSpPr>
        <p:pic>
          <p:nvPicPr>
            <p:cNvPr id="962" name="Google Shape;962;p138"/>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963" name="Google Shape;963;p138" title="CEBA new logo.png"/>
            <p:cNvPicPr preferRelativeResize="0"/>
            <p:nvPr/>
          </p:nvPicPr>
          <p:blipFill>
            <a:blip r:embed="rId5">
              <a:alphaModFix/>
            </a:blip>
            <a:stretch>
              <a:fillRect/>
            </a:stretch>
          </p:blipFill>
          <p:spPr>
            <a:xfrm>
              <a:off x="8374923" y="4890787"/>
              <a:ext cx="708296" cy="211825"/>
            </a:xfrm>
            <a:prstGeom prst="rect">
              <a:avLst/>
            </a:prstGeom>
            <a:noFill/>
            <a:ln>
              <a:noFill/>
            </a:ln>
          </p:spPr>
        </p:pic>
      </p:grpSp>
      <p:sp>
        <p:nvSpPr>
          <p:cNvPr id="964" name="Google Shape;964;p138"/>
          <p:cNvSpPr/>
          <p:nvPr/>
        </p:nvSpPr>
        <p:spPr>
          <a:xfrm>
            <a:off x="179000" y="3444339"/>
            <a:ext cx="432000" cy="240800"/>
          </a:xfrm>
          <a:prstGeom prst="rightArrow">
            <a:avLst>
              <a:gd name="adj1" fmla="val 50000"/>
              <a:gd name="adj2" fmla="val 50000"/>
            </a:avLst>
          </a:prstGeom>
          <a:solidFill>
            <a:srgbClr val="1B786F"/>
          </a:solidFill>
          <a:ln>
            <a:noFill/>
          </a:ln>
        </p:spPr>
        <p:txBody>
          <a:bodyPr spcFirstLastPara="1" wrap="square" lIns="121900" tIns="121900" rIns="121900" bIns="121900" anchor="ctr" anchorCtr="0">
            <a:noAutofit/>
          </a:bodyPr>
          <a:lstStyle/>
          <a:p>
            <a:pPr algn="ctr"/>
            <a:endParaRPr sz="2400"/>
          </a:p>
        </p:txBody>
      </p:sp>
      <p:grpSp>
        <p:nvGrpSpPr>
          <p:cNvPr id="965" name="Google Shape;965;p138"/>
          <p:cNvGrpSpPr/>
          <p:nvPr/>
        </p:nvGrpSpPr>
        <p:grpSpPr>
          <a:xfrm>
            <a:off x="319989" y="85138"/>
            <a:ext cx="11637400" cy="994663"/>
            <a:chOff x="236700" y="63853"/>
            <a:chExt cx="8728050" cy="745997"/>
          </a:xfrm>
        </p:grpSpPr>
        <p:sp>
          <p:nvSpPr>
            <p:cNvPr id="966" name="Google Shape;966;p138"/>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67" name="Google Shape;967;p13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68" name="Google Shape;968;p13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69" name="Google Shape;969;p13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970" name="Google Shape;970;p13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971" name="Google Shape;971;p13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972" name="Google Shape;972;p13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973" name="Google Shape;973;p138"/>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CFE Energy Standards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974" name="Google Shape;974;p138"/>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975" name="Google Shape;975;p138"/>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976" name="Google Shape;976;p138"/>
          <p:cNvSpPr/>
          <p:nvPr/>
        </p:nvSpPr>
        <p:spPr>
          <a:xfrm>
            <a:off x="768496" y="3419139"/>
            <a:ext cx="3858400" cy="291200"/>
          </a:xfrm>
          <a:prstGeom prst="rect">
            <a:avLst/>
          </a:prstGeom>
          <a:noFill/>
          <a:ln>
            <a:noFill/>
          </a:ln>
        </p:spPr>
        <p:txBody>
          <a:bodyPr spcFirstLastPara="1" wrap="square" lIns="0" tIns="0" rIns="0" bIns="0" anchor="t" anchorCtr="0">
            <a:noAutofit/>
          </a:bodyPr>
          <a:lstStyle/>
          <a:p>
            <a:pPr>
              <a:lnSpc>
                <a:spcPct val="104000"/>
              </a:lnSpc>
              <a:buClr>
                <a:srgbClr val="030303"/>
              </a:buClr>
              <a:buSzPts val="1355"/>
            </a:pPr>
            <a:r>
              <a:rPr lang="en" sz="1807">
                <a:solidFill>
                  <a:schemeClr val="lt1"/>
                </a:solidFill>
                <a:highlight>
                  <a:srgbClr val="1B786E"/>
                </a:highlight>
                <a:latin typeface="Montserrat SemiBold"/>
                <a:ea typeface="Montserrat SemiBold"/>
                <a:cs typeface="Montserrat SemiBold"/>
                <a:sym typeface="Montserrat SemiBold"/>
              </a:rPr>
              <a:t>BESS SOLVING THE GAP</a:t>
            </a:r>
            <a:endParaRPr sz="1807">
              <a:solidFill>
                <a:schemeClr val="lt1"/>
              </a:solidFill>
              <a:highlight>
                <a:srgbClr val="1B786E"/>
              </a:highlight>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139"/>
          <p:cNvSpPr/>
          <p:nvPr/>
        </p:nvSpPr>
        <p:spPr>
          <a:xfrm>
            <a:off x="861667"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sp>
        <p:nvSpPr>
          <p:cNvPr id="982" name="Google Shape;982;p139"/>
          <p:cNvSpPr/>
          <p:nvPr/>
        </p:nvSpPr>
        <p:spPr>
          <a:xfrm>
            <a:off x="1086180"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Capacity Management</a:t>
            </a:r>
            <a:endParaRPr sz="2400">
              <a:solidFill>
                <a:srgbClr val="000000"/>
              </a:solidFill>
              <a:latin typeface="Montserrat"/>
              <a:ea typeface="Montserrat"/>
              <a:cs typeface="Montserrat"/>
              <a:sym typeface="Montserrat"/>
            </a:endParaRPr>
          </a:p>
        </p:txBody>
      </p:sp>
      <p:sp>
        <p:nvSpPr>
          <p:cNvPr id="983" name="Google Shape;983;p139"/>
          <p:cNvSpPr/>
          <p:nvPr/>
        </p:nvSpPr>
        <p:spPr>
          <a:xfrm>
            <a:off x="1086180"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The largest revenue stream comes from automatic “peak shaving”, completely eliminating expensive capacity charges from the two-part mechanism.</a:t>
            </a:r>
            <a:endParaRPr sz="1600">
              <a:solidFill>
                <a:schemeClr val="dk1"/>
              </a:solidFill>
              <a:latin typeface="Montserrat"/>
              <a:ea typeface="Montserrat"/>
              <a:cs typeface="Montserrat"/>
              <a:sym typeface="Montserrat"/>
            </a:endParaRPr>
          </a:p>
        </p:txBody>
      </p:sp>
      <p:sp>
        <p:nvSpPr>
          <p:cNvPr id="984" name="Google Shape;984;p139"/>
          <p:cNvSpPr/>
          <p:nvPr/>
        </p:nvSpPr>
        <p:spPr>
          <a:xfrm>
            <a:off x="4552700"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pic>
        <p:nvPicPr>
          <p:cNvPr id="985" name="Google Shape;985;p139"/>
          <p:cNvPicPr preferRelativeResize="0"/>
          <p:nvPr/>
        </p:nvPicPr>
        <p:blipFill rotWithShape="1">
          <a:blip r:embed="rId3">
            <a:alphaModFix/>
          </a:blip>
          <a:srcRect t="24085" b="24085"/>
          <a:stretch/>
        </p:blipFill>
        <p:spPr>
          <a:xfrm>
            <a:off x="4777226" y="2000416"/>
            <a:ext cx="2945652" cy="1526704"/>
          </a:xfrm>
          <a:prstGeom prst="rect">
            <a:avLst/>
          </a:prstGeom>
          <a:noFill/>
          <a:ln>
            <a:noFill/>
          </a:ln>
        </p:spPr>
      </p:pic>
      <p:sp>
        <p:nvSpPr>
          <p:cNvPr id="986" name="Google Shape;986;p139"/>
          <p:cNvSpPr/>
          <p:nvPr/>
        </p:nvSpPr>
        <p:spPr>
          <a:xfrm>
            <a:off x="4777225"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Increase Daily RE Consumption</a:t>
            </a:r>
            <a:endParaRPr sz="2400">
              <a:solidFill>
                <a:srgbClr val="000000"/>
              </a:solidFill>
              <a:latin typeface="Montserrat"/>
              <a:ea typeface="Montserrat"/>
              <a:cs typeface="Montserrat"/>
              <a:sym typeface="Montserrat"/>
            </a:endParaRPr>
          </a:p>
        </p:txBody>
      </p:sp>
      <p:sp>
        <p:nvSpPr>
          <p:cNvPr id="987" name="Google Shape;987;p139"/>
          <p:cNvSpPr/>
          <p:nvPr/>
        </p:nvSpPr>
        <p:spPr>
          <a:xfrm>
            <a:off x="4777225"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Maximizes the lifecycle of rooftop solar, raising the renewable energy self-consumption rate from 40% to well over 70%.</a:t>
            </a:r>
            <a:endParaRPr sz="1600">
              <a:solidFill>
                <a:schemeClr val="dk1"/>
              </a:solidFill>
              <a:latin typeface="Montserrat"/>
              <a:ea typeface="Montserrat"/>
              <a:cs typeface="Montserrat"/>
              <a:sym typeface="Montserrat"/>
            </a:endParaRPr>
          </a:p>
        </p:txBody>
      </p:sp>
      <p:sp>
        <p:nvSpPr>
          <p:cNvPr id="988" name="Google Shape;988;p139"/>
          <p:cNvSpPr/>
          <p:nvPr/>
        </p:nvSpPr>
        <p:spPr>
          <a:xfrm>
            <a:off x="8243767" y="1775900"/>
            <a:ext cx="3394400" cy="4449200"/>
          </a:xfrm>
          <a:prstGeom prst="roundRect">
            <a:avLst>
              <a:gd name="adj" fmla="val 2116"/>
            </a:avLst>
          </a:prstGeom>
          <a:solidFill>
            <a:srgbClr val="F8FAFC"/>
          </a:solidFill>
          <a:ln w="9350" cap="flat" cmpd="sng">
            <a:solidFill>
              <a:srgbClr val="E2E8F0"/>
            </a:solidFill>
            <a:prstDash val="solid"/>
            <a:round/>
            <a:headEnd type="none" w="sm" len="sm"/>
            <a:tailEnd type="none" w="sm" len="sm"/>
          </a:ln>
          <a:effectLst>
            <a:outerShdw blurRad="84193" dist="28064" dir="8100000" algn="bl" rotWithShape="0">
              <a:srgbClr val="0F172A">
                <a:alpha val="12160"/>
              </a:srgbClr>
            </a:outerShdw>
          </a:effectLst>
        </p:spPr>
        <p:txBody>
          <a:bodyPr spcFirstLastPara="1" wrap="square" lIns="89767" tIns="89767" rIns="89767" bIns="89767" anchor="ctr" anchorCtr="0">
            <a:noAutofit/>
          </a:bodyPr>
          <a:lstStyle/>
          <a:p>
            <a:endParaRPr sz="2400"/>
          </a:p>
        </p:txBody>
      </p:sp>
      <p:pic>
        <p:nvPicPr>
          <p:cNvPr id="989" name="Google Shape;989;p139"/>
          <p:cNvPicPr preferRelativeResize="0"/>
          <p:nvPr/>
        </p:nvPicPr>
        <p:blipFill rotWithShape="1">
          <a:blip r:embed="rId4">
            <a:alphaModFix/>
          </a:blip>
          <a:srcRect t="24085" b="24085"/>
          <a:stretch/>
        </p:blipFill>
        <p:spPr>
          <a:xfrm>
            <a:off x="8468273" y="2000416"/>
            <a:ext cx="2945652" cy="1526704"/>
          </a:xfrm>
          <a:prstGeom prst="rect">
            <a:avLst/>
          </a:prstGeom>
          <a:noFill/>
          <a:ln>
            <a:noFill/>
          </a:ln>
        </p:spPr>
      </p:pic>
      <p:sp>
        <p:nvSpPr>
          <p:cNvPr id="990" name="Google Shape;990;p139"/>
          <p:cNvSpPr/>
          <p:nvPr/>
        </p:nvSpPr>
        <p:spPr>
          <a:xfrm>
            <a:off x="8468272" y="3643868"/>
            <a:ext cx="2945600" cy="628400"/>
          </a:xfrm>
          <a:prstGeom prst="rect">
            <a:avLst/>
          </a:prstGeom>
          <a:noFill/>
          <a:ln>
            <a:noFill/>
          </a:ln>
        </p:spPr>
        <p:txBody>
          <a:bodyPr spcFirstLastPara="1" wrap="square" lIns="0" tIns="0" rIns="0" bIns="0" anchor="ctr" anchorCtr="0">
            <a:noAutofit/>
          </a:bodyPr>
          <a:lstStyle/>
          <a:p>
            <a:pPr algn="ctr">
              <a:buClr>
                <a:srgbClr val="0F172A"/>
              </a:buClr>
              <a:buSzPts val="1326"/>
            </a:pPr>
            <a:r>
              <a:rPr lang="en" sz="2400" b="1">
                <a:solidFill>
                  <a:srgbClr val="0F172A"/>
                </a:solidFill>
                <a:latin typeface="Montserrat"/>
                <a:ea typeface="Montserrat"/>
                <a:cs typeface="Montserrat"/>
                <a:sym typeface="Montserrat"/>
              </a:rPr>
              <a:t>TOU Price Arbitrage</a:t>
            </a:r>
            <a:endParaRPr sz="2400">
              <a:solidFill>
                <a:srgbClr val="000000"/>
              </a:solidFill>
              <a:latin typeface="Montserrat"/>
              <a:ea typeface="Montserrat"/>
              <a:cs typeface="Montserrat"/>
              <a:sym typeface="Montserrat"/>
            </a:endParaRPr>
          </a:p>
        </p:txBody>
      </p:sp>
      <p:sp>
        <p:nvSpPr>
          <p:cNvPr id="991" name="Google Shape;991;p139"/>
          <p:cNvSpPr/>
          <p:nvPr/>
        </p:nvSpPr>
        <p:spPr>
          <a:xfrm>
            <a:off x="8468272" y="4465644"/>
            <a:ext cx="2945600" cy="1392000"/>
          </a:xfrm>
          <a:prstGeom prst="rect">
            <a:avLst/>
          </a:prstGeom>
          <a:noFill/>
          <a:ln>
            <a:noFill/>
          </a:ln>
        </p:spPr>
        <p:txBody>
          <a:bodyPr spcFirstLastPara="1" wrap="square" lIns="0" tIns="0" rIns="0" bIns="0" anchor="ctr" anchorCtr="0">
            <a:noAutofit/>
          </a:bodyPr>
          <a:lstStyle/>
          <a:p>
            <a:pPr algn="ctr">
              <a:lnSpc>
                <a:spcPct val="120000"/>
              </a:lnSpc>
              <a:buClr>
                <a:srgbClr val="334155"/>
              </a:buClr>
              <a:buSzPts val="1031"/>
            </a:pPr>
            <a:r>
              <a:rPr lang="en" sz="1600">
                <a:solidFill>
                  <a:schemeClr val="dk1"/>
                </a:solidFill>
                <a:latin typeface="Montserrat"/>
                <a:ea typeface="Montserrat"/>
                <a:cs typeface="Montserrat"/>
                <a:sym typeface="Montserrat"/>
              </a:rPr>
              <a:t>Stores power during off-peak windows and discharges during the 5-hour evening peak, fully leveraging electricity price arbitrage.</a:t>
            </a:r>
            <a:endParaRPr sz="1600">
              <a:solidFill>
                <a:schemeClr val="dk1"/>
              </a:solidFill>
              <a:latin typeface="Montserrat"/>
              <a:ea typeface="Montserrat"/>
              <a:cs typeface="Montserrat"/>
              <a:sym typeface="Montserrat"/>
            </a:endParaRPr>
          </a:p>
        </p:txBody>
      </p:sp>
      <p:grpSp>
        <p:nvGrpSpPr>
          <p:cNvPr id="992" name="Google Shape;992;p139"/>
          <p:cNvGrpSpPr/>
          <p:nvPr/>
        </p:nvGrpSpPr>
        <p:grpSpPr>
          <a:xfrm>
            <a:off x="9893031" y="6440969"/>
            <a:ext cx="2147396" cy="417033"/>
            <a:chOff x="7472673" y="4830726"/>
            <a:chExt cx="1610547" cy="312775"/>
          </a:xfrm>
        </p:grpSpPr>
        <p:pic>
          <p:nvPicPr>
            <p:cNvPr id="993" name="Google Shape;993;p139"/>
            <p:cNvPicPr preferRelativeResize="0"/>
            <p:nvPr/>
          </p:nvPicPr>
          <p:blipFill>
            <a:blip r:embed="rId5">
              <a:alphaModFix/>
            </a:blip>
            <a:stretch>
              <a:fillRect/>
            </a:stretch>
          </p:blipFill>
          <p:spPr>
            <a:xfrm>
              <a:off x="7472673" y="4830726"/>
              <a:ext cx="894924" cy="312775"/>
            </a:xfrm>
            <a:prstGeom prst="rect">
              <a:avLst/>
            </a:prstGeom>
            <a:noFill/>
            <a:ln>
              <a:noFill/>
            </a:ln>
          </p:spPr>
        </p:pic>
        <p:pic>
          <p:nvPicPr>
            <p:cNvPr id="994" name="Google Shape;994;p139" title="CEBA new logo.png"/>
            <p:cNvPicPr preferRelativeResize="0"/>
            <p:nvPr/>
          </p:nvPicPr>
          <p:blipFill>
            <a:blip r:embed="rId6">
              <a:alphaModFix/>
            </a:blip>
            <a:stretch>
              <a:fillRect/>
            </a:stretch>
          </p:blipFill>
          <p:spPr>
            <a:xfrm>
              <a:off x="8374923" y="4890787"/>
              <a:ext cx="708296" cy="211825"/>
            </a:xfrm>
            <a:prstGeom prst="rect">
              <a:avLst/>
            </a:prstGeom>
            <a:noFill/>
            <a:ln>
              <a:noFill/>
            </a:ln>
          </p:spPr>
        </p:pic>
      </p:grpSp>
      <p:grpSp>
        <p:nvGrpSpPr>
          <p:cNvPr id="995" name="Google Shape;995;p139"/>
          <p:cNvGrpSpPr/>
          <p:nvPr/>
        </p:nvGrpSpPr>
        <p:grpSpPr>
          <a:xfrm>
            <a:off x="319989" y="85138"/>
            <a:ext cx="11637400" cy="994663"/>
            <a:chOff x="236700" y="63853"/>
            <a:chExt cx="8728050" cy="745997"/>
          </a:xfrm>
        </p:grpSpPr>
        <p:sp>
          <p:nvSpPr>
            <p:cNvPr id="996" name="Google Shape;996;p139"/>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997" name="Google Shape;997;p13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998" name="Google Shape;998;p13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999" name="Google Shape;999;p13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00" name="Google Shape;1000;p13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01" name="Google Shape;1001;p13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02" name="Google Shape;1002;p13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03" name="Google Shape;1003;p139"/>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Value Stacking Equation</a:t>
              </a:r>
              <a:endParaRPr sz="2800">
                <a:solidFill>
                  <a:schemeClr val="lt1"/>
                </a:solidFill>
                <a:latin typeface="Montserrat ExtraBold"/>
                <a:ea typeface="Montserrat ExtraBold"/>
                <a:cs typeface="Montserrat ExtraBold"/>
                <a:sym typeface="Montserrat ExtraBold"/>
              </a:endParaRPr>
            </a:p>
          </p:txBody>
        </p:sp>
        <p:cxnSp>
          <p:nvCxnSpPr>
            <p:cNvPr id="1004" name="Google Shape;1004;p139"/>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05" name="Google Shape;1005;p139"/>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pic>
        <p:nvPicPr>
          <p:cNvPr id="1006" name="Google Shape;1006;p139"/>
          <p:cNvPicPr preferRelativeResize="0"/>
          <p:nvPr/>
        </p:nvPicPr>
        <p:blipFill>
          <a:blip r:embed="rId7">
            <a:alphaModFix/>
          </a:blip>
          <a:stretch>
            <a:fillRect/>
          </a:stretch>
        </p:blipFill>
        <p:spPr>
          <a:xfrm>
            <a:off x="1086163" y="2000400"/>
            <a:ext cx="2897900" cy="157526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40"/>
          <p:cNvSpPr/>
          <p:nvPr/>
        </p:nvSpPr>
        <p:spPr>
          <a:xfrm>
            <a:off x="621687" y="1696560"/>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2" name="Google Shape;1012;p140" descr="/home/claude/assets/shield.png"/>
          <p:cNvPicPr preferRelativeResize="0"/>
          <p:nvPr/>
        </p:nvPicPr>
        <p:blipFill rotWithShape="1">
          <a:blip r:embed="rId3">
            <a:alphaModFix/>
          </a:blip>
          <a:srcRect/>
          <a:stretch/>
        </p:blipFill>
        <p:spPr>
          <a:xfrm>
            <a:off x="786179" y="1888440"/>
            <a:ext cx="367427" cy="392344"/>
          </a:xfrm>
          <a:prstGeom prst="rect">
            <a:avLst/>
          </a:prstGeom>
          <a:noFill/>
          <a:ln>
            <a:noFill/>
          </a:ln>
        </p:spPr>
      </p:pic>
      <p:sp>
        <p:nvSpPr>
          <p:cNvPr id="1013" name="Google Shape;1013;p140"/>
          <p:cNvSpPr/>
          <p:nvPr/>
        </p:nvSpPr>
        <p:spPr>
          <a:xfrm>
            <a:off x="1588599" y="1502600"/>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Electricity License Exemption (Decree 61):  </a:t>
            </a:r>
            <a:r>
              <a:rPr lang="en" sz="1600">
                <a:solidFill>
                  <a:schemeClr val="dk1"/>
                </a:solidFill>
                <a:latin typeface="Montserrat"/>
                <a:ea typeface="Montserrat"/>
                <a:cs typeface="Montserrat"/>
                <a:sym typeface="Montserrat"/>
              </a:rPr>
              <a:t>Proposes complete exemption of generation licenses for BESS under 3 MW,  removing the biggest administrative bottleneck and enabling ultra-fast deployment of Behind-The-Meter (BTM) systems.</a:t>
            </a:r>
            <a:endParaRPr sz="1600">
              <a:solidFill>
                <a:schemeClr val="dk1"/>
              </a:solidFill>
              <a:latin typeface="Montserrat"/>
              <a:ea typeface="Montserrat"/>
              <a:cs typeface="Montserrat"/>
              <a:sym typeface="Montserrat"/>
            </a:endParaRPr>
          </a:p>
        </p:txBody>
      </p:sp>
      <p:sp>
        <p:nvSpPr>
          <p:cNvPr id="1014" name="Google Shape;1014;p140"/>
          <p:cNvSpPr/>
          <p:nvPr/>
        </p:nvSpPr>
        <p:spPr>
          <a:xfrm>
            <a:off x="621687" y="2925209"/>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5" name="Google Shape;1015;p140" descr="/home/claude/assets/trend.png"/>
          <p:cNvPicPr preferRelativeResize="0"/>
          <p:nvPr/>
        </p:nvPicPr>
        <p:blipFill rotWithShape="1">
          <a:blip r:embed="rId4">
            <a:alphaModFix/>
          </a:blip>
          <a:srcRect/>
          <a:stretch/>
        </p:blipFill>
        <p:spPr>
          <a:xfrm>
            <a:off x="786061" y="3100732"/>
            <a:ext cx="367427" cy="392344"/>
          </a:xfrm>
          <a:prstGeom prst="rect">
            <a:avLst/>
          </a:prstGeom>
          <a:noFill/>
          <a:ln>
            <a:noFill/>
          </a:ln>
        </p:spPr>
      </p:pic>
      <p:sp>
        <p:nvSpPr>
          <p:cNvPr id="1016" name="Google Shape;1016;p140"/>
          <p:cNvSpPr/>
          <p:nvPr/>
        </p:nvSpPr>
        <p:spPr>
          <a:xfrm>
            <a:off x="1588599" y="2731257"/>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Loosened Export Caps (Decree 58):  </a:t>
            </a:r>
            <a:r>
              <a:rPr lang="en" sz="1600">
                <a:solidFill>
                  <a:schemeClr val="dk1"/>
                </a:solidFill>
                <a:latin typeface="Montserrat"/>
                <a:ea typeface="Montserrat"/>
                <a:cs typeface="Montserrat"/>
                <a:sym typeface="Montserrat"/>
              </a:rPr>
              <a:t>Raises the ceiling for selling excess rooftop solar up to 50% of actual generation, providing a safety net for oversized systems during holidays and weekends.</a:t>
            </a:r>
            <a:endParaRPr sz="1600">
              <a:solidFill>
                <a:schemeClr val="dk1"/>
              </a:solidFill>
              <a:latin typeface="Montserrat"/>
              <a:ea typeface="Montserrat"/>
              <a:cs typeface="Montserrat"/>
              <a:sym typeface="Montserrat"/>
            </a:endParaRPr>
          </a:p>
        </p:txBody>
      </p:sp>
      <p:sp>
        <p:nvSpPr>
          <p:cNvPr id="1017" name="Google Shape;1017;p140"/>
          <p:cNvSpPr/>
          <p:nvPr/>
        </p:nvSpPr>
        <p:spPr>
          <a:xfrm>
            <a:off x="621687" y="4164816"/>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18" name="Google Shape;1018;p140" descr="/home/claude/assets/scale.png"/>
          <p:cNvPicPr preferRelativeResize="0"/>
          <p:nvPr/>
        </p:nvPicPr>
        <p:blipFill rotWithShape="1">
          <a:blip r:embed="rId5">
            <a:alphaModFix/>
          </a:blip>
          <a:srcRect/>
          <a:stretch/>
        </p:blipFill>
        <p:spPr>
          <a:xfrm>
            <a:off x="786061" y="4340339"/>
            <a:ext cx="367427" cy="392344"/>
          </a:xfrm>
          <a:prstGeom prst="rect">
            <a:avLst/>
          </a:prstGeom>
          <a:noFill/>
          <a:ln>
            <a:noFill/>
          </a:ln>
        </p:spPr>
      </p:pic>
      <p:sp>
        <p:nvSpPr>
          <p:cNvPr id="1019" name="Google Shape;1019;p140"/>
          <p:cNvSpPr/>
          <p:nvPr/>
        </p:nvSpPr>
        <p:spPr>
          <a:xfrm>
            <a:off x="1588599" y="3959916"/>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Peer-to-Peer Trading (DPPA):  </a:t>
            </a:r>
            <a:r>
              <a:rPr lang="en" sz="1600">
                <a:solidFill>
                  <a:schemeClr val="dk1"/>
                </a:solidFill>
                <a:latin typeface="Montserrat"/>
                <a:ea typeface="Montserrat"/>
                <a:cs typeface="Montserrat"/>
                <a:sym typeface="Montserrat"/>
              </a:rPr>
              <a:t>Paves the way for industrial parks to establish micro-grids, letting enterprises sell excess solar energy to partners within the same network.</a:t>
            </a:r>
            <a:endParaRPr sz="1600">
              <a:solidFill>
                <a:schemeClr val="dk1"/>
              </a:solidFill>
              <a:latin typeface="Montserrat"/>
              <a:ea typeface="Montserrat"/>
              <a:cs typeface="Montserrat"/>
              <a:sym typeface="Montserrat"/>
            </a:endParaRPr>
          </a:p>
        </p:txBody>
      </p:sp>
      <p:sp>
        <p:nvSpPr>
          <p:cNvPr id="1020" name="Google Shape;1020;p140"/>
          <p:cNvSpPr/>
          <p:nvPr/>
        </p:nvSpPr>
        <p:spPr>
          <a:xfrm>
            <a:off x="621687" y="5360628"/>
            <a:ext cx="696400" cy="744000"/>
          </a:xfrm>
          <a:prstGeom prst="ellipse">
            <a:avLst/>
          </a:prstGeom>
          <a:solidFill>
            <a:schemeClr val="lt1"/>
          </a:solidFill>
          <a:ln w="28575" cap="flat" cmpd="sng">
            <a:solidFill>
              <a:srgbClr val="1B786F"/>
            </a:solidFill>
            <a:prstDash val="solid"/>
            <a:round/>
            <a:headEnd type="none" w="sm" len="sm"/>
            <a:tailEnd type="none" w="sm" len="sm"/>
          </a:ln>
        </p:spPr>
        <p:txBody>
          <a:bodyPr spcFirstLastPara="1" wrap="square" lIns="96700" tIns="96700" rIns="96700" bIns="96700" anchor="ctr" anchorCtr="0">
            <a:noAutofit/>
          </a:bodyPr>
          <a:lstStyle/>
          <a:p>
            <a:endParaRPr sz="2400"/>
          </a:p>
        </p:txBody>
      </p:sp>
      <p:pic>
        <p:nvPicPr>
          <p:cNvPr id="1021" name="Google Shape;1021;p140" descr="/home/claude/assets/check.png"/>
          <p:cNvPicPr preferRelativeResize="0"/>
          <p:nvPr/>
        </p:nvPicPr>
        <p:blipFill rotWithShape="1">
          <a:blip r:embed="rId6">
            <a:alphaModFix/>
          </a:blip>
          <a:srcRect/>
          <a:stretch/>
        </p:blipFill>
        <p:spPr>
          <a:xfrm>
            <a:off x="786061" y="5536151"/>
            <a:ext cx="367427" cy="392344"/>
          </a:xfrm>
          <a:prstGeom prst="rect">
            <a:avLst/>
          </a:prstGeom>
          <a:noFill/>
          <a:ln>
            <a:noFill/>
          </a:ln>
        </p:spPr>
      </p:pic>
      <p:sp>
        <p:nvSpPr>
          <p:cNvPr id="1022" name="Google Shape;1022;p140"/>
          <p:cNvSpPr/>
          <p:nvPr/>
        </p:nvSpPr>
        <p:spPr>
          <a:xfrm>
            <a:off x="1588599" y="5188573"/>
            <a:ext cx="10056000" cy="1156800"/>
          </a:xfrm>
          <a:prstGeom prst="rect">
            <a:avLst/>
          </a:prstGeom>
          <a:noFill/>
          <a:ln>
            <a:noFill/>
          </a:ln>
        </p:spPr>
        <p:txBody>
          <a:bodyPr spcFirstLastPara="1" wrap="square" lIns="0" tIns="0" rIns="0" bIns="0" anchor="ctr" anchorCtr="0">
            <a:noAutofit/>
          </a:bodyPr>
          <a:lstStyle/>
          <a:p>
            <a:pPr algn="just">
              <a:lnSpc>
                <a:spcPct val="116000"/>
              </a:lnSpc>
              <a:buClr>
                <a:srgbClr val="0F172A"/>
              </a:buClr>
              <a:buSzPts val="1229"/>
            </a:pPr>
            <a:r>
              <a:rPr lang="en" sz="1600" b="1">
                <a:solidFill>
                  <a:schemeClr val="dk1"/>
                </a:solidFill>
                <a:latin typeface="Montserrat"/>
                <a:ea typeface="Montserrat"/>
                <a:cs typeface="Montserrat"/>
                <a:sym typeface="Montserrat"/>
              </a:rPr>
              <a:t>Specialized National Standards (TCVN):  </a:t>
            </a:r>
            <a:r>
              <a:rPr lang="en" sz="1600">
                <a:solidFill>
                  <a:schemeClr val="dk1"/>
                </a:solidFill>
                <a:latin typeface="Montserrat"/>
                <a:ea typeface="Montserrat"/>
                <a:cs typeface="Montserrat"/>
                <a:sym typeface="Montserrat"/>
              </a:rPr>
              <a:t>Over 15 new National Standards issued in sync with IEC 62619, resolving barriers related to fire safety and bank credit requirements.</a:t>
            </a:r>
            <a:endParaRPr sz="1600">
              <a:solidFill>
                <a:schemeClr val="dk1"/>
              </a:solidFill>
              <a:latin typeface="Montserrat"/>
              <a:ea typeface="Montserrat"/>
              <a:cs typeface="Montserrat"/>
              <a:sym typeface="Montserrat"/>
            </a:endParaRPr>
          </a:p>
        </p:txBody>
      </p:sp>
      <p:grpSp>
        <p:nvGrpSpPr>
          <p:cNvPr id="1023" name="Google Shape;1023;p140"/>
          <p:cNvGrpSpPr/>
          <p:nvPr/>
        </p:nvGrpSpPr>
        <p:grpSpPr>
          <a:xfrm>
            <a:off x="9893031" y="6440969"/>
            <a:ext cx="2147396" cy="417033"/>
            <a:chOff x="7472673" y="4830726"/>
            <a:chExt cx="1610547" cy="312775"/>
          </a:xfrm>
        </p:grpSpPr>
        <p:pic>
          <p:nvPicPr>
            <p:cNvPr id="1024" name="Google Shape;1024;p140"/>
            <p:cNvPicPr preferRelativeResize="0"/>
            <p:nvPr/>
          </p:nvPicPr>
          <p:blipFill>
            <a:blip r:embed="rId7">
              <a:alphaModFix/>
            </a:blip>
            <a:stretch>
              <a:fillRect/>
            </a:stretch>
          </p:blipFill>
          <p:spPr>
            <a:xfrm>
              <a:off x="7472673" y="4830726"/>
              <a:ext cx="894924" cy="312775"/>
            </a:xfrm>
            <a:prstGeom prst="rect">
              <a:avLst/>
            </a:prstGeom>
            <a:noFill/>
            <a:ln>
              <a:noFill/>
            </a:ln>
          </p:spPr>
        </p:pic>
        <p:pic>
          <p:nvPicPr>
            <p:cNvPr id="1025" name="Google Shape;1025;p140" title="CEBA new logo.png"/>
            <p:cNvPicPr preferRelativeResize="0"/>
            <p:nvPr/>
          </p:nvPicPr>
          <p:blipFill>
            <a:blip r:embed="rId8">
              <a:alphaModFix/>
            </a:blip>
            <a:stretch>
              <a:fillRect/>
            </a:stretch>
          </p:blipFill>
          <p:spPr>
            <a:xfrm>
              <a:off x="8374923" y="4890787"/>
              <a:ext cx="708296" cy="211825"/>
            </a:xfrm>
            <a:prstGeom prst="rect">
              <a:avLst/>
            </a:prstGeom>
            <a:noFill/>
            <a:ln>
              <a:noFill/>
            </a:ln>
          </p:spPr>
        </p:pic>
      </p:grpSp>
      <p:grpSp>
        <p:nvGrpSpPr>
          <p:cNvPr id="1026" name="Google Shape;1026;p140"/>
          <p:cNvGrpSpPr/>
          <p:nvPr/>
        </p:nvGrpSpPr>
        <p:grpSpPr>
          <a:xfrm>
            <a:off x="319989" y="85138"/>
            <a:ext cx="11637400" cy="994663"/>
            <a:chOff x="236700" y="63853"/>
            <a:chExt cx="8728050" cy="745997"/>
          </a:xfrm>
        </p:grpSpPr>
        <p:sp>
          <p:nvSpPr>
            <p:cNvPr id="1027" name="Google Shape;1027;p140"/>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28" name="Google Shape;1028;p14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29" name="Google Shape;1029;p14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30" name="Google Shape;1030;p14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31" name="Google Shape;1031;p14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32" name="Google Shape;1032;p14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33" name="Google Shape;1033;p14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34" name="Google Shape;1034;p140"/>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Supportive Regulatory Framework (2025–2026)</a:t>
              </a:r>
              <a:endParaRPr sz="2800">
                <a:solidFill>
                  <a:schemeClr val="lt1"/>
                </a:solidFill>
                <a:latin typeface="Montserrat ExtraBold"/>
                <a:ea typeface="Montserrat ExtraBold"/>
                <a:cs typeface="Montserrat ExtraBold"/>
                <a:sym typeface="Montserrat ExtraBold"/>
              </a:endParaRPr>
            </a:p>
          </p:txBody>
        </p:sp>
        <p:cxnSp>
          <p:nvCxnSpPr>
            <p:cNvPr id="1035" name="Google Shape;1035;p140"/>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36" name="Google Shape;1036;p140"/>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0"/>
        <p:cNvGrpSpPr/>
        <p:nvPr/>
      </p:nvGrpSpPr>
      <p:grpSpPr>
        <a:xfrm>
          <a:off x="0" y="0"/>
          <a:ext cx="0" cy="0"/>
          <a:chOff x="0" y="0"/>
          <a:chExt cx="0" cy="0"/>
        </a:xfrm>
      </p:grpSpPr>
      <p:sp>
        <p:nvSpPr>
          <p:cNvPr id="1041" name="Google Shape;1041;p141"/>
          <p:cNvSpPr/>
          <p:nvPr/>
        </p:nvSpPr>
        <p:spPr>
          <a:xfrm>
            <a:off x="611000" y="1419400"/>
            <a:ext cx="11066000" cy="4509200"/>
          </a:xfrm>
          <a:prstGeom prst="rect">
            <a:avLst/>
          </a:prstGeom>
          <a:solidFill>
            <a:srgbClr val="000000">
              <a:alpha val="0"/>
            </a:srgbClr>
          </a:solidFill>
          <a:ln>
            <a:noFill/>
          </a:ln>
        </p:spPr>
        <p:txBody>
          <a:bodyPr spcFirstLastPara="1" wrap="square" lIns="0" tIns="0" rIns="0" bIns="0" anchor="t" anchorCtr="0">
            <a:noAutofit/>
          </a:bodyPr>
          <a:lstStyle/>
          <a:p>
            <a:pPr algn="just"/>
            <a:r>
              <a:rPr lang="en" sz="1600" b="1">
                <a:solidFill>
                  <a:schemeClr val="dk1"/>
                </a:solidFill>
                <a:latin typeface="Montserrat"/>
                <a:ea typeface="Montserrat"/>
                <a:cs typeface="Montserrat"/>
                <a:sym typeface="Montserrat"/>
              </a:rPr>
              <a:t>Profile Risk: </a:t>
            </a:r>
            <a:r>
              <a:rPr lang="en" sz="1600">
                <a:solidFill>
                  <a:schemeClr val="dk1"/>
                </a:solidFill>
                <a:latin typeface="Montserrat"/>
                <a:ea typeface="Montserrat"/>
                <a:cs typeface="Montserrat"/>
                <a:sym typeface="Montserrat"/>
              </a:rPr>
              <a:t>If company </a:t>
            </a:r>
            <a:r>
              <a:rPr lang="en" sz="1600" b="1">
                <a:solidFill>
                  <a:schemeClr val="dk1"/>
                </a:solidFill>
                <a:latin typeface="Montserrat"/>
                <a:ea typeface="Montserrat"/>
                <a:cs typeface="Montserrat"/>
                <a:sym typeface="Montserrat"/>
              </a:rPr>
              <a:t>consumes a lot of power during the evening</a:t>
            </a:r>
            <a:r>
              <a:rPr lang="en" sz="1600">
                <a:solidFill>
                  <a:schemeClr val="dk1"/>
                </a:solidFill>
                <a:latin typeface="Montserrat"/>
                <a:ea typeface="Montserrat"/>
                <a:cs typeface="Montserrat"/>
                <a:sym typeface="Montserrat"/>
              </a:rPr>
              <a:t> (paying high retail rates because there is no solar) but </a:t>
            </a:r>
            <a:r>
              <a:rPr lang="en" sz="1600" b="1">
                <a:solidFill>
                  <a:schemeClr val="dk1"/>
                </a:solidFill>
                <a:latin typeface="Montserrat"/>
                <a:ea typeface="Montserrat"/>
                <a:cs typeface="Montserrat"/>
                <a:sym typeface="Montserrat"/>
              </a:rPr>
              <a:t>doesn't use enough at noon</a:t>
            </a:r>
            <a:r>
              <a:rPr lang="en" sz="1600">
                <a:solidFill>
                  <a:schemeClr val="dk1"/>
                </a:solidFill>
                <a:latin typeface="Montserrat"/>
                <a:ea typeface="Montserrat"/>
                <a:cs typeface="Montserrat"/>
                <a:sym typeface="Montserrat"/>
              </a:rPr>
              <a:t> (when solar power peaks and market prices crash), the factory will suffer a </a:t>
            </a:r>
            <a:r>
              <a:rPr lang="en" sz="1600" b="1">
                <a:solidFill>
                  <a:schemeClr val="dk1"/>
                </a:solidFill>
                <a:latin typeface="Montserrat"/>
                <a:ea typeface="Montserrat"/>
                <a:cs typeface="Montserrat"/>
                <a:sym typeface="Montserrat"/>
              </a:rPr>
              <a:t>"double loss" </a:t>
            </a:r>
            <a:r>
              <a:rPr lang="en" sz="1600">
                <a:solidFill>
                  <a:schemeClr val="dk1"/>
                </a:solidFill>
                <a:latin typeface="Montserrat"/>
                <a:ea typeface="Montserrat"/>
                <a:cs typeface="Montserrat"/>
                <a:sym typeface="Montserrat"/>
              </a:rPr>
              <a:t>→ Pay expensive </a:t>
            </a:r>
            <a:r>
              <a:rPr lang="en" sz="1600" b="1">
                <a:solidFill>
                  <a:schemeClr val="dk1"/>
                </a:solidFill>
                <a:latin typeface="Montserrat"/>
                <a:ea typeface="Montserrat"/>
                <a:cs typeface="Montserrat"/>
                <a:sym typeface="Montserrat"/>
              </a:rPr>
              <a:t>retail prices to EVN</a:t>
            </a:r>
            <a:r>
              <a:rPr lang="en" sz="1600">
                <a:solidFill>
                  <a:schemeClr val="dk1"/>
                </a:solidFill>
                <a:latin typeface="Montserrat"/>
                <a:ea typeface="Montserrat"/>
                <a:cs typeface="Montserrat"/>
                <a:sym typeface="Montserrat"/>
              </a:rPr>
              <a:t> and pay </a:t>
            </a:r>
            <a:r>
              <a:rPr lang="en" sz="1600" b="1">
                <a:solidFill>
                  <a:schemeClr val="dk1"/>
                </a:solidFill>
                <a:latin typeface="Montserrat"/>
                <a:ea typeface="Montserrat"/>
                <a:cs typeface="Montserrat"/>
                <a:sym typeface="Montserrat"/>
              </a:rPr>
              <a:t>out-of-pocket to cover the CfD losses </a:t>
            </a:r>
            <a:r>
              <a:rPr lang="en" sz="1600">
                <a:solidFill>
                  <a:schemeClr val="dk1"/>
                </a:solidFill>
                <a:latin typeface="Montserrat"/>
                <a:ea typeface="Montserrat"/>
                <a:cs typeface="Montserrat"/>
                <a:sym typeface="Montserrat"/>
              </a:rPr>
              <a:t>to the generator.</a:t>
            </a:r>
            <a:endParaRPr sz="1600" b="1">
              <a:solidFill>
                <a:schemeClr val="dk1"/>
              </a:solidFill>
              <a:latin typeface="Montserrat"/>
              <a:ea typeface="Montserrat"/>
              <a:cs typeface="Montserrat"/>
              <a:sym typeface="Montserrat"/>
            </a:endParaRPr>
          </a:p>
          <a:p>
            <a:pPr algn="just">
              <a:spcBef>
                <a:spcPts val="1200"/>
              </a:spcBef>
            </a:pPr>
            <a:r>
              <a:rPr lang="en" sz="1600" b="1">
                <a:solidFill>
                  <a:schemeClr val="dk1"/>
                </a:solidFill>
                <a:latin typeface="Montserrat"/>
                <a:ea typeface="Montserrat"/>
                <a:cs typeface="Montserrat"/>
                <a:sym typeface="Montserrat"/>
              </a:rPr>
              <a:t>Curtailment Risk: </a:t>
            </a:r>
            <a:r>
              <a:rPr lang="en" sz="1600">
                <a:solidFill>
                  <a:schemeClr val="dk1"/>
                </a:solidFill>
                <a:latin typeface="Montserrat"/>
                <a:ea typeface="Montserrat"/>
                <a:cs typeface="Montserrat"/>
                <a:sym typeface="Montserrat"/>
              </a:rPr>
              <a:t>When the grid is congested, generation is curtailed by the NSMO. This mismatch forces the buyer to purchase 100% of their load at standard retail prices from EVN, causing a shortage of bundled Renewable Energy Certificates (RECs).</a:t>
            </a:r>
            <a:endParaRPr sz="1600" b="1">
              <a:solidFill>
                <a:schemeClr val="dk1"/>
              </a:solidFill>
              <a:latin typeface="Montserrat"/>
              <a:ea typeface="Montserrat"/>
              <a:cs typeface="Montserrat"/>
              <a:sym typeface="Montserrat"/>
            </a:endParaRPr>
          </a:p>
          <a:p>
            <a:pPr algn="just">
              <a:spcBef>
                <a:spcPts val="1200"/>
              </a:spcBef>
            </a:pPr>
            <a:r>
              <a:rPr lang="en" sz="1600" b="1">
                <a:solidFill>
                  <a:schemeClr val="dk1"/>
                </a:solidFill>
                <a:latin typeface="Montserrat"/>
                <a:ea typeface="Montserrat"/>
                <a:cs typeface="Montserrat"/>
                <a:sym typeface="Montserrat"/>
              </a:rPr>
              <a:t>BESS - The Firming Solution:</a:t>
            </a:r>
            <a:endParaRPr sz="1600" b="1">
              <a:solidFill>
                <a:schemeClr val="dk1"/>
              </a:solidFill>
              <a:latin typeface="Montserrat"/>
              <a:ea typeface="Montserrat"/>
              <a:cs typeface="Montserrat"/>
              <a:sym typeface="Montserrat"/>
            </a:endParaRPr>
          </a:p>
          <a:p>
            <a:pPr marL="609585" indent="-406390" algn="just">
              <a:spcBef>
                <a:spcPts val="1200"/>
              </a:spcBef>
              <a:buClr>
                <a:schemeClr val="dk1"/>
              </a:buClr>
              <a:buSzPts val="1200"/>
              <a:buFont typeface="Calibri"/>
              <a:buChar char="●"/>
            </a:pPr>
            <a:r>
              <a:rPr lang="en" sz="1600" b="1">
                <a:solidFill>
                  <a:schemeClr val="dk1"/>
                </a:solidFill>
                <a:latin typeface="Montserrat"/>
                <a:ea typeface="Montserrat"/>
                <a:cs typeface="Montserrat"/>
                <a:sym typeface="Montserrat"/>
              </a:rPr>
              <a:t>Increased Matching Rate:</a:t>
            </a:r>
            <a:r>
              <a:rPr lang="en" sz="1600">
                <a:solidFill>
                  <a:schemeClr val="dk1"/>
                </a:solidFill>
                <a:latin typeface="Montserrat"/>
                <a:ea typeface="Montserrat"/>
                <a:cs typeface="Montserrat"/>
                <a:sym typeface="Montserrat"/>
              </a:rPr>
              <a:t> Co-located BESS discharges during the evening peak, significantly increasing the temporal alignment between RE generation and the buyer's 24/7 load profile.</a:t>
            </a:r>
            <a:endParaRPr sz="1600">
              <a:solidFill>
                <a:schemeClr val="dk1"/>
              </a:solidFill>
              <a:latin typeface="Montserrat"/>
              <a:ea typeface="Montserrat"/>
              <a:cs typeface="Montserrat"/>
              <a:sym typeface="Montserrat"/>
            </a:endParaRPr>
          </a:p>
          <a:p>
            <a:pPr marL="609585" indent="-406390" algn="just">
              <a:spcBef>
                <a:spcPts val="800"/>
              </a:spcBef>
              <a:buClr>
                <a:schemeClr val="dk1"/>
              </a:buClr>
              <a:buSzPts val="1200"/>
              <a:buFont typeface="Calibri"/>
              <a:buChar char="●"/>
            </a:pPr>
            <a:r>
              <a:rPr lang="en" sz="1600" b="1">
                <a:solidFill>
                  <a:schemeClr val="dk1"/>
                </a:solidFill>
                <a:latin typeface="Montserrat"/>
                <a:ea typeface="Montserrat"/>
                <a:cs typeface="Montserrat"/>
                <a:sym typeface="Montserrat"/>
              </a:rPr>
              <a:t>Offtake Commitment Security:</a:t>
            </a:r>
            <a:r>
              <a:rPr lang="en" sz="1600">
                <a:solidFill>
                  <a:schemeClr val="dk1"/>
                </a:solidFill>
                <a:latin typeface="Montserrat"/>
                <a:ea typeface="Montserrat"/>
                <a:cs typeface="Montserrat"/>
                <a:sym typeface="Montserrat"/>
              </a:rPr>
              <a:t> Enables the buyer to fulfill minimum offtake commitments under the PPA by capturing excess midday energy that would otherwise be curtailed or sold at zero value.</a:t>
            </a:r>
            <a:endParaRPr sz="1600">
              <a:solidFill>
                <a:schemeClr val="dk1"/>
              </a:solidFill>
              <a:latin typeface="Montserrat"/>
              <a:ea typeface="Montserrat"/>
              <a:cs typeface="Montserrat"/>
              <a:sym typeface="Montserrat"/>
            </a:endParaRPr>
          </a:p>
          <a:p>
            <a:pPr marL="609585" indent="-406390" algn="just">
              <a:spcBef>
                <a:spcPts val="800"/>
              </a:spcBef>
              <a:buClr>
                <a:schemeClr val="dk1"/>
              </a:buClr>
              <a:buSzPts val="1200"/>
              <a:buFont typeface="Calibri"/>
              <a:buChar char="●"/>
            </a:pPr>
            <a:r>
              <a:rPr lang="en" sz="1600" b="1">
                <a:solidFill>
                  <a:schemeClr val="dk1"/>
                </a:solidFill>
                <a:latin typeface="Montserrat"/>
                <a:ea typeface="Montserrat"/>
                <a:cs typeface="Montserrat"/>
                <a:sym typeface="Montserrat"/>
              </a:rPr>
              <a:t>Enhanced Bankability:</a:t>
            </a:r>
            <a:r>
              <a:rPr lang="en" sz="1600">
                <a:solidFill>
                  <a:schemeClr val="dk1"/>
                </a:solidFill>
                <a:latin typeface="Montserrat"/>
                <a:ea typeface="Montserrat"/>
                <a:cs typeface="Montserrat"/>
                <a:sym typeface="Montserrat"/>
              </a:rPr>
              <a:t> Transforms a variable VPPA into a "Firmed Product," increasing the contract's credit and making green financing disbursement significantly easier.</a:t>
            </a:r>
            <a:endParaRPr sz="1600">
              <a:solidFill>
                <a:schemeClr val="dk1"/>
              </a:solidFill>
              <a:latin typeface="Montserrat"/>
              <a:ea typeface="Montserrat"/>
              <a:cs typeface="Montserrat"/>
              <a:sym typeface="Montserrat"/>
            </a:endParaRPr>
          </a:p>
        </p:txBody>
      </p:sp>
      <p:grpSp>
        <p:nvGrpSpPr>
          <p:cNvPr id="1042" name="Google Shape;1042;p141"/>
          <p:cNvGrpSpPr/>
          <p:nvPr/>
        </p:nvGrpSpPr>
        <p:grpSpPr>
          <a:xfrm>
            <a:off x="9893031" y="6440969"/>
            <a:ext cx="2147396" cy="417033"/>
            <a:chOff x="7472673" y="4830726"/>
            <a:chExt cx="1610547" cy="312775"/>
          </a:xfrm>
        </p:grpSpPr>
        <p:pic>
          <p:nvPicPr>
            <p:cNvPr id="1043" name="Google Shape;1043;p141"/>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044" name="Google Shape;1044;p141"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045" name="Google Shape;1045;p141"/>
          <p:cNvGrpSpPr/>
          <p:nvPr/>
        </p:nvGrpSpPr>
        <p:grpSpPr>
          <a:xfrm>
            <a:off x="319989" y="85138"/>
            <a:ext cx="11637400" cy="994663"/>
            <a:chOff x="236700" y="63853"/>
            <a:chExt cx="8728050" cy="745997"/>
          </a:xfrm>
        </p:grpSpPr>
        <p:sp>
          <p:nvSpPr>
            <p:cNvPr id="1046" name="Google Shape;1046;p141"/>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47" name="Google Shape;1047;p14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48" name="Google Shape;1048;p14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49" name="Google Shape;1049;p14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50" name="Google Shape;1050;p14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51" name="Google Shape;1051;p14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52" name="Google Shape;1052;p14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53" name="Google Shape;1053;p141"/>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VPPA &amp; Load Profile Risks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54" name="Google Shape;1054;p141"/>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55" name="Google Shape;1055;p141"/>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142"/>
          <p:cNvSpPr/>
          <p:nvPr/>
        </p:nvSpPr>
        <p:spPr>
          <a:xfrm>
            <a:off x="1081241" y="1869797"/>
            <a:ext cx="4086000" cy="4038400"/>
          </a:xfrm>
          <a:prstGeom prst="roundRect">
            <a:avLst>
              <a:gd name="adj" fmla="val 2353"/>
            </a:avLst>
          </a:prstGeom>
          <a:solidFill>
            <a:srgbClr val="035D4E"/>
          </a:solidFill>
          <a:ln>
            <a:noFill/>
          </a:ln>
          <a:effectLst>
            <a:outerShdw blurRad="89085" dist="29695" dir="8100000" algn="bl" rotWithShape="0">
              <a:srgbClr val="0F172A">
                <a:alpha val="12160"/>
              </a:srgbClr>
            </a:outerShdw>
          </a:effectLst>
        </p:spPr>
        <p:txBody>
          <a:bodyPr spcFirstLastPara="1" wrap="square" lIns="95000" tIns="95000" rIns="95000" bIns="95000" anchor="ctr" anchorCtr="0">
            <a:noAutofit/>
          </a:bodyPr>
          <a:lstStyle/>
          <a:p>
            <a:endParaRPr sz="2400"/>
          </a:p>
        </p:txBody>
      </p:sp>
      <p:sp>
        <p:nvSpPr>
          <p:cNvPr id="1061" name="Google Shape;1061;p142"/>
          <p:cNvSpPr/>
          <p:nvPr/>
        </p:nvSpPr>
        <p:spPr>
          <a:xfrm>
            <a:off x="1081241" y="2534967"/>
            <a:ext cx="4086000" cy="1615600"/>
          </a:xfrm>
          <a:prstGeom prst="rect">
            <a:avLst/>
          </a:prstGeom>
          <a:noFill/>
          <a:ln>
            <a:noFill/>
          </a:ln>
        </p:spPr>
        <p:txBody>
          <a:bodyPr spcFirstLastPara="1" wrap="square" lIns="0" tIns="0" rIns="0" bIns="0" anchor="ctr" anchorCtr="0">
            <a:noAutofit/>
          </a:bodyPr>
          <a:lstStyle/>
          <a:p>
            <a:pPr algn="ctr">
              <a:buClr>
                <a:srgbClr val="0EA5E9"/>
              </a:buClr>
              <a:buSzPts val="7482"/>
            </a:pPr>
            <a:r>
              <a:rPr lang="en" sz="9976" b="1">
                <a:solidFill>
                  <a:srgbClr val="00B4A0"/>
                </a:solidFill>
                <a:latin typeface="Montserrat"/>
                <a:ea typeface="Montserrat"/>
                <a:cs typeface="Montserrat"/>
                <a:sym typeface="Montserrat"/>
              </a:rPr>
              <a:t>100%</a:t>
            </a:r>
            <a:endParaRPr sz="9976">
              <a:solidFill>
                <a:srgbClr val="00B4A0"/>
              </a:solidFill>
              <a:latin typeface="Montserrat"/>
              <a:ea typeface="Montserrat"/>
              <a:cs typeface="Montserrat"/>
              <a:sym typeface="Montserrat"/>
            </a:endParaRPr>
          </a:p>
        </p:txBody>
      </p:sp>
      <p:sp>
        <p:nvSpPr>
          <p:cNvPr id="1062" name="Google Shape;1062;p142"/>
          <p:cNvSpPr/>
          <p:nvPr/>
        </p:nvSpPr>
        <p:spPr>
          <a:xfrm>
            <a:off x="1081241" y="4102867"/>
            <a:ext cx="4086000" cy="1140400"/>
          </a:xfrm>
          <a:prstGeom prst="rect">
            <a:avLst/>
          </a:prstGeom>
          <a:noFill/>
          <a:ln>
            <a:noFill/>
          </a:ln>
        </p:spPr>
        <p:txBody>
          <a:bodyPr spcFirstLastPara="1" wrap="square" lIns="0" tIns="0" rIns="0" bIns="0" anchor="t" anchorCtr="0">
            <a:noAutofit/>
          </a:bodyPr>
          <a:lstStyle/>
          <a:p>
            <a:pPr algn="ctr">
              <a:lnSpc>
                <a:spcPct val="110000"/>
              </a:lnSpc>
              <a:buClr>
                <a:srgbClr val="FFFFFF"/>
              </a:buClr>
              <a:buSzPts val="1715"/>
            </a:pPr>
            <a:r>
              <a:rPr lang="en" sz="2287" b="1">
                <a:solidFill>
                  <a:schemeClr val="lt1"/>
                </a:solidFill>
                <a:latin typeface="Montserrat"/>
                <a:ea typeface="Montserrat"/>
                <a:cs typeface="Montserrat"/>
                <a:sym typeface="Montserrat"/>
              </a:rPr>
              <a:t>Elimination of</a:t>
            </a:r>
            <a:endParaRPr sz="2287">
              <a:solidFill>
                <a:schemeClr val="lt1"/>
              </a:solidFill>
              <a:latin typeface="Montserrat"/>
              <a:ea typeface="Montserrat"/>
              <a:cs typeface="Montserrat"/>
              <a:sym typeface="Montserrat"/>
            </a:endParaRPr>
          </a:p>
          <a:p>
            <a:pPr algn="ctr">
              <a:lnSpc>
                <a:spcPct val="110000"/>
              </a:lnSpc>
              <a:buClr>
                <a:srgbClr val="FFFFFF"/>
              </a:buClr>
              <a:buSzPts val="1715"/>
            </a:pPr>
            <a:r>
              <a:rPr lang="en" sz="2287" b="1">
                <a:solidFill>
                  <a:schemeClr val="lt1"/>
                </a:solidFill>
                <a:latin typeface="Montserrat"/>
                <a:ea typeface="Montserrat"/>
                <a:cs typeface="Montserrat"/>
                <a:sym typeface="Montserrat"/>
              </a:rPr>
              <a:t>Merchant-Tail Risk</a:t>
            </a:r>
            <a:endParaRPr sz="2287">
              <a:solidFill>
                <a:schemeClr val="lt1"/>
              </a:solidFill>
              <a:latin typeface="Montserrat"/>
              <a:ea typeface="Montserrat"/>
              <a:cs typeface="Montserrat"/>
              <a:sym typeface="Montserrat"/>
            </a:endParaRPr>
          </a:p>
        </p:txBody>
      </p:sp>
      <p:sp>
        <p:nvSpPr>
          <p:cNvPr id="1063" name="Google Shape;1063;p142"/>
          <p:cNvSpPr/>
          <p:nvPr/>
        </p:nvSpPr>
        <p:spPr>
          <a:xfrm>
            <a:off x="5547401" y="2059845"/>
            <a:ext cx="6556800" cy="665200"/>
          </a:xfrm>
          <a:prstGeom prst="rect">
            <a:avLst/>
          </a:prstGeom>
          <a:noFill/>
          <a:ln>
            <a:noFill/>
          </a:ln>
        </p:spPr>
        <p:txBody>
          <a:bodyPr spcFirstLastPara="1" wrap="square" lIns="0" tIns="0" rIns="0" bIns="0" anchor="ctr" anchorCtr="0">
            <a:noAutofit/>
          </a:bodyPr>
          <a:lstStyle/>
          <a:p>
            <a:pPr>
              <a:buClr>
                <a:srgbClr val="2563EB"/>
              </a:buClr>
              <a:buSzPts val="1871"/>
            </a:pPr>
            <a:r>
              <a:rPr lang="en" sz="2495" b="1">
                <a:solidFill>
                  <a:srgbClr val="1B786E"/>
                </a:solidFill>
                <a:latin typeface="Montserrat"/>
                <a:ea typeface="Montserrat"/>
                <a:cs typeface="Montserrat"/>
                <a:sym typeface="Montserrat"/>
              </a:rPr>
              <a:t>Bankability Through “Firmed PPA”</a:t>
            </a:r>
            <a:endParaRPr sz="2495">
              <a:solidFill>
                <a:srgbClr val="1B786E"/>
              </a:solidFill>
              <a:latin typeface="Montserrat"/>
              <a:ea typeface="Montserrat"/>
              <a:cs typeface="Montserrat"/>
              <a:sym typeface="Montserrat"/>
            </a:endParaRPr>
          </a:p>
        </p:txBody>
      </p:sp>
      <p:sp>
        <p:nvSpPr>
          <p:cNvPr id="1064" name="Google Shape;1064;p142"/>
          <p:cNvSpPr/>
          <p:nvPr/>
        </p:nvSpPr>
        <p:spPr>
          <a:xfrm>
            <a:off x="5547300" y="2867567"/>
            <a:ext cx="5881600" cy="3040800"/>
          </a:xfrm>
          <a:prstGeom prst="rect">
            <a:avLst/>
          </a:prstGeom>
          <a:noFill/>
          <a:ln>
            <a:noFill/>
          </a:ln>
        </p:spPr>
        <p:txBody>
          <a:bodyPr spcFirstLastPara="1" wrap="square" lIns="0" tIns="0" rIns="0" bIns="0" anchor="t" anchorCtr="0">
            <a:noAutofit/>
          </a:bodyPr>
          <a:lstStyle/>
          <a:p>
            <a:pPr algn="just">
              <a:lnSpc>
                <a:spcPct val="130000"/>
              </a:lnSpc>
              <a:buClr>
                <a:srgbClr val="334155"/>
              </a:buClr>
              <a:buSzPts val="1364"/>
            </a:pPr>
            <a:r>
              <a:rPr lang="en" sz="1600">
                <a:solidFill>
                  <a:schemeClr val="dk1"/>
                </a:solidFill>
                <a:latin typeface="Montserrat"/>
                <a:ea typeface="Montserrat"/>
                <a:cs typeface="Montserrat"/>
                <a:sym typeface="Montserrat"/>
              </a:rPr>
              <a:t>Offtakers accept paying a premium for the BESS firming cost. In return, they receive a VPPA contract immune to weather conditions and spot-market volatility.</a:t>
            </a:r>
            <a:endParaRPr sz="1600">
              <a:solidFill>
                <a:schemeClr val="dk1"/>
              </a:solidFill>
              <a:latin typeface="Montserrat"/>
              <a:ea typeface="Montserrat"/>
              <a:cs typeface="Montserrat"/>
              <a:sym typeface="Montserrat"/>
            </a:endParaRPr>
          </a:p>
          <a:p>
            <a:pPr algn="just">
              <a:lnSpc>
                <a:spcPct val="130000"/>
              </a:lnSpc>
              <a:spcBef>
                <a:spcPts val="1663"/>
              </a:spcBef>
              <a:buClr>
                <a:srgbClr val="334155"/>
              </a:buClr>
              <a:buSzPts val="1364"/>
            </a:pPr>
            <a:r>
              <a:rPr lang="en" sz="1600">
                <a:solidFill>
                  <a:schemeClr val="dk1"/>
                </a:solidFill>
                <a:latin typeface="Montserrat"/>
                <a:ea typeface="Montserrat"/>
                <a:cs typeface="Montserrat"/>
                <a:sym typeface="Montserrat"/>
              </a:rPr>
              <a:t>Stable payment cash flows and highly predictable long-term costs make BESS-integrated VPPAs a “gold standard” asset, making green credit disbursement significantly easier.</a:t>
            </a:r>
            <a:endParaRPr sz="1600">
              <a:solidFill>
                <a:schemeClr val="dk1"/>
              </a:solidFill>
              <a:latin typeface="Montserrat"/>
              <a:ea typeface="Montserrat"/>
              <a:cs typeface="Montserrat"/>
              <a:sym typeface="Montserrat"/>
            </a:endParaRPr>
          </a:p>
        </p:txBody>
      </p:sp>
      <p:grpSp>
        <p:nvGrpSpPr>
          <p:cNvPr id="1065" name="Google Shape;1065;p142"/>
          <p:cNvGrpSpPr/>
          <p:nvPr/>
        </p:nvGrpSpPr>
        <p:grpSpPr>
          <a:xfrm>
            <a:off x="9893031" y="6440969"/>
            <a:ext cx="2147396" cy="417033"/>
            <a:chOff x="7472673" y="4830726"/>
            <a:chExt cx="1610547" cy="312775"/>
          </a:xfrm>
        </p:grpSpPr>
        <p:pic>
          <p:nvPicPr>
            <p:cNvPr id="1066" name="Google Shape;1066;p142"/>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067" name="Google Shape;1067;p142"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068" name="Google Shape;1068;p142"/>
          <p:cNvGrpSpPr/>
          <p:nvPr/>
        </p:nvGrpSpPr>
        <p:grpSpPr>
          <a:xfrm>
            <a:off x="319989" y="85138"/>
            <a:ext cx="11637400" cy="994663"/>
            <a:chOff x="236700" y="63853"/>
            <a:chExt cx="8728050" cy="745997"/>
          </a:xfrm>
        </p:grpSpPr>
        <p:sp>
          <p:nvSpPr>
            <p:cNvPr id="1069" name="Google Shape;1069;p142"/>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70" name="Google Shape;1070;p14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71" name="Google Shape;1071;p14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72" name="Google Shape;1072;p14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73" name="Google Shape;1073;p14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74" name="Google Shape;1074;p14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75" name="Google Shape;1075;p14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76" name="Google Shape;1076;p142"/>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Enhancing Bankability</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77" name="Google Shape;1077;p142"/>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78" name="Google Shape;1078;p142"/>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grpSp>
        <p:nvGrpSpPr>
          <p:cNvPr id="1083" name="Google Shape;1083;p143"/>
          <p:cNvGrpSpPr/>
          <p:nvPr/>
        </p:nvGrpSpPr>
        <p:grpSpPr>
          <a:xfrm>
            <a:off x="319989" y="85138"/>
            <a:ext cx="11637400" cy="994663"/>
            <a:chOff x="236700" y="63853"/>
            <a:chExt cx="8728050" cy="745997"/>
          </a:xfrm>
        </p:grpSpPr>
        <p:sp>
          <p:nvSpPr>
            <p:cNvPr id="1084" name="Google Shape;1084;p143"/>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085" name="Google Shape;1085;p14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086" name="Google Shape;1086;p14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087" name="Google Shape;1087;p14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088" name="Google Shape;1088;p14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089" name="Google Shape;1089;p14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090" name="Google Shape;1090;p14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091" name="Google Shape;1091;p143"/>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Implementation Roadmap</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092" name="Google Shape;1092;p143"/>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093" name="Google Shape;1093;p143"/>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094" name="Google Shape;1094;p143"/>
          <p:cNvSpPr/>
          <p:nvPr/>
        </p:nvSpPr>
        <p:spPr>
          <a:xfrm>
            <a:off x="137300" y="3152392"/>
            <a:ext cx="3635600" cy="1222400"/>
          </a:xfrm>
          <a:prstGeom prst="homePlate">
            <a:avLst>
              <a:gd name="adj" fmla="val 50000"/>
            </a:avLst>
          </a:prstGeom>
          <a:solidFill>
            <a:srgbClr val="155B55"/>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1: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Measurement</a:t>
            </a:r>
            <a:endParaRPr sz="2400" b="1">
              <a:solidFill>
                <a:schemeClr val="lt1"/>
              </a:solidFill>
              <a:latin typeface="Montserrat"/>
              <a:ea typeface="Montserrat"/>
              <a:cs typeface="Montserrat"/>
              <a:sym typeface="Montserrat"/>
            </a:endParaRPr>
          </a:p>
        </p:txBody>
      </p:sp>
      <p:sp>
        <p:nvSpPr>
          <p:cNvPr id="1095" name="Google Shape;1095;p143"/>
          <p:cNvSpPr/>
          <p:nvPr/>
        </p:nvSpPr>
        <p:spPr>
          <a:xfrm>
            <a:off x="3155205" y="3152000"/>
            <a:ext cx="3388400" cy="1222400"/>
          </a:xfrm>
          <a:prstGeom prst="chevron">
            <a:avLst>
              <a:gd name="adj" fmla="val 50000"/>
            </a:avLst>
          </a:prstGeom>
          <a:solidFill>
            <a:srgbClr val="1B786F"/>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2: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Load Profile Analysis</a:t>
            </a:r>
            <a:endParaRPr sz="2400" b="1">
              <a:solidFill>
                <a:schemeClr val="lt1"/>
              </a:solidFill>
              <a:latin typeface="Montserrat"/>
              <a:ea typeface="Montserrat"/>
              <a:cs typeface="Montserrat"/>
              <a:sym typeface="Montserrat"/>
            </a:endParaRPr>
          </a:p>
        </p:txBody>
      </p:sp>
      <p:sp>
        <p:nvSpPr>
          <p:cNvPr id="1096" name="Google Shape;1096;p143"/>
          <p:cNvSpPr/>
          <p:nvPr/>
        </p:nvSpPr>
        <p:spPr>
          <a:xfrm>
            <a:off x="5910608" y="3152000"/>
            <a:ext cx="3388400" cy="1222400"/>
          </a:xfrm>
          <a:prstGeom prst="chevron">
            <a:avLst>
              <a:gd name="adj" fmla="val 50000"/>
            </a:avLst>
          </a:prstGeom>
          <a:solidFill>
            <a:srgbClr val="1D7E75"/>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3: Integration</a:t>
            </a:r>
            <a:endParaRPr sz="2400" b="1">
              <a:solidFill>
                <a:schemeClr val="lt1"/>
              </a:solidFill>
              <a:latin typeface="Montserrat"/>
              <a:ea typeface="Montserrat"/>
              <a:cs typeface="Montserrat"/>
              <a:sym typeface="Montserrat"/>
            </a:endParaRPr>
          </a:p>
        </p:txBody>
      </p:sp>
      <p:sp>
        <p:nvSpPr>
          <p:cNvPr id="1097" name="Google Shape;1097;p143"/>
          <p:cNvSpPr/>
          <p:nvPr/>
        </p:nvSpPr>
        <p:spPr>
          <a:xfrm>
            <a:off x="8666299" y="3152000"/>
            <a:ext cx="3388400" cy="1222400"/>
          </a:xfrm>
          <a:prstGeom prst="chevron">
            <a:avLst>
              <a:gd name="adj" fmla="val 50000"/>
            </a:avLst>
          </a:prstGeom>
          <a:solidFill>
            <a:srgbClr val="1F887E"/>
          </a:solidFill>
          <a:ln>
            <a:noFill/>
          </a:ln>
        </p:spPr>
        <p:txBody>
          <a:bodyPr spcFirstLastPara="1" wrap="square" lIns="121900" tIns="121900" rIns="121900" bIns="121900" anchor="ctr" anchorCtr="0">
            <a:noAutofit/>
          </a:bodyPr>
          <a:lstStyle/>
          <a:p>
            <a:pPr algn="ctr"/>
            <a:r>
              <a:rPr lang="en" sz="2400" b="1">
                <a:solidFill>
                  <a:schemeClr val="lt1"/>
                </a:solidFill>
                <a:latin typeface="Montserrat"/>
                <a:ea typeface="Montserrat"/>
                <a:cs typeface="Montserrat"/>
                <a:sym typeface="Montserrat"/>
              </a:rPr>
              <a:t>Step 4: </a:t>
            </a:r>
            <a:br>
              <a:rPr lang="en" sz="2400" b="1">
                <a:solidFill>
                  <a:schemeClr val="lt1"/>
                </a:solidFill>
                <a:latin typeface="Montserrat"/>
                <a:ea typeface="Montserrat"/>
                <a:cs typeface="Montserrat"/>
                <a:sym typeface="Montserrat"/>
              </a:rPr>
            </a:br>
            <a:r>
              <a:rPr lang="en" sz="2400" b="1">
                <a:solidFill>
                  <a:schemeClr val="lt1"/>
                </a:solidFill>
                <a:latin typeface="Montserrat"/>
                <a:ea typeface="Montserrat"/>
                <a:cs typeface="Montserrat"/>
                <a:sym typeface="Montserrat"/>
              </a:rPr>
              <a:t>Expansion</a:t>
            </a:r>
            <a:endParaRPr sz="2400" b="1">
              <a:solidFill>
                <a:schemeClr val="lt1"/>
              </a:solidFill>
              <a:latin typeface="Montserrat"/>
              <a:ea typeface="Montserrat"/>
              <a:cs typeface="Montserrat"/>
              <a:sym typeface="Montserrat"/>
            </a:endParaRPr>
          </a:p>
        </p:txBody>
      </p:sp>
      <p:sp>
        <p:nvSpPr>
          <p:cNvPr id="1098" name="Google Shape;1098;p143"/>
          <p:cNvSpPr txBox="1"/>
          <p:nvPr/>
        </p:nvSpPr>
        <p:spPr>
          <a:xfrm>
            <a:off x="3346800" y="1517434"/>
            <a:ext cx="2892800" cy="1580369"/>
          </a:xfrm>
          <a:prstGeom prst="rect">
            <a:avLst/>
          </a:prstGeom>
          <a:noFill/>
          <a:ln>
            <a:noFill/>
          </a:ln>
        </p:spPr>
        <p:txBody>
          <a:bodyPr spcFirstLastPara="1" wrap="square" lIns="0" tIns="0" rIns="0" bIns="0" anchor="t" anchorCtr="0">
            <a:spAutoFit/>
          </a:bodyPr>
          <a:lstStyle/>
          <a:p>
            <a:pPr algn="ctr"/>
            <a:r>
              <a:rPr lang="en" sz="1467">
                <a:solidFill>
                  <a:schemeClr val="dk1"/>
                </a:solidFill>
                <a:latin typeface="Montserrat"/>
                <a:ea typeface="Montserrat"/>
                <a:cs typeface="Montserrat"/>
                <a:sym typeface="Montserrat"/>
              </a:rPr>
              <a:t>Assess whether the plant has a </a:t>
            </a:r>
            <a:r>
              <a:rPr lang="en" sz="1467" b="1">
                <a:solidFill>
                  <a:schemeClr val="dk1"/>
                </a:solidFill>
                <a:latin typeface="Montserrat"/>
                <a:ea typeface="Montserrat"/>
                <a:cs typeface="Montserrat"/>
                <a:sym typeface="Montserrat"/>
              </a:rPr>
              <a:t>flat or fluctuating load</a:t>
            </a:r>
            <a:r>
              <a:rPr lang="en" sz="1467">
                <a:solidFill>
                  <a:schemeClr val="dk1"/>
                </a:solidFill>
                <a:latin typeface="Montserrat"/>
                <a:ea typeface="Montserrat"/>
                <a:cs typeface="Montserrat"/>
                <a:sym typeface="Montserrat"/>
              </a:rPr>
              <a:t> to calculate the required BESS capacity and optimize Peak Shaving, Energy Arbitrage, and Demand Matching strategies.</a:t>
            </a:r>
            <a:endParaRPr sz="1467">
              <a:solidFill>
                <a:schemeClr val="dk1"/>
              </a:solidFill>
              <a:latin typeface="Montserrat"/>
              <a:ea typeface="Montserrat"/>
              <a:cs typeface="Montserrat"/>
              <a:sym typeface="Montserrat"/>
            </a:endParaRPr>
          </a:p>
        </p:txBody>
      </p:sp>
      <p:sp>
        <p:nvSpPr>
          <p:cNvPr id="1099" name="Google Shape;1099;p143"/>
          <p:cNvSpPr/>
          <p:nvPr/>
        </p:nvSpPr>
        <p:spPr>
          <a:xfrm>
            <a:off x="4673800" y="2918833"/>
            <a:ext cx="109600" cy="350400"/>
          </a:xfrm>
          <a:prstGeom prst="rect">
            <a:avLst/>
          </a:prstGeom>
          <a:solidFill>
            <a:srgbClr val="1B786F"/>
          </a:solidFill>
          <a:ln>
            <a:noFill/>
          </a:ln>
        </p:spPr>
        <p:txBody>
          <a:bodyPr spcFirstLastPara="1" wrap="square" lIns="121900" tIns="121900" rIns="121900" bIns="121900" anchor="ctr" anchorCtr="0">
            <a:noAutofit/>
          </a:bodyPr>
          <a:lstStyle/>
          <a:p>
            <a:pPr algn="ctr"/>
            <a:endParaRPr sz="2400">
              <a:solidFill>
                <a:schemeClr val="dk1"/>
              </a:solidFill>
              <a:latin typeface="Montserrat"/>
              <a:ea typeface="Montserrat"/>
              <a:cs typeface="Montserrat"/>
              <a:sym typeface="Montserrat"/>
            </a:endParaRPr>
          </a:p>
        </p:txBody>
      </p:sp>
      <p:sp>
        <p:nvSpPr>
          <p:cNvPr id="1100" name="Google Shape;1100;p143"/>
          <p:cNvSpPr/>
          <p:nvPr/>
        </p:nvSpPr>
        <p:spPr>
          <a:xfrm>
            <a:off x="10245867" y="2918833"/>
            <a:ext cx="109600" cy="350400"/>
          </a:xfrm>
          <a:prstGeom prst="rect">
            <a:avLst/>
          </a:prstGeom>
          <a:solidFill>
            <a:srgbClr val="1F887E"/>
          </a:solidFill>
          <a:ln>
            <a:noFill/>
          </a:ln>
        </p:spPr>
        <p:txBody>
          <a:bodyPr spcFirstLastPara="1" wrap="square" lIns="121900" tIns="121900" rIns="121900" bIns="121900" anchor="ctr" anchorCtr="0">
            <a:noAutofit/>
          </a:bodyPr>
          <a:lstStyle/>
          <a:p>
            <a:pPr algn="ctr"/>
            <a:endParaRPr sz="2400">
              <a:solidFill>
                <a:schemeClr val="dk1"/>
              </a:solidFill>
              <a:latin typeface="Montserrat"/>
              <a:ea typeface="Montserrat"/>
              <a:cs typeface="Montserrat"/>
              <a:sym typeface="Montserrat"/>
            </a:endParaRPr>
          </a:p>
        </p:txBody>
      </p:sp>
      <p:sp>
        <p:nvSpPr>
          <p:cNvPr id="1101" name="Google Shape;1101;p143"/>
          <p:cNvSpPr txBox="1"/>
          <p:nvPr/>
        </p:nvSpPr>
        <p:spPr>
          <a:xfrm>
            <a:off x="8843319" y="1856830"/>
            <a:ext cx="2892800" cy="903068"/>
          </a:xfrm>
          <a:prstGeom prst="rect">
            <a:avLst/>
          </a:prstGeom>
          <a:noFill/>
          <a:ln>
            <a:noFill/>
          </a:ln>
        </p:spPr>
        <p:txBody>
          <a:bodyPr spcFirstLastPara="1" wrap="square" lIns="0" tIns="0" rIns="0" bIns="0" anchor="t" anchorCtr="0">
            <a:spAutoFit/>
          </a:bodyPr>
          <a:lstStyle/>
          <a:p>
            <a:pPr algn="ctr"/>
            <a:r>
              <a:rPr lang="en" sz="1467" b="1">
                <a:solidFill>
                  <a:schemeClr val="dk1"/>
                </a:solidFill>
                <a:latin typeface="Montserrat"/>
                <a:ea typeface="Montserrat"/>
                <a:cs typeface="Montserrat"/>
                <a:sym typeface="Montserrat"/>
              </a:rPr>
              <a:t>Negotiate large-scale Firmed VPPAs</a:t>
            </a:r>
            <a:r>
              <a:rPr lang="en" sz="1467">
                <a:solidFill>
                  <a:schemeClr val="dk1"/>
                </a:solidFill>
                <a:latin typeface="Montserrat"/>
                <a:ea typeface="Montserrat"/>
                <a:cs typeface="Montserrat"/>
                <a:sym typeface="Montserrat"/>
              </a:rPr>
              <a:t>, or participate in </a:t>
            </a:r>
            <a:r>
              <a:rPr lang="en" sz="1467" b="1">
                <a:solidFill>
                  <a:schemeClr val="dk1"/>
                </a:solidFill>
                <a:latin typeface="Montserrat"/>
                <a:ea typeface="Montserrat"/>
                <a:cs typeface="Montserrat"/>
                <a:sym typeface="Montserrat"/>
              </a:rPr>
              <a:t>Aggregation alliances</a:t>
            </a:r>
            <a:r>
              <a:rPr lang="en" sz="1467">
                <a:solidFill>
                  <a:schemeClr val="dk1"/>
                </a:solidFill>
                <a:latin typeface="Montserrat"/>
                <a:ea typeface="Montserrat"/>
                <a:cs typeface="Montserrat"/>
                <a:sym typeface="Montserrat"/>
              </a:rPr>
              <a:t> at the Industrial Park.</a:t>
            </a:r>
            <a:endParaRPr sz="1467">
              <a:solidFill>
                <a:schemeClr val="dk1"/>
              </a:solidFill>
              <a:latin typeface="Montserrat"/>
              <a:ea typeface="Montserrat"/>
              <a:cs typeface="Montserrat"/>
              <a:sym typeface="Montserrat"/>
            </a:endParaRPr>
          </a:p>
        </p:txBody>
      </p:sp>
      <p:sp>
        <p:nvSpPr>
          <p:cNvPr id="1102" name="Google Shape;1102;p143"/>
          <p:cNvSpPr/>
          <p:nvPr/>
        </p:nvSpPr>
        <p:spPr>
          <a:xfrm>
            <a:off x="1680100" y="4326333"/>
            <a:ext cx="109600" cy="350400"/>
          </a:xfrm>
          <a:prstGeom prst="rect">
            <a:avLst/>
          </a:prstGeom>
          <a:solidFill>
            <a:srgbClr val="155B55"/>
          </a:solidFill>
          <a:ln>
            <a:noFill/>
          </a:ln>
        </p:spPr>
        <p:txBody>
          <a:bodyPr spcFirstLastPara="1" wrap="square" lIns="121900" tIns="121900" rIns="121900" bIns="121900" anchor="ctr" anchorCtr="0">
            <a:noAutofit/>
          </a:bodyPr>
          <a:lstStyle/>
          <a:p>
            <a:pPr algn="ctr"/>
            <a:endParaRPr sz="2400"/>
          </a:p>
        </p:txBody>
      </p:sp>
      <p:sp>
        <p:nvSpPr>
          <p:cNvPr id="1103" name="Google Shape;1103;p143"/>
          <p:cNvSpPr/>
          <p:nvPr/>
        </p:nvSpPr>
        <p:spPr>
          <a:xfrm>
            <a:off x="7614400" y="4286467"/>
            <a:ext cx="109600" cy="350400"/>
          </a:xfrm>
          <a:prstGeom prst="rect">
            <a:avLst/>
          </a:prstGeom>
          <a:solidFill>
            <a:srgbClr val="1D7E75"/>
          </a:solidFill>
          <a:ln>
            <a:noFill/>
          </a:ln>
        </p:spPr>
        <p:txBody>
          <a:bodyPr spcFirstLastPara="1" wrap="square" lIns="121900" tIns="121900" rIns="121900" bIns="121900" anchor="ctr" anchorCtr="0">
            <a:noAutofit/>
          </a:bodyPr>
          <a:lstStyle/>
          <a:p>
            <a:pPr algn="ctr"/>
            <a:endParaRPr sz="2400"/>
          </a:p>
        </p:txBody>
      </p:sp>
      <p:sp>
        <p:nvSpPr>
          <p:cNvPr id="1104" name="Google Shape;1104;p143"/>
          <p:cNvSpPr txBox="1"/>
          <p:nvPr/>
        </p:nvSpPr>
        <p:spPr>
          <a:xfrm>
            <a:off x="458700" y="4851867"/>
            <a:ext cx="2605600" cy="1128835"/>
          </a:xfrm>
          <a:prstGeom prst="rect">
            <a:avLst/>
          </a:prstGeom>
          <a:noFill/>
          <a:ln>
            <a:noFill/>
          </a:ln>
        </p:spPr>
        <p:txBody>
          <a:bodyPr spcFirstLastPara="1" wrap="square" lIns="0" tIns="0" rIns="0" bIns="0" anchor="t" anchorCtr="0">
            <a:spAutoFit/>
          </a:bodyPr>
          <a:lstStyle/>
          <a:p>
            <a:pPr algn="ctr"/>
            <a:r>
              <a:rPr lang="en" sz="1467">
                <a:solidFill>
                  <a:schemeClr val="dk1"/>
                </a:solidFill>
                <a:latin typeface="Montserrat"/>
                <a:ea typeface="Montserrat"/>
                <a:cs typeface="Montserrat"/>
                <a:sym typeface="Montserrat"/>
              </a:rPr>
              <a:t>Smart Profiling evaluation. </a:t>
            </a:r>
            <a:r>
              <a:rPr lang="en" sz="1467" b="1">
                <a:solidFill>
                  <a:schemeClr val="dk1"/>
                </a:solidFill>
                <a:latin typeface="Montserrat"/>
                <a:ea typeface="Montserrat"/>
                <a:cs typeface="Montserrat"/>
                <a:sym typeface="Montserrat"/>
              </a:rPr>
              <a:t>Identify 30-minute capacity fee risks</a:t>
            </a:r>
            <a:r>
              <a:rPr lang="en" sz="1467">
                <a:solidFill>
                  <a:schemeClr val="dk1"/>
                </a:solidFill>
                <a:latin typeface="Montserrat"/>
                <a:ea typeface="Montserrat"/>
                <a:cs typeface="Montserrat"/>
                <a:sym typeface="Montserrat"/>
              </a:rPr>
              <a:t> under the new pricing mechanism.</a:t>
            </a:r>
            <a:endParaRPr sz="1467">
              <a:solidFill>
                <a:schemeClr val="dk1"/>
              </a:solidFill>
              <a:latin typeface="Montserrat"/>
              <a:ea typeface="Montserrat"/>
              <a:cs typeface="Montserrat"/>
              <a:sym typeface="Montserrat"/>
            </a:endParaRPr>
          </a:p>
        </p:txBody>
      </p:sp>
      <p:sp>
        <p:nvSpPr>
          <p:cNvPr id="1105" name="Google Shape;1105;p143"/>
          <p:cNvSpPr txBox="1"/>
          <p:nvPr/>
        </p:nvSpPr>
        <p:spPr>
          <a:xfrm>
            <a:off x="6222800" y="4851867"/>
            <a:ext cx="2892800" cy="1128835"/>
          </a:xfrm>
          <a:prstGeom prst="rect">
            <a:avLst/>
          </a:prstGeom>
          <a:noFill/>
          <a:ln>
            <a:noFill/>
          </a:ln>
        </p:spPr>
        <p:txBody>
          <a:bodyPr spcFirstLastPara="1" wrap="square" lIns="0" tIns="0" rIns="0" bIns="0" anchor="t" anchorCtr="0">
            <a:spAutoFit/>
          </a:bodyPr>
          <a:lstStyle/>
          <a:p>
            <a:pPr algn="ctr"/>
            <a:r>
              <a:rPr lang="en" sz="1467" b="1">
                <a:solidFill>
                  <a:schemeClr val="dk1"/>
                </a:solidFill>
                <a:latin typeface="Montserrat"/>
                <a:ea typeface="Montserrat"/>
                <a:cs typeface="Montserrat"/>
                <a:sym typeface="Montserrat"/>
              </a:rPr>
              <a:t>Invest in BTM BESS and EMS </a:t>
            </a:r>
            <a:r>
              <a:rPr lang="en" sz="1467">
                <a:solidFill>
                  <a:schemeClr val="dk1"/>
                </a:solidFill>
                <a:latin typeface="Montserrat"/>
                <a:ea typeface="Montserrat"/>
                <a:cs typeface="Montserrat"/>
                <a:sym typeface="Montserrat"/>
              </a:rPr>
              <a:t>system for smart energy management, elevating to 24/7 CFE standards.</a:t>
            </a:r>
            <a:endParaRPr sz="1467">
              <a:solidFill>
                <a:schemeClr val="dk1"/>
              </a:solidFill>
              <a:latin typeface="Montserrat"/>
              <a:ea typeface="Montserrat"/>
              <a:cs typeface="Montserrat"/>
              <a:sym typeface="Montserrat"/>
            </a:endParaRPr>
          </a:p>
          <a:p>
            <a:endParaRPr sz="1467">
              <a:solidFill>
                <a:schemeClr val="dk1"/>
              </a:solidFill>
              <a:latin typeface="Montserrat"/>
              <a:ea typeface="Montserrat"/>
              <a:cs typeface="Montserrat"/>
              <a:sym typeface="Montserrat"/>
            </a:endParaRPr>
          </a:p>
        </p:txBody>
      </p:sp>
      <p:grpSp>
        <p:nvGrpSpPr>
          <p:cNvPr id="1106" name="Google Shape;1106;p143"/>
          <p:cNvGrpSpPr/>
          <p:nvPr/>
        </p:nvGrpSpPr>
        <p:grpSpPr>
          <a:xfrm>
            <a:off x="9893031" y="6440969"/>
            <a:ext cx="2147396" cy="417033"/>
            <a:chOff x="7472673" y="4830726"/>
            <a:chExt cx="1610547" cy="312775"/>
          </a:xfrm>
        </p:grpSpPr>
        <p:pic>
          <p:nvPicPr>
            <p:cNvPr id="1107" name="Google Shape;1107;p143"/>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08" name="Google Shape;1108;p143"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cxnSp>
        <p:nvCxnSpPr>
          <p:cNvPr id="1113" name="Google Shape;1113;p144"/>
          <p:cNvCxnSpPr/>
          <p:nvPr/>
        </p:nvCxnSpPr>
        <p:spPr>
          <a:xfrm>
            <a:off x="6606139" y="1780675"/>
            <a:ext cx="1655200" cy="0"/>
          </a:xfrm>
          <a:prstGeom prst="straightConnector1">
            <a:avLst/>
          </a:prstGeom>
          <a:noFill/>
          <a:ln w="57150" cap="flat" cmpd="sng">
            <a:solidFill>
              <a:srgbClr val="1B786E"/>
            </a:solidFill>
            <a:prstDash val="solid"/>
            <a:miter lim="800000"/>
            <a:headEnd type="none" w="sm" len="sm"/>
            <a:tailEnd type="none" w="sm" len="sm"/>
          </a:ln>
        </p:spPr>
      </p:cxnSp>
      <p:sp>
        <p:nvSpPr>
          <p:cNvPr id="1114" name="Google Shape;1114;p144"/>
          <p:cNvSpPr txBox="1"/>
          <p:nvPr/>
        </p:nvSpPr>
        <p:spPr>
          <a:xfrm>
            <a:off x="6325467" y="1920901"/>
            <a:ext cx="5688800" cy="2121566"/>
          </a:xfrm>
          <a:prstGeom prst="rect">
            <a:avLst/>
          </a:prstGeom>
          <a:noFill/>
          <a:ln>
            <a:noFill/>
          </a:ln>
        </p:spPr>
        <p:txBody>
          <a:bodyPr spcFirstLastPara="1" wrap="square" lIns="91433" tIns="45700" rIns="91433" bIns="45700" anchor="t" anchorCtr="0">
            <a:spAutoFit/>
          </a:bodyPr>
          <a:lstStyle/>
          <a:p>
            <a:pPr>
              <a:lnSpc>
                <a:spcPct val="120000"/>
              </a:lnSpc>
              <a:spcAft>
                <a:spcPts val="2000"/>
              </a:spcAft>
              <a:buClr>
                <a:schemeClr val="dk1"/>
              </a:buClr>
              <a:buSzPts val="1100"/>
            </a:pPr>
            <a:r>
              <a:rPr lang="en" sz="4800" b="1">
                <a:solidFill>
                  <a:srgbClr val="0F172A"/>
                </a:solidFill>
                <a:highlight>
                  <a:srgbClr val="FFFFFF"/>
                </a:highlight>
                <a:latin typeface="Montserrat"/>
                <a:ea typeface="Montserrat"/>
                <a:cs typeface="Montserrat"/>
                <a:sym typeface="Montserrat"/>
              </a:rPr>
              <a:t>Factory A </a:t>
            </a:r>
            <a:br>
              <a:rPr lang="en" sz="4800" b="1">
                <a:solidFill>
                  <a:srgbClr val="0F172A"/>
                </a:solidFill>
                <a:highlight>
                  <a:srgbClr val="FFFFFF"/>
                </a:highlight>
                <a:latin typeface="Montserrat"/>
                <a:ea typeface="Montserrat"/>
                <a:cs typeface="Montserrat"/>
                <a:sym typeface="Montserrat"/>
              </a:rPr>
            </a:br>
            <a:r>
              <a:rPr lang="en" sz="4800" b="1">
                <a:solidFill>
                  <a:srgbClr val="0F172A"/>
                </a:solidFill>
                <a:highlight>
                  <a:srgbClr val="FFFFFF"/>
                </a:highlight>
                <a:latin typeface="Montserrat"/>
                <a:ea typeface="Montserrat"/>
                <a:cs typeface="Montserrat"/>
                <a:sym typeface="Montserrat"/>
              </a:rPr>
              <a:t>case study</a:t>
            </a:r>
            <a:endParaRPr sz="4800">
              <a:solidFill>
                <a:schemeClr val="dk1"/>
              </a:solidFill>
              <a:latin typeface="Montserrat"/>
              <a:ea typeface="Montserrat"/>
              <a:cs typeface="Montserrat"/>
              <a:sym typeface="Montserrat"/>
            </a:endParaRPr>
          </a:p>
        </p:txBody>
      </p:sp>
      <p:pic>
        <p:nvPicPr>
          <p:cNvPr id="1115" name="Google Shape;1115;p144"/>
          <p:cNvPicPr preferRelativeResize="0"/>
          <p:nvPr/>
        </p:nvPicPr>
        <p:blipFill>
          <a:blip r:embed="rId3">
            <a:alphaModFix/>
          </a:blip>
          <a:stretch>
            <a:fillRect/>
          </a:stretch>
        </p:blipFill>
        <p:spPr>
          <a:xfrm>
            <a:off x="10492001" y="6559822"/>
            <a:ext cx="853151" cy="298175"/>
          </a:xfrm>
          <a:prstGeom prst="rect">
            <a:avLst/>
          </a:prstGeom>
          <a:noFill/>
          <a:ln>
            <a:noFill/>
          </a:ln>
        </p:spPr>
      </p:pic>
      <p:pic>
        <p:nvPicPr>
          <p:cNvPr id="1116" name="Google Shape;1116;p144"/>
          <p:cNvPicPr preferRelativeResize="0"/>
          <p:nvPr/>
        </p:nvPicPr>
        <p:blipFill>
          <a:blip r:embed="rId4">
            <a:alphaModFix/>
          </a:blip>
          <a:stretch>
            <a:fillRect/>
          </a:stretch>
        </p:blipFill>
        <p:spPr>
          <a:xfrm>
            <a:off x="11323412" y="6577501"/>
            <a:ext cx="690801" cy="264849"/>
          </a:xfrm>
          <a:prstGeom prst="rect">
            <a:avLst/>
          </a:prstGeom>
          <a:solidFill>
            <a:srgbClr val="FFFFFF"/>
          </a:solidFill>
          <a:ln>
            <a:noFill/>
          </a:ln>
        </p:spPr>
      </p:pic>
      <p:sp>
        <p:nvSpPr>
          <p:cNvPr id="1117" name="Google Shape;1117;p144"/>
          <p:cNvSpPr txBox="1"/>
          <p:nvPr/>
        </p:nvSpPr>
        <p:spPr>
          <a:xfrm>
            <a:off x="6386367" y="3800851"/>
            <a:ext cx="4958800" cy="1354176"/>
          </a:xfrm>
          <a:prstGeom prst="rect">
            <a:avLst/>
          </a:prstGeom>
          <a:noFill/>
          <a:ln>
            <a:noFill/>
          </a:ln>
        </p:spPr>
        <p:txBody>
          <a:bodyPr spcFirstLastPara="1" wrap="square" lIns="121900" tIns="121900" rIns="121900" bIns="121900" anchor="t" anchorCtr="0">
            <a:spAutoFit/>
          </a:bodyPr>
          <a:lstStyle/>
          <a:p>
            <a:r>
              <a:rPr lang="en" sz="2400">
                <a:solidFill>
                  <a:schemeClr val="dk1"/>
                </a:solidFill>
                <a:highlight>
                  <a:srgbClr val="FFFFFF"/>
                </a:highlight>
                <a:latin typeface="Montserrat"/>
                <a:ea typeface="Montserrat"/>
                <a:cs typeface="Montserrat"/>
                <a:sym typeface="Montserrat"/>
              </a:rPr>
              <a:t>BESS turns rooftop solar from a tariff hedge into a flexible clean-energy asset.</a:t>
            </a:r>
            <a:endParaRPr sz="2400">
              <a:solidFill>
                <a:schemeClr val="dk1"/>
              </a:solidFill>
              <a:highlight>
                <a:srgbClr val="FFFFFF"/>
              </a:highlight>
              <a:latin typeface="Montserrat"/>
              <a:ea typeface="Montserrat"/>
              <a:cs typeface="Montserrat"/>
              <a:sym typeface="Montserrat"/>
            </a:endParaRPr>
          </a:p>
        </p:txBody>
      </p:sp>
      <p:pic>
        <p:nvPicPr>
          <p:cNvPr id="1118" name="Google Shape;1118;p144" title="Gemini_Generated_Image_y0zrcay0zrcay0zr.png"/>
          <p:cNvPicPr preferRelativeResize="0"/>
          <p:nvPr/>
        </p:nvPicPr>
        <p:blipFill rotWithShape="1">
          <a:blip r:embed="rId5">
            <a:alphaModFix/>
          </a:blip>
          <a:srcRect t="16363" b="16356"/>
          <a:stretch/>
        </p:blipFill>
        <p:spPr>
          <a:xfrm>
            <a:off x="1" y="1"/>
            <a:ext cx="5688799" cy="6858001"/>
          </a:xfrm>
          <a:prstGeom prst="rect">
            <a:avLst/>
          </a:prstGeom>
          <a:noFill/>
          <a:ln>
            <a:noFill/>
          </a:ln>
        </p:spPr>
      </p:pic>
      <p:sp>
        <p:nvSpPr>
          <p:cNvPr id="1119" name="Google Shape;1119;p144"/>
          <p:cNvSpPr/>
          <p:nvPr/>
        </p:nvSpPr>
        <p:spPr>
          <a:xfrm>
            <a:off x="0" y="0"/>
            <a:ext cx="5688800" cy="6858000"/>
          </a:xfrm>
          <a:prstGeom prst="rect">
            <a:avLst/>
          </a:prstGeom>
          <a:solidFill>
            <a:srgbClr val="1B786E">
              <a:alpha val="44299"/>
            </a:srgbClr>
          </a:solidFill>
          <a:ln>
            <a:noFill/>
          </a:ln>
        </p:spPr>
        <p:txBody>
          <a:bodyPr spcFirstLastPara="1" wrap="square" lIns="121900" tIns="121900" rIns="121900" bIns="121900" anchor="ctr" anchorCtr="0">
            <a:noAutofit/>
          </a:bodyPr>
          <a:lstStyle/>
          <a:p>
            <a:pPr algn="ctr"/>
            <a:endParaRPr sz="2400"/>
          </a:p>
        </p:txBody>
      </p:sp>
      <p:sp>
        <p:nvSpPr>
          <p:cNvPr id="1120" name="Google Shape;1120;p144"/>
          <p:cNvSpPr/>
          <p:nvPr/>
        </p:nvSpPr>
        <p:spPr>
          <a:xfrm rot="10800000" flipH="1">
            <a:off x="4008400" y="0"/>
            <a:ext cx="2751600" cy="2566400"/>
          </a:xfrm>
          <a:prstGeom prst="triangle">
            <a:avLst>
              <a:gd name="adj" fmla="val 50000"/>
            </a:avLst>
          </a:prstGeom>
          <a:solidFill>
            <a:srgbClr val="112A56">
              <a:alpha val="74049"/>
            </a:srgbClr>
          </a:solidFill>
          <a:ln>
            <a:noFill/>
          </a:ln>
        </p:spPr>
        <p:txBody>
          <a:bodyPr spcFirstLastPara="1" wrap="square" lIns="121900" tIns="121900" rIns="121900" bIns="121900" anchor="ctr" anchorCtr="0">
            <a:noAutofit/>
          </a:bodyPr>
          <a:lstStyle/>
          <a:p>
            <a:pPr algn="ctr"/>
            <a:endParaRPr sz="2400"/>
          </a:p>
        </p:txBody>
      </p:sp>
      <p:sp>
        <p:nvSpPr>
          <p:cNvPr id="1121" name="Google Shape;1121;p144"/>
          <p:cNvSpPr/>
          <p:nvPr/>
        </p:nvSpPr>
        <p:spPr>
          <a:xfrm>
            <a:off x="1653969" y="1704467"/>
            <a:ext cx="5524800" cy="5153600"/>
          </a:xfrm>
          <a:prstGeom prst="triangle">
            <a:avLst>
              <a:gd name="adj" fmla="val 50000"/>
            </a:avLst>
          </a:prstGeom>
          <a:solidFill>
            <a:srgbClr val="237166">
              <a:alpha val="81010"/>
            </a:srgbClr>
          </a:solidFill>
          <a:ln>
            <a:noFill/>
          </a:ln>
        </p:spPr>
        <p:txBody>
          <a:bodyPr spcFirstLastPara="1" wrap="square" lIns="121900" tIns="121900" rIns="121900" bIns="121900" anchor="ctr" anchorCtr="0">
            <a:noAutofit/>
          </a:bodyPr>
          <a:lstStyle/>
          <a:p>
            <a:pPr algn="ct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grpSp>
        <p:nvGrpSpPr>
          <p:cNvPr id="1126" name="Google Shape;1126;p145"/>
          <p:cNvGrpSpPr/>
          <p:nvPr/>
        </p:nvGrpSpPr>
        <p:grpSpPr>
          <a:xfrm>
            <a:off x="9893031" y="6440969"/>
            <a:ext cx="2147396" cy="417033"/>
            <a:chOff x="7472673" y="4830726"/>
            <a:chExt cx="1610547" cy="312775"/>
          </a:xfrm>
        </p:grpSpPr>
        <p:pic>
          <p:nvPicPr>
            <p:cNvPr id="1127" name="Google Shape;1127;p145"/>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28" name="Google Shape;1128;p145"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129" name="Google Shape;1129;p145"/>
          <p:cNvGrpSpPr/>
          <p:nvPr/>
        </p:nvGrpSpPr>
        <p:grpSpPr>
          <a:xfrm>
            <a:off x="319989" y="85138"/>
            <a:ext cx="11637400" cy="994663"/>
            <a:chOff x="236700" y="63853"/>
            <a:chExt cx="8728050" cy="745997"/>
          </a:xfrm>
        </p:grpSpPr>
        <p:sp>
          <p:nvSpPr>
            <p:cNvPr id="1130" name="Google Shape;1130;p145"/>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131" name="Google Shape;1131;p14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132" name="Google Shape;1132;p14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133" name="Google Shape;1133;p14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134" name="Google Shape;1134;p14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135" name="Google Shape;1135;p14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136" name="Google Shape;1136;p14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137" name="Google Shape;1137;p145"/>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One Factory, Four Procurement Strategies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138" name="Google Shape;1138;p145"/>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139" name="Google Shape;1139;p145"/>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pic>
        <p:nvPicPr>
          <p:cNvPr id="1140" name="Google Shape;1140;p145"/>
          <p:cNvPicPr preferRelativeResize="0"/>
          <p:nvPr/>
        </p:nvPicPr>
        <p:blipFill rotWithShape="1">
          <a:blip r:embed="rId5">
            <a:alphaModFix/>
          </a:blip>
          <a:srcRect t="5069"/>
          <a:stretch/>
        </p:blipFill>
        <p:spPr>
          <a:xfrm>
            <a:off x="794476" y="4081100"/>
            <a:ext cx="3936589" cy="2422533"/>
          </a:xfrm>
          <a:prstGeom prst="rect">
            <a:avLst/>
          </a:prstGeom>
          <a:noFill/>
          <a:ln>
            <a:noFill/>
          </a:ln>
        </p:spPr>
      </p:pic>
      <p:graphicFrame>
        <p:nvGraphicFramePr>
          <p:cNvPr id="1141" name="Google Shape;1141;p145"/>
          <p:cNvGraphicFramePr/>
          <p:nvPr/>
        </p:nvGraphicFramePr>
        <p:xfrm>
          <a:off x="339101" y="1336033"/>
          <a:ext cx="5082300" cy="2499360"/>
        </p:xfrm>
        <a:graphic>
          <a:graphicData uri="http://schemas.openxmlformats.org/drawingml/2006/table">
            <a:tbl>
              <a:tblPr>
                <a:noFill/>
              </a:tblPr>
              <a:tblGrid>
                <a:gridCol w="2508100">
                  <a:extLst>
                    <a:ext uri="{9D8B030D-6E8A-4147-A177-3AD203B41FA5}">
                      <a16:colId xmlns:a16="http://schemas.microsoft.com/office/drawing/2014/main" val="20000"/>
                    </a:ext>
                  </a:extLst>
                </a:gridCol>
                <a:gridCol w="2574200">
                  <a:extLst>
                    <a:ext uri="{9D8B030D-6E8A-4147-A177-3AD203B41FA5}">
                      <a16:colId xmlns:a16="http://schemas.microsoft.com/office/drawing/2014/main" val="20001"/>
                    </a:ext>
                  </a:extLst>
                </a:gridCol>
              </a:tblGrid>
              <a:tr h="254000">
                <a:tc>
                  <a:txBody>
                    <a:bodyPr/>
                    <a:lstStyle/>
                    <a:p>
                      <a:pPr marL="0" lvl="0" indent="0" algn="l" rtl="0">
                        <a:lnSpc>
                          <a:spcPct val="100000"/>
                        </a:lnSpc>
                        <a:spcBef>
                          <a:spcPts val="0"/>
                        </a:spcBef>
                        <a:spcAft>
                          <a:spcPts val="0"/>
                        </a:spcAft>
                        <a:buNone/>
                      </a:pPr>
                      <a:r>
                        <a:rPr lang="en" sz="1300" b="1">
                          <a:solidFill>
                            <a:schemeClr val="lt1"/>
                          </a:solidFill>
                          <a:latin typeface="Montserrat"/>
                          <a:ea typeface="Montserrat"/>
                          <a:cs typeface="Montserrat"/>
                          <a:sym typeface="Montserrat"/>
                        </a:rPr>
                        <a:t>Metric</a:t>
                      </a:r>
                      <a:endParaRPr sz="1300" b="1">
                        <a:solidFill>
                          <a:schemeClr val="lt1"/>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035D4E"/>
                    </a:solidFill>
                  </a:tcPr>
                </a:tc>
                <a:tc>
                  <a:txBody>
                    <a:bodyPr/>
                    <a:lstStyle/>
                    <a:p>
                      <a:pPr marL="0" lvl="0" indent="0" algn="l" rtl="0">
                        <a:lnSpc>
                          <a:spcPct val="100000"/>
                        </a:lnSpc>
                        <a:spcBef>
                          <a:spcPts val="0"/>
                        </a:spcBef>
                        <a:spcAft>
                          <a:spcPts val="0"/>
                        </a:spcAft>
                        <a:buNone/>
                      </a:pPr>
                      <a:r>
                        <a:rPr lang="en" sz="1300" b="1">
                          <a:solidFill>
                            <a:schemeClr val="lt1"/>
                          </a:solidFill>
                          <a:latin typeface="Montserrat"/>
                          <a:ea typeface="Montserrat"/>
                          <a:cs typeface="Montserrat"/>
                          <a:sym typeface="Montserrat"/>
                        </a:rPr>
                        <a:t>Value</a:t>
                      </a:r>
                      <a:endParaRPr sz="1300" b="1">
                        <a:solidFill>
                          <a:schemeClr val="lt1"/>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solidFill>
                      <a:srgbClr val="035D4E"/>
                    </a:solidFill>
                  </a:tcPr>
                </a:tc>
                <a:extLst>
                  <a:ext uri="{0D108BD9-81ED-4DB2-BD59-A6C34878D82A}">
                    <a16:rowId xmlns:a16="http://schemas.microsoft.com/office/drawing/2014/main" val="10000"/>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Annual electricity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9,750 MWh (~9.75 GWh)</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Peak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2,430 kW (2.4 MW)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Average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1,110 kW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Nighttime baseload capacity</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900 kW</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Load Factor</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0.46</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5"/>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Operating mode</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Almost 24/7, continuous year-round</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6"/>
                  </a:ext>
                </a:extLst>
              </a:tr>
              <a:tr h="37592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 daytime consumption (6 AM – 6 PM)</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54%</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7"/>
                  </a:ext>
                </a:extLst>
              </a:tr>
              <a:tr h="21336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 nighttime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 46%</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8"/>
                  </a:ext>
                </a:extLst>
              </a:tr>
              <a:tr h="375920">
                <a:tc>
                  <a:txBody>
                    <a:bodyPr/>
                    <a:lstStyle/>
                    <a:p>
                      <a:pPr marL="0" lvl="0" indent="0" algn="l" rtl="0">
                        <a:lnSpc>
                          <a:spcPct val="100000"/>
                        </a:lnSpc>
                        <a:spcBef>
                          <a:spcPts val="0"/>
                        </a:spcBef>
                        <a:spcAft>
                          <a:spcPts val="0"/>
                        </a:spcAft>
                        <a:buNone/>
                      </a:pPr>
                      <a:r>
                        <a:rPr lang="en" sz="1100" b="1">
                          <a:solidFill>
                            <a:srgbClr val="595959"/>
                          </a:solidFill>
                          <a:latin typeface="Montserrat"/>
                          <a:ea typeface="Montserrat"/>
                          <a:cs typeface="Montserrat"/>
                          <a:sym typeface="Montserrat"/>
                        </a:rPr>
                        <a:t>Monthly consumption</a:t>
                      </a:r>
                      <a:endParaRPr sz="1100" b="1">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tc>
                  <a:txBody>
                    <a:bodyPr/>
                    <a:lstStyle/>
                    <a:p>
                      <a:pPr marL="0" lvl="0" indent="0" algn="l" rtl="0">
                        <a:lnSpc>
                          <a:spcPct val="100000"/>
                        </a:lnSpc>
                        <a:spcBef>
                          <a:spcPts val="0"/>
                        </a:spcBef>
                        <a:spcAft>
                          <a:spcPts val="0"/>
                        </a:spcAft>
                        <a:buNone/>
                      </a:pPr>
                      <a:r>
                        <a:rPr lang="en" sz="1100">
                          <a:solidFill>
                            <a:srgbClr val="595959"/>
                          </a:solidFill>
                          <a:latin typeface="Montserrat"/>
                          <a:ea typeface="Montserrat"/>
                          <a:cs typeface="Montserrat"/>
                          <a:sym typeface="Montserrat"/>
                        </a:rPr>
                        <a:t>Fairly consistent, ~690–860 MWh/month</a:t>
                      </a:r>
                      <a:endParaRPr sz="1100">
                        <a:solidFill>
                          <a:srgbClr val="595959"/>
                        </a:solidFill>
                        <a:latin typeface="Montserrat"/>
                        <a:ea typeface="Montserrat"/>
                        <a:cs typeface="Montserrat"/>
                        <a:sym typeface="Montserrat"/>
                      </a:endParaRPr>
                    </a:p>
                  </a:txBody>
                  <a:tcPr marL="38100" marR="38100" marT="25400" marB="25400" anchor="b">
                    <a:lnL w="9525" cap="flat" cmpd="sng">
                      <a:solidFill>
                        <a:srgbClr val="C4C7C5"/>
                      </a:solidFill>
                      <a:prstDash val="solid"/>
                      <a:round/>
                      <a:headEnd type="none" w="sm" len="sm"/>
                      <a:tailEnd type="none" w="sm" len="sm"/>
                    </a:lnL>
                    <a:lnR w="9525" cap="flat" cmpd="sng">
                      <a:solidFill>
                        <a:srgbClr val="C4C7C5"/>
                      </a:solidFill>
                      <a:prstDash val="solid"/>
                      <a:round/>
                      <a:headEnd type="none" w="sm" len="sm"/>
                      <a:tailEnd type="none" w="sm" len="sm"/>
                    </a:lnR>
                    <a:lnT w="9525" cap="flat" cmpd="sng">
                      <a:solidFill>
                        <a:srgbClr val="C4C7C5"/>
                      </a:solidFill>
                      <a:prstDash val="solid"/>
                      <a:round/>
                      <a:headEnd type="none" w="sm" len="sm"/>
                      <a:tailEnd type="none" w="sm" len="sm"/>
                    </a:lnT>
                    <a:lnB w="9525" cap="flat" cmpd="sng">
                      <a:solidFill>
                        <a:srgbClr val="C4C7C5"/>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1142" name="Google Shape;1142;p145"/>
          <p:cNvSpPr/>
          <p:nvPr/>
        </p:nvSpPr>
        <p:spPr>
          <a:xfrm>
            <a:off x="647200" y="6556300"/>
            <a:ext cx="4280000" cy="1784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Factory A, Vietnam, 22-110kV tariff, 2025 load profile</a:t>
            </a:r>
            <a:endParaRPr sz="1200" b="1">
              <a:latin typeface="Montserrat"/>
              <a:ea typeface="Montserrat"/>
              <a:cs typeface="Montserrat"/>
              <a:sym typeface="Montserrat"/>
            </a:endParaRPr>
          </a:p>
        </p:txBody>
      </p:sp>
      <p:sp>
        <p:nvSpPr>
          <p:cNvPr id="1143" name="Google Shape;1143;p145"/>
          <p:cNvSpPr txBox="1"/>
          <p:nvPr/>
        </p:nvSpPr>
        <p:spPr>
          <a:xfrm>
            <a:off x="5754033" y="1318000"/>
            <a:ext cx="6008800" cy="220381"/>
          </a:xfrm>
          <a:prstGeom prst="rect">
            <a:avLst/>
          </a:prstGeom>
          <a:noFill/>
          <a:ln>
            <a:noFill/>
          </a:ln>
        </p:spPr>
        <p:txBody>
          <a:bodyPr spcFirstLastPara="1" wrap="square" lIns="0" tIns="0" rIns="0" bIns="0" anchor="t" anchorCtr="0">
            <a:spAutoFit/>
          </a:bodyPr>
          <a:lstStyle/>
          <a:p>
            <a:r>
              <a:rPr lang="en" sz="1432" b="1">
                <a:solidFill>
                  <a:srgbClr val="127A7A"/>
                </a:solidFill>
                <a:latin typeface="Montserrat"/>
                <a:ea typeface="Montserrat"/>
                <a:cs typeface="Montserrat"/>
                <a:sym typeface="Montserrat"/>
              </a:rPr>
              <a:t>FOUR SCENARIOS — EACH INDEPENDENTLY SIZE-OPTIMIZED</a:t>
            </a:r>
            <a:endParaRPr sz="1715">
              <a:latin typeface="Montserrat"/>
              <a:ea typeface="Montserrat"/>
              <a:cs typeface="Montserrat"/>
              <a:sym typeface="Montserrat"/>
            </a:endParaRPr>
          </a:p>
        </p:txBody>
      </p:sp>
      <p:sp>
        <p:nvSpPr>
          <p:cNvPr id="1144" name="Google Shape;1144;p145"/>
          <p:cNvSpPr/>
          <p:nvPr/>
        </p:nvSpPr>
        <p:spPr>
          <a:xfrm>
            <a:off x="5754033" y="1899100"/>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45" name="Google Shape;1145;p145"/>
          <p:cNvSpPr/>
          <p:nvPr/>
        </p:nvSpPr>
        <p:spPr>
          <a:xfrm>
            <a:off x="5754033" y="1899100"/>
            <a:ext cx="3004400" cy="64000"/>
          </a:xfrm>
          <a:prstGeom prst="rect">
            <a:avLst/>
          </a:prstGeom>
          <a:solidFill>
            <a:srgbClr val="2E9E5B"/>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46" name="Google Shape;1146;p145"/>
          <p:cNvSpPr txBox="1"/>
          <p:nvPr/>
        </p:nvSpPr>
        <p:spPr>
          <a:xfrm>
            <a:off x="5942881" y="2059232"/>
            <a:ext cx="2661200" cy="178382"/>
          </a:xfrm>
          <a:prstGeom prst="rect">
            <a:avLst/>
          </a:prstGeom>
          <a:noFill/>
          <a:ln>
            <a:noFill/>
          </a:ln>
        </p:spPr>
        <p:txBody>
          <a:bodyPr spcFirstLastPara="1" wrap="square" lIns="0" tIns="0" rIns="0" bIns="0" anchor="t" anchorCtr="0">
            <a:spAutoFit/>
          </a:bodyPr>
          <a:lstStyle/>
          <a:p>
            <a:r>
              <a:rPr lang="en" sz="1159" b="1">
                <a:solidFill>
                  <a:srgbClr val="2E9E5B"/>
                </a:solidFill>
                <a:latin typeface="Montserrat"/>
                <a:ea typeface="Montserrat"/>
                <a:cs typeface="Montserrat"/>
                <a:sym typeface="Montserrat"/>
              </a:rPr>
              <a:t>CASE 4</a:t>
            </a:r>
            <a:endParaRPr sz="1581">
              <a:latin typeface="Montserrat"/>
              <a:ea typeface="Montserrat"/>
              <a:cs typeface="Montserrat"/>
              <a:sym typeface="Montserrat"/>
            </a:endParaRPr>
          </a:p>
        </p:txBody>
      </p:sp>
      <p:sp>
        <p:nvSpPr>
          <p:cNvPr id="1147" name="Google Shape;1147;p145"/>
          <p:cNvSpPr txBox="1"/>
          <p:nvPr/>
        </p:nvSpPr>
        <p:spPr>
          <a:xfrm>
            <a:off x="5942881" y="2251390"/>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Only</a:t>
            </a:r>
            <a:endParaRPr sz="1581">
              <a:latin typeface="Montserrat"/>
              <a:ea typeface="Montserrat"/>
              <a:cs typeface="Montserrat"/>
              <a:sym typeface="Montserrat"/>
            </a:endParaRPr>
          </a:p>
        </p:txBody>
      </p:sp>
      <p:sp>
        <p:nvSpPr>
          <p:cNvPr id="1148" name="Google Shape;1148;p145"/>
          <p:cNvSpPr txBox="1"/>
          <p:nvPr/>
        </p:nvSpPr>
        <p:spPr>
          <a:xfrm>
            <a:off x="5942881" y="2587668"/>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TOU (Decision 963). PV only - no storage. The conventional rooftop benchmark.</a:t>
            </a:r>
            <a:endParaRPr sz="1581">
              <a:latin typeface="Montserrat"/>
              <a:ea typeface="Montserrat"/>
              <a:cs typeface="Montserrat"/>
              <a:sym typeface="Montserrat"/>
            </a:endParaRPr>
          </a:p>
        </p:txBody>
      </p:sp>
      <p:sp>
        <p:nvSpPr>
          <p:cNvPr id="1149" name="Google Shape;1149;p145"/>
          <p:cNvSpPr/>
          <p:nvPr/>
        </p:nvSpPr>
        <p:spPr>
          <a:xfrm>
            <a:off x="8990201" y="1899100"/>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0" name="Google Shape;1150;p145"/>
          <p:cNvSpPr/>
          <p:nvPr/>
        </p:nvSpPr>
        <p:spPr>
          <a:xfrm>
            <a:off x="8990201" y="1899100"/>
            <a:ext cx="3004400" cy="64000"/>
          </a:xfrm>
          <a:prstGeom prst="rect">
            <a:avLst/>
          </a:prstGeom>
          <a:solidFill>
            <a:srgbClr val="127A7A"/>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1" name="Google Shape;1151;p145"/>
          <p:cNvSpPr txBox="1"/>
          <p:nvPr/>
        </p:nvSpPr>
        <p:spPr>
          <a:xfrm>
            <a:off x="9179049" y="2059232"/>
            <a:ext cx="2661200" cy="178382"/>
          </a:xfrm>
          <a:prstGeom prst="rect">
            <a:avLst/>
          </a:prstGeom>
          <a:noFill/>
          <a:ln>
            <a:noFill/>
          </a:ln>
        </p:spPr>
        <p:txBody>
          <a:bodyPr spcFirstLastPara="1" wrap="square" lIns="0" tIns="0" rIns="0" bIns="0" anchor="t" anchorCtr="0">
            <a:spAutoFit/>
          </a:bodyPr>
          <a:lstStyle/>
          <a:p>
            <a:r>
              <a:rPr lang="en" sz="1159" b="1">
                <a:solidFill>
                  <a:srgbClr val="127A7A"/>
                </a:solidFill>
                <a:latin typeface="Montserrat"/>
                <a:ea typeface="Montserrat"/>
                <a:cs typeface="Montserrat"/>
                <a:sym typeface="Montserrat"/>
              </a:rPr>
              <a:t>CASE 1</a:t>
            </a:r>
            <a:endParaRPr sz="1581">
              <a:latin typeface="Montserrat"/>
              <a:ea typeface="Montserrat"/>
              <a:cs typeface="Montserrat"/>
              <a:sym typeface="Montserrat"/>
            </a:endParaRPr>
          </a:p>
        </p:txBody>
      </p:sp>
      <p:sp>
        <p:nvSpPr>
          <p:cNvPr id="1152" name="Google Shape;1152;p145"/>
          <p:cNvSpPr txBox="1"/>
          <p:nvPr/>
        </p:nvSpPr>
        <p:spPr>
          <a:xfrm>
            <a:off x="9179049" y="2251390"/>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53" name="Google Shape;1153;p145"/>
          <p:cNvSpPr txBox="1"/>
          <p:nvPr/>
        </p:nvSpPr>
        <p:spPr>
          <a:xfrm>
            <a:off x="9179049" y="2587668"/>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Today's tariff (current TOU). Integrated PV + battery, the baseline integrated system.</a:t>
            </a:r>
            <a:endParaRPr sz="1581">
              <a:latin typeface="Montserrat"/>
              <a:ea typeface="Montserrat"/>
              <a:cs typeface="Montserrat"/>
              <a:sym typeface="Montserrat"/>
            </a:endParaRPr>
          </a:p>
        </p:txBody>
      </p:sp>
      <p:sp>
        <p:nvSpPr>
          <p:cNvPr id="1154" name="Google Shape;1154;p145"/>
          <p:cNvSpPr/>
          <p:nvPr/>
        </p:nvSpPr>
        <p:spPr>
          <a:xfrm>
            <a:off x="5754033" y="3484404"/>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5" name="Google Shape;1155;p145"/>
          <p:cNvSpPr/>
          <p:nvPr/>
        </p:nvSpPr>
        <p:spPr>
          <a:xfrm>
            <a:off x="5754033" y="3484404"/>
            <a:ext cx="3004400" cy="64000"/>
          </a:xfrm>
          <a:prstGeom prst="rect">
            <a:avLst/>
          </a:prstGeom>
          <a:solidFill>
            <a:srgbClr val="127A7A"/>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56" name="Google Shape;1156;p145"/>
          <p:cNvSpPr txBox="1"/>
          <p:nvPr/>
        </p:nvSpPr>
        <p:spPr>
          <a:xfrm>
            <a:off x="5942881" y="3644536"/>
            <a:ext cx="2661200" cy="178382"/>
          </a:xfrm>
          <a:prstGeom prst="rect">
            <a:avLst/>
          </a:prstGeom>
          <a:noFill/>
          <a:ln>
            <a:noFill/>
          </a:ln>
        </p:spPr>
        <p:txBody>
          <a:bodyPr spcFirstLastPara="1" wrap="square" lIns="0" tIns="0" rIns="0" bIns="0" anchor="t" anchorCtr="0">
            <a:spAutoFit/>
          </a:bodyPr>
          <a:lstStyle/>
          <a:p>
            <a:r>
              <a:rPr lang="en" sz="1159" b="1">
                <a:solidFill>
                  <a:srgbClr val="127A7A"/>
                </a:solidFill>
                <a:latin typeface="Montserrat"/>
                <a:ea typeface="Montserrat"/>
                <a:cs typeface="Montserrat"/>
                <a:sym typeface="Montserrat"/>
              </a:rPr>
              <a:t>CASE 2</a:t>
            </a:r>
            <a:endParaRPr sz="1581">
              <a:latin typeface="Montserrat"/>
              <a:ea typeface="Montserrat"/>
              <a:cs typeface="Montserrat"/>
              <a:sym typeface="Montserrat"/>
            </a:endParaRPr>
          </a:p>
        </p:txBody>
      </p:sp>
      <p:sp>
        <p:nvSpPr>
          <p:cNvPr id="1157" name="Google Shape;1157;p145"/>
          <p:cNvSpPr txBox="1"/>
          <p:nvPr/>
        </p:nvSpPr>
        <p:spPr>
          <a:xfrm>
            <a:off x="5942881" y="3836694"/>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58" name="Google Shape;1158;p145"/>
          <p:cNvSpPr txBox="1"/>
          <p:nvPr/>
        </p:nvSpPr>
        <p:spPr>
          <a:xfrm>
            <a:off x="5942881" y="4172972"/>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evening-peak TOU (Decision 963, 17:30–22:30). Integrated PV + battery.</a:t>
            </a:r>
            <a:endParaRPr sz="1581">
              <a:latin typeface="Montserrat"/>
              <a:ea typeface="Montserrat"/>
              <a:cs typeface="Montserrat"/>
              <a:sym typeface="Montserrat"/>
            </a:endParaRPr>
          </a:p>
        </p:txBody>
      </p:sp>
      <p:sp>
        <p:nvSpPr>
          <p:cNvPr id="1159" name="Google Shape;1159;p145"/>
          <p:cNvSpPr/>
          <p:nvPr/>
        </p:nvSpPr>
        <p:spPr>
          <a:xfrm>
            <a:off x="8990201" y="3484404"/>
            <a:ext cx="3004400" cy="1425200"/>
          </a:xfrm>
          <a:prstGeom prst="rect">
            <a:avLst/>
          </a:prstGeom>
          <a:solidFill>
            <a:srgbClr val="F7F9FA"/>
          </a:solidFill>
          <a:ln w="8950" cap="flat" cmpd="sng">
            <a:solidFill>
              <a:srgbClr val="DDE4E9"/>
            </a:solidFill>
            <a:prstDash val="solid"/>
            <a:round/>
            <a:headEnd type="none" w="sm" len="sm"/>
            <a:tailEnd type="none" w="sm" len="sm"/>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60" name="Google Shape;1160;p145"/>
          <p:cNvSpPr/>
          <p:nvPr/>
        </p:nvSpPr>
        <p:spPr>
          <a:xfrm>
            <a:off x="8990201" y="3484404"/>
            <a:ext cx="3004400" cy="64000"/>
          </a:xfrm>
          <a:prstGeom prst="rect">
            <a:avLst/>
          </a:prstGeom>
          <a:solidFill>
            <a:srgbClr val="E09A2B"/>
          </a:solidFill>
          <a:ln>
            <a:noFill/>
          </a:ln>
        </p:spPr>
        <p:txBody>
          <a:bodyPr spcFirstLastPara="1" wrap="square" lIns="85833" tIns="42900" rIns="85833" bIns="42900" anchor="ctr" anchorCtr="0">
            <a:noAutofit/>
          </a:bodyPr>
          <a:lstStyle/>
          <a:p>
            <a:pPr algn="ctr"/>
            <a:endParaRPr sz="1956">
              <a:solidFill>
                <a:srgbClr val="000000"/>
              </a:solidFill>
              <a:latin typeface="Cabin"/>
              <a:ea typeface="Cabin"/>
              <a:cs typeface="Cabin"/>
              <a:sym typeface="Cabin"/>
            </a:endParaRPr>
          </a:p>
        </p:txBody>
      </p:sp>
      <p:sp>
        <p:nvSpPr>
          <p:cNvPr id="1161" name="Google Shape;1161;p145"/>
          <p:cNvSpPr txBox="1"/>
          <p:nvPr/>
        </p:nvSpPr>
        <p:spPr>
          <a:xfrm>
            <a:off x="9179049" y="3644536"/>
            <a:ext cx="2661200" cy="178382"/>
          </a:xfrm>
          <a:prstGeom prst="rect">
            <a:avLst/>
          </a:prstGeom>
          <a:noFill/>
          <a:ln>
            <a:noFill/>
          </a:ln>
        </p:spPr>
        <p:txBody>
          <a:bodyPr spcFirstLastPara="1" wrap="square" lIns="0" tIns="0" rIns="0" bIns="0" anchor="t" anchorCtr="0">
            <a:spAutoFit/>
          </a:bodyPr>
          <a:lstStyle/>
          <a:p>
            <a:r>
              <a:rPr lang="en" sz="1159" b="1">
                <a:solidFill>
                  <a:srgbClr val="E09A2B"/>
                </a:solidFill>
                <a:latin typeface="Montserrat"/>
                <a:ea typeface="Montserrat"/>
                <a:cs typeface="Montserrat"/>
                <a:sym typeface="Montserrat"/>
              </a:rPr>
              <a:t>CASE 3</a:t>
            </a:r>
            <a:endParaRPr sz="1581">
              <a:latin typeface="Montserrat"/>
              <a:ea typeface="Montserrat"/>
              <a:cs typeface="Montserrat"/>
              <a:sym typeface="Montserrat"/>
            </a:endParaRPr>
          </a:p>
        </p:txBody>
      </p:sp>
      <p:sp>
        <p:nvSpPr>
          <p:cNvPr id="1162" name="Google Shape;1162;p145"/>
          <p:cNvSpPr txBox="1"/>
          <p:nvPr/>
        </p:nvSpPr>
        <p:spPr>
          <a:xfrm>
            <a:off x="9179049" y="3836694"/>
            <a:ext cx="2661200" cy="272254"/>
          </a:xfrm>
          <a:prstGeom prst="rect">
            <a:avLst/>
          </a:prstGeom>
          <a:noFill/>
          <a:ln>
            <a:noFill/>
          </a:ln>
        </p:spPr>
        <p:txBody>
          <a:bodyPr spcFirstLastPara="1" wrap="square" lIns="0" tIns="0" rIns="0" bIns="0" anchor="t" anchorCtr="0">
            <a:spAutoFit/>
          </a:bodyPr>
          <a:lstStyle/>
          <a:p>
            <a:r>
              <a:rPr lang="en" sz="1769" b="1">
                <a:solidFill>
                  <a:srgbClr val="0F293D"/>
                </a:solidFill>
                <a:latin typeface="Montserrat"/>
                <a:ea typeface="Montserrat"/>
                <a:cs typeface="Montserrat"/>
                <a:sym typeface="Montserrat"/>
              </a:rPr>
              <a:t>Solar + BESS</a:t>
            </a:r>
            <a:endParaRPr sz="1581">
              <a:latin typeface="Montserrat"/>
              <a:ea typeface="Montserrat"/>
              <a:cs typeface="Montserrat"/>
              <a:sym typeface="Montserrat"/>
            </a:endParaRPr>
          </a:p>
        </p:txBody>
      </p:sp>
      <p:sp>
        <p:nvSpPr>
          <p:cNvPr id="1163" name="Google Shape;1163;p145"/>
          <p:cNvSpPr txBox="1"/>
          <p:nvPr/>
        </p:nvSpPr>
        <p:spPr>
          <a:xfrm>
            <a:off x="9179049" y="4172972"/>
            <a:ext cx="2644000" cy="600742"/>
          </a:xfrm>
          <a:prstGeom prst="rect">
            <a:avLst/>
          </a:prstGeom>
          <a:noFill/>
          <a:ln>
            <a:noFill/>
          </a:ln>
        </p:spPr>
        <p:txBody>
          <a:bodyPr spcFirstLastPara="1" wrap="square" lIns="0" tIns="0" rIns="0" bIns="0" anchor="t" anchorCtr="0">
            <a:spAutoFit/>
          </a:bodyPr>
          <a:lstStyle/>
          <a:p>
            <a:pPr>
              <a:lnSpc>
                <a:spcPct val="108000"/>
              </a:lnSpc>
            </a:pPr>
            <a:r>
              <a:rPr lang="en" sz="1205">
                <a:solidFill>
                  <a:srgbClr val="556677"/>
                </a:solidFill>
                <a:latin typeface="Montserrat"/>
                <a:ea typeface="Montserrat"/>
                <a:cs typeface="Montserrat"/>
                <a:sym typeface="Montserrat"/>
              </a:rPr>
              <a:t>New TOU + two-component capacity tariff (~209,459 VND/kW/mo). PV + battery.</a:t>
            </a:r>
            <a:endParaRPr sz="1581">
              <a:latin typeface="Montserrat"/>
              <a:ea typeface="Montserrat"/>
              <a:cs typeface="Montserrat"/>
              <a:sym typeface="Montserrat"/>
            </a:endParaRPr>
          </a:p>
        </p:txBody>
      </p:sp>
      <p:sp>
        <p:nvSpPr>
          <p:cNvPr id="1164" name="Google Shape;1164;p145"/>
          <p:cNvSpPr/>
          <p:nvPr/>
        </p:nvSpPr>
        <p:spPr>
          <a:xfrm>
            <a:off x="8998763" y="5219933"/>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25-year ESCO cash flow, USD-facing workbook outputs</a:t>
            </a:r>
            <a:endParaRPr sz="1200" b="1">
              <a:latin typeface="Montserrat"/>
              <a:ea typeface="Montserrat"/>
              <a:cs typeface="Montserrat"/>
              <a:sym typeface="Montserrat"/>
            </a:endParaRPr>
          </a:p>
        </p:txBody>
      </p:sp>
      <p:sp>
        <p:nvSpPr>
          <p:cNvPr id="1165" name="Google Shape;1165;p145"/>
          <p:cNvSpPr/>
          <p:nvPr/>
        </p:nvSpPr>
        <p:spPr>
          <a:xfrm>
            <a:off x="5754033" y="5217543"/>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70% debt, 8.5% interest, 10-year tenor, 10% owner discount rate</a:t>
            </a:r>
            <a:endParaRPr sz="1200" b="1">
              <a:latin typeface="Montserrat"/>
              <a:ea typeface="Montserrat"/>
              <a:cs typeface="Montserrat"/>
              <a:sym typeface="Montserrat"/>
            </a:endParaRPr>
          </a:p>
        </p:txBody>
      </p:sp>
      <p:sp>
        <p:nvSpPr>
          <p:cNvPr id="1166" name="Google Shape;1166;p145"/>
          <p:cNvSpPr/>
          <p:nvPr/>
        </p:nvSpPr>
        <p:spPr>
          <a:xfrm>
            <a:off x="9007429" y="5987480"/>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ESCO energy price = 90% of EVN time-specific energy tariff</a:t>
            </a:r>
            <a:endParaRPr sz="1200" b="1">
              <a:latin typeface="Montserrat"/>
              <a:ea typeface="Montserrat"/>
              <a:cs typeface="Montserrat"/>
              <a:sym typeface="Montserrat"/>
            </a:endParaRPr>
          </a:p>
        </p:txBody>
      </p:sp>
      <p:sp>
        <p:nvSpPr>
          <p:cNvPr id="1167" name="Google Shape;1167;p145"/>
          <p:cNvSpPr/>
          <p:nvPr/>
        </p:nvSpPr>
        <p:spPr>
          <a:xfrm>
            <a:off x="5771267" y="5982669"/>
            <a:ext cx="3004400" cy="457200"/>
          </a:xfrm>
          <a:prstGeom prst="rect">
            <a:avLst/>
          </a:prstGeom>
          <a:solidFill>
            <a:srgbClr val="000000">
              <a:alpha val="0"/>
            </a:srgbClr>
          </a:solidFill>
          <a:ln w="9525" cap="flat" cmpd="sng">
            <a:solidFill>
              <a:srgbClr val="000000">
                <a:alpha val="0"/>
              </a:srgbClr>
            </a:solidFill>
            <a:prstDash val="solid"/>
            <a:round/>
            <a:headEnd type="none" w="sm" len="sm"/>
            <a:tailEnd type="none" w="sm" len="sm"/>
          </a:ln>
        </p:spPr>
        <p:txBody>
          <a:bodyPr spcFirstLastPara="1" wrap="square" lIns="0" tIns="0" rIns="0" bIns="0" anchor="t" anchorCtr="0">
            <a:noAutofit/>
          </a:bodyPr>
          <a:lstStyle/>
          <a:p>
            <a:r>
              <a:rPr lang="en" sz="1200" b="1">
                <a:solidFill>
                  <a:srgbClr val="5D6D7E"/>
                </a:solidFill>
                <a:latin typeface="Montserrat"/>
                <a:ea typeface="Montserrat"/>
                <a:cs typeface="Montserrat"/>
                <a:sym typeface="Montserrat"/>
              </a:rPr>
              <a:t>• BESS grid charging disabled in all four cases</a:t>
            </a:r>
            <a:endParaRPr sz="1200" b="1">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grpSp>
        <p:nvGrpSpPr>
          <p:cNvPr id="1172" name="Google Shape;1172;p146"/>
          <p:cNvGrpSpPr/>
          <p:nvPr/>
        </p:nvGrpSpPr>
        <p:grpSpPr>
          <a:xfrm>
            <a:off x="9893031" y="6440969"/>
            <a:ext cx="2147396" cy="417033"/>
            <a:chOff x="7472673" y="4830726"/>
            <a:chExt cx="1610547" cy="312775"/>
          </a:xfrm>
        </p:grpSpPr>
        <p:pic>
          <p:nvPicPr>
            <p:cNvPr id="1173" name="Google Shape;1173;p146"/>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174" name="Google Shape;1174;p146"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175" name="Google Shape;1175;p146"/>
          <p:cNvGrpSpPr/>
          <p:nvPr/>
        </p:nvGrpSpPr>
        <p:grpSpPr>
          <a:xfrm>
            <a:off x="319989" y="85138"/>
            <a:ext cx="11637400" cy="994663"/>
            <a:chOff x="236700" y="63853"/>
            <a:chExt cx="8728050" cy="745997"/>
          </a:xfrm>
        </p:grpSpPr>
        <p:sp>
          <p:nvSpPr>
            <p:cNvPr id="1176" name="Google Shape;1176;p146"/>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177" name="Google Shape;1177;p14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178" name="Google Shape;1178;p14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179" name="Google Shape;1179;p14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180" name="Google Shape;1180;p14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181" name="Google Shape;1181;p14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182" name="Google Shape;1182;p14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183" name="Google Shape;1183;p146"/>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Solar Alone Stalls at One-Third of Demand</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184" name="Google Shape;1184;p146"/>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185" name="Google Shape;1185;p146"/>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186" name="Google Shape;1186;p146"/>
          <p:cNvSpPr txBox="1"/>
          <p:nvPr/>
        </p:nvSpPr>
        <p:spPr>
          <a:xfrm>
            <a:off x="356000" y="1291053"/>
            <a:ext cx="6705200" cy="666721"/>
          </a:xfrm>
          <a:prstGeom prst="rect">
            <a:avLst/>
          </a:prstGeom>
          <a:noFill/>
          <a:ln>
            <a:noFill/>
          </a:ln>
        </p:spPr>
        <p:txBody>
          <a:bodyPr spcFirstLastPara="1" wrap="square" lIns="0" tIns="0" rIns="0" bIns="0" anchor="t" anchorCtr="0">
            <a:spAutoFit/>
          </a:bodyPr>
          <a:lstStyle/>
          <a:p>
            <a:pPr>
              <a:lnSpc>
                <a:spcPct val="125000"/>
              </a:lnSpc>
            </a:pPr>
            <a:r>
              <a:rPr lang="en" sz="1733">
                <a:solidFill>
                  <a:schemeClr val="dk1"/>
                </a:solidFill>
                <a:latin typeface="Montserrat"/>
                <a:ea typeface="Montserrat"/>
                <a:cs typeface="Montserrat"/>
                <a:sym typeface="Montserrat"/>
              </a:rPr>
              <a:t>Even fully optimized, a solar-only system meets only </a:t>
            </a:r>
            <a:r>
              <a:rPr lang="en" sz="1733" b="1">
                <a:solidFill>
                  <a:schemeClr val="dk1"/>
                </a:solidFill>
                <a:latin typeface="Montserrat"/>
                <a:ea typeface="Montserrat"/>
                <a:cs typeface="Montserrat"/>
                <a:sym typeface="Montserrat"/>
              </a:rPr>
              <a:t>36% of the factory's load.</a:t>
            </a:r>
            <a:endParaRPr sz="1733">
              <a:solidFill>
                <a:schemeClr val="dk1"/>
              </a:solidFill>
              <a:latin typeface="Montserrat"/>
              <a:ea typeface="Montserrat"/>
              <a:cs typeface="Montserrat"/>
              <a:sym typeface="Montserrat"/>
            </a:endParaRPr>
          </a:p>
        </p:txBody>
      </p:sp>
      <p:sp>
        <p:nvSpPr>
          <p:cNvPr id="1187" name="Google Shape;1187;p146"/>
          <p:cNvSpPr txBox="1"/>
          <p:nvPr/>
        </p:nvSpPr>
        <p:spPr>
          <a:xfrm>
            <a:off x="356000" y="2296873"/>
            <a:ext cx="6763600" cy="2496004"/>
          </a:xfrm>
          <a:prstGeom prst="rect">
            <a:avLst/>
          </a:prstGeom>
          <a:noFill/>
          <a:ln>
            <a:noFill/>
          </a:ln>
        </p:spPr>
        <p:txBody>
          <a:bodyPr spcFirstLastPara="1" wrap="square" lIns="0" tIns="0" rIns="0" bIns="0" anchor="t" anchorCtr="0">
            <a:spAutoFit/>
          </a:bodyPr>
          <a:lstStyle/>
          <a:p>
            <a:pPr>
              <a:lnSpc>
                <a:spcPct val="118000"/>
              </a:lnSpc>
            </a:pPr>
            <a:r>
              <a:rPr lang="en" sz="2400" b="1">
                <a:solidFill>
                  <a:schemeClr val="lt1"/>
                </a:solidFill>
                <a:highlight>
                  <a:srgbClr val="035D4E"/>
                </a:highlight>
                <a:latin typeface="Montserrat"/>
                <a:ea typeface="Montserrat"/>
                <a:cs typeface="Montserrat"/>
                <a:sym typeface="Montserrat"/>
              </a:rPr>
              <a:t>Why it plateaus</a:t>
            </a:r>
            <a:endParaRPr sz="2400">
              <a:solidFill>
                <a:schemeClr val="lt1"/>
              </a:solidFill>
              <a:highlight>
                <a:srgbClr val="035D4E"/>
              </a:highlight>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Under Decision 963 the priced peak shifts to 17:30 - 22:30  after sunset. Daytime panels offset only midday consumption.</a:t>
            </a:r>
            <a:endParaRPr sz="1467">
              <a:solidFill>
                <a:schemeClr val="dk1"/>
              </a:solidFill>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The expensive evening peak stays on full price grid power.</a:t>
            </a:r>
            <a:endParaRPr sz="1467">
              <a:solidFill>
                <a:schemeClr val="dk1"/>
              </a:solidFill>
              <a:latin typeface="Montserrat"/>
              <a:ea typeface="Montserrat"/>
              <a:cs typeface="Montserrat"/>
              <a:sym typeface="Montserrat"/>
            </a:endParaRPr>
          </a:p>
          <a:p>
            <a:pPr>
              <a:lnSpc>
                <a:spcPct val="118000"/>
              </a:lnSpc>
              <a:spcBef>
                <a:spcPts val="880"/>
              </a:spcBef>
            </a:pPr>
            <a:r>
              <a:rPr lang="en" sz="1467">
                <a:solidFill>
                  <a:schemeClr val="dk1"/>
                </a:solidFill>
                <a:latin typeface="Montserrat"/>
                <a:ea typeface="Montserrat"/>
                <a:cs typeface="Montserrat"/>
                <a:sym typeface="Montserrat"/>
              </a:rPr>
              <a:t>Adding more panels doesn't help: past ~36% of load, midday surplus is curtailed or exported at low value,  so the optimizer stops at 3.45 MW.</a:t>
            </a:r>
            <a:endParaRPr sz="1467">
              <a:solidFill>
                <a:schemeClr val="dk1"/>
              </a:solidFill>
              <a:latin typeface="Montserrat"/>
              <a:ea typeface="Montserrat"/>
              <a:cs typeface="Montserrat"/>
              <a:sym typeface="Montserrat"/>
            </a:endParaRPr>
          </a:p>
          <a:p>
            <a:pPr>
              <a:lnSpc>
                <a:spcPct val="118000"/>
              </a:lnSpc>
              <a:spcBef>
                <a:spcPts val="880"/>
              </a:spcBef>
            </a:pPr>
            <a:r>
              <a:rPr lang="en" sz="1467" b="1">
                <a:solidFill>
                  <a:schemeClr val="dk1"/>
                </a:solidFill>
                <a:latin typeface="Montserrat"/>
                <a:ea typeface="Montserrat"/>
                <a:cs typeface="Montserrat"/>
                <a:sym typeface="Montserrat"/>
              </a:rPr>
              <a:t>It is a partial daytime hedge,  not a path to 24/7 clean energy.</a:t>
            </a:r>
            <a:endParaRPr sz="1467">
              <a:solidFill>
                <a:schemeClr val="dk1"/>
              </a:solidFill>
              <a:latin typeface="Montserrat"/>
              <a:ea typeface="Montserrat"/>
              <a:cs typeface="Montserrat"/>
              <a:sym typeface="Montserrat"/>
            </a:endParaRPr>
          </a:p>
        </p:txBody>
      </p:sp>
      <p:pic>
        <p:nvPicPr>
          <p:cNvPr id="1188" name="Google Shape;1188;p146"/>
          <p:cNvPicPr preferRelativeResize="0"/>
          <p:nvPr/>
        </p:nvPicPr>
        <p:blipFill rotWithShape="1">
          <a:blip r:embed="rId5">
            <a:alphaModFix/>
          </a:blip>
          <a:srcRect/>
          <a:stretch/>
        </p:blipFill>
        <p:spPr>
          <a:xfrm>
            <a:off x="7679144" y="1210004"/>
            <a:ext cx="4023200" cy="3520400"/>
          </a:xfrm>
          <a:prstGeom prst="rect">
            <a:avLst/>
          </a:prstGeom>
          <a:noFill/>
          <a:ln>
            <a:noFill/>
          </a:ln>
        </p:spPr>
      </p:pic>
      <p:sp>
        <p:nvSpPr>
          <p:cNvPr id="1189" name="Google Shape;1189;p146"/>
          <p:cNvSpPr txBox="1"/>
          <p:nvPr/>
        </p:nvSpPr>
        <p:spPr>
          <a:xfrm>
            <a:off x="7808669" y="4884997"/>
            <a:ext cx="4023200" cy="177741"/>
          </a:xfrm>
          <a:prstGeom prst="rect">
            <a:avLst/>
          </a:prstGeom>
          <a:noFill/>
          <a:ln>
            <a:noFill/>
          </a:ln>
        </p:spPr>
        <p:txBody>
          <a:bodyPr spcFirstLastPara="1" wrap="square" lIns="0" tIns="0" rIns="0" bIns="0" anchor="t" anchorCtr="0">
            <a:spAutoFit/>
          </a:bodyPr>
          <a:lstStyle/>
          <a:p>
            <a:pPr algn="ctr"/>
            <a:r>
              <a:rPr lang="en" sz="1155">
                <a:solidFill>
                  <a:schemeClr val="dk1"/>
                </a:solidFill>
                <a:latin typeface="Montserrat"/>
                <a:ea typeface="Montserrat"/>
                <a:cs typeface="Montserrat"/>
                <a:sym typeface="Montserrat"/>
              </a:rPr>
              <a:t>Optimal system: 3.45 MW PV, no storage</a:t>
            </a:r>
            <a:endParaRPr sz="1540">
              <a:solidFill>
                <a:schemeClr val="dk1"/>
              </a:solidFill>
              <a:latin typeface="Montserrat"/>
              <a:ea typeface="Montserrat"/>
              <a:cs typeface="Montserrat"/>
              <a:sym typeface="Montserrat"/>
            </a:endParaRPr>
          </a:p>
        </p:txBody>
      </p:sp>
      <p:sp>
        <p:nvSpPr>
          <p:cNvPr id="1190" name="Google Shape;1190;p146"/>
          <p:cNvSpPr/>
          <p:nvPr/>
        </p:nvSpPr>
        <p:spPr>
          <a:xfrm>
            <a:off x="356004"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1" name="Google Shape;1191;p146"/>
          <p:cNvSpPr/>
          <p:nvPr/>
        </p:nvSpPr>
        <p:spPr>
          <a:xfrm>
            <a:off x="356004" y="5515477"/>
            <a:ext cx="70800" cy="925600"/>
          </a:xfrm>
          <a:prstGeom prst="rect">
            <a:avLst/>
          </a:prstGeom>
          <a:solidFill>
            <a:srgbClr val="2E9E5B"/>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2" name="Google Shape;1192;p146"/>
          <p:cNvSpPr txBox="1"/>
          <p:nvPr/>
        </p:nvSpPr>
        <p:spPr>
          <a:xfrm>
            <a:off x="617517" y="5698367"/>
            <a:ext cx="2373200" cy="690317"/>
          </a:xfrm>
          <a:prstGeom prst="rect">
            <a:avLst/>
          </a:prstGeom>
          <a:noFill/>
          <a:ln>
            <a:noFill/>
          </a:ln>
        </p:spPr>
        <p:txBody>
          <a:bodyPr spcFirstLastPara="1" wrap="square" lIns="0" tIns="0" rIns="0" bIns="0" anchor="ctr" anchorCtr="0">
            <a:spAutoFit/>
          </a:bodyPr>
          <a:lstStyle/>
          <a:p>
            <a:r>
              <a:rPr lang="en" sz="2888" b="1">
                <a:solidFill>
                  <a:srgbClr val="2E9E5B"/>
                </a:solidFill>
                <a:latin typeface="Montserrat"/>
                <a:ea typeface="Montserrat"/>
                <a:cs typeface="Montserrat"/>
                <a:sym typeface="Montserrat"/>
              </a:rPr>
              <a:t>36%</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Clean self-supply</a:t>
            </a:r>
            <a:endParaRPr sz="1677">
              <a:latin typeface="Montserrat"/>
              <a:ea typeface="Montserrat"/>
              <a:cs typeface="Montserrat"/>
              <a:sym typeface="Montserrat"/>
            </a:endParaRPr>
          </a:p>
        </p:txBody>
      </p:sp>
      <p:sp>
        <p:nvSpPr>
          <p:cNvPr id="1193" name="Google Shape;1193;p146"/>
          <p:cNvSpPr/>
          <p:nvPr/>
        </p:nvSpPr>
        <p:spPr>
          <a:xfrm>
            <a:off x="3303060"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4" name="Google Shape;1194;p146"/>
          <p:cNvSpPr/>
          <p:nvPr/>
        </p:nvSpPr>
        <p:spPr>
          <a:xfrm>
            <a:off x="3303060" y="5515477"/>
            <a:ext cx="70800" cy="925600"/>
          </a:xfrm>
          <a:prstGeom prst="rect">
            <a:avLst/>
          </a:prstGeom>
          <a:solidFill>
            <a:srgbClr val="0F293D"/>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5" name="Google Shape;1195;p146"/>
          <p:cNvSpPr txBox="1"/>
          <p:nvPr/>
        </p:nvSpPr>
        <p:spPr>
          <a:xfrm>
            <a:off x="3564573" y="5698367"/>
            <a:ext cx="2373200" cy="690317"/>
          </a:xfrm>
          <a:prstGeom prst="rect">
            <a:avLst/>
          </a:prstGeom>
          <a:noFill/>
          <a:ln>
            <a:noFill/>
          </a:ln>
        </p:spPr>
        <p:txBody>
          <a:bodyPr spcFirstLastPara="1" wrap="square" lIns="0" tIns="0" rIns="0" bIns="0" anchor="ctr" anchorCtr="0">
            <a:spAutoFit/>
          </a:bodyPr>
          <a:lstStyle/>
          <a:p>
            <a:r>
              <a:rPr lang="en" sz="2888" b="1">
                <a:solidFill>
                  <a:srgbClr val="0F293D"/>
                </a:solidFill>
                <a:latin typeface="Montserrat"/>
                <a:ea typeface="Montserrat"/>
                <a:cs typeface="Montserrat"/>
                <a:sym typeface="Montserrat"/>
              </a:rPr>
              <a:t>$245k</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Annual bill savings</a:t>
            </a:r>
            <a:endParaRPr sz="1677">
              <a:latin typeface="Montserrat"/>
              <a:ea typeface="Montserrat"/>
              <a:cs typeface="Montserrat"/>
              <a:sym typeface="Montserrat"/>
            </a:endParaRPr>
          </a:p>
        </p:txBody>
      </p:sp>
      <p:sp>
        <p:nvSpPr>
          <p:cNvPr id="1196" name="Google Shape;1196;p146"/>
          <p:cNvSpPr/>
          <p:nvPr/>
        </p:nvSpPr>
        <p:spPr>
          <a:xfrm>
            <a:off x="6250116"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7" name="Google Shape;1197;p146"/>
          <p:cNvSpPr/>
          <p:nvPr/>
        </p:nvSpPr>
        <p:spPr>
          <a:xfrm>
            <a:off x="6250116" y="5515477"/>
            <a:ext cx="70800" cy="925600"/>
          </a:xfrm>
          <a:prstGeom prst="rect">
            <a:avLst/>
          </a:prstGeom>
          <a:solidFill>
            <a:srgbClr val="127A7A"/>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198" name="Google Shape;1198;p146"/>
          <p:cNvSpPr txBox="1"/>
          <p:nvPr/>
        </p:nvSpPr>
        <p:spPr>
          <a:xfrm>
            <a:off x="6511631" y="5698367"/>
            <a:ext cx="2373200" cy="690317"/>
          </a:xfrm>
          <a:prstGeom prst="rect">
            <a:avLst/>
          </a:prstGeom>
          <a:noFill/>
          <a:ln>
            <a:noFill/>
          </a:ln>
        </p:spPr>
        <p:txBody>
          <a:bodyPr spcFirstLastPara="1" wrap="square" lIns="0" tIns="0" rIns="0" bIns="0" anchor="ctr" anchorCtr="0">
            <a:spAutoFit/>
          </a:bodyPr>
          <a:lstStyle/>
          <a:p>
            <a:r>
              <a:rPr lang="en" sz="2888" b="1">
                <a:solidFill>
                  <a:srgbClr val="127A7A"/>
                </a:solidFill>
                <a:latin typeface="Montserrat"/>
                <a:ea typeface="Montserrat"/>
                <a:cs typeface="Montserrat"/>
                <a:sym typeface="Montserrat"/>
              </a:rPr>
              <a:t>18.7%</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Equity IRR</a:t>
            </a:r>
            <a:endParaRPr sz="1677">
              <a:latin typeface="Montserrat"/>
              <a:ea typeface="Montserrat"/>
              <a:cs typeface="Montserrat"/>
              <a:sym typeface="Montserrat"/>
            </a:endParaRPr>
          </a:p>
        </p:txBody>
      </p:sp>
      <p:sp>
        <p:nvSpPr>
          <p:cNvPr id="1199" name="Google Shape;1199;p146"/>
          <p:cNvSpPr/>
          <p:nvPr/>
        </p:nvSpPr>
        <p:spPr>
          <a:xfrm>
            <a:off x="9197173" y="5515477"/>
            <a:ext cx="2796400" cy="925600"/>
          </a:xfrm>
          <a:prstGeom prst="rect">
            <a:avLst/>
          </a:prstGeom>
          <a:solidFill>
            <a:srgbClr val="F7F9FA"/>
          </a:solidFill>
          <a:ln w="10475" cap="flat" cmpd="sng">
            <a:solidFill>
              <a:srgbClr val="DDE4E9"/>
            </a:solidFill>
            <a:prstDash val="solid"/>
            <a:round/>
            <a:headEnd type="none" w="sm" len="sm"/>
            <a:tailEnd type="none" w="sm" len="sm"/>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200" name="Google Shape;1200;p146"/>
          <p:cNvSpPr/>
          <p:nvPr/>
        </p:nvSpPr>
        <p:spPr>
          <a:xfrm>
            <a:off x="9197173" y="5515477"/>
            <a:ext cx="70800" cy="925600"/>
          </a:xfrm>
          <a:prstGeom prst="rect">
            <a:avLst/>
          </a:prstGeom>
          <a:solidFill>
            <a:srgbClr val="0F293D"/>
          </a:solidFill>
          <a:ln>
            <a:noFill/>
          </a:ln>
        </p:spPr>
        <p:txBody>
          <a:bodyPr spcFirstLastPara="1" wrap="square" lIns="100567" tIns="50267" rIns="100567" bIns="50267" anchor="ctr" anchorCtr="0">
            <a:noAutofit/>
          </a:bodyPr>
          <a:lstStyle/>
          <a:p>
            <a:pPr algn="ctr"/>
            <a:endParaRPr sz="2117">
              <a:solidFill>
                <a:srgbClr val="000000"/>
              </a:solidFill>
              <a:latin typeface="Cabin"/>
              <a:ea typeface="Cabin"/>
              <a:cs typeface="Cabin"/>
              <a:sym typeface="Cabin"/>
            </a:endParaRPr>
          </a:p>
        </p:txBody>
      </p:sp>
      <p:sp>
        <p:nvSpPr>
          <p:cNvPr id="1201" name="Google Shape;1201;p146"/>
          <p:cNvSpPr txBox="1"/>
          <p:nvPr/>
        </p:nvSpPr>
        <p:spPr>
          <a:xfrm>
            <a:off x="9458687" y="5698367"/>
            <a:ext cx="2373200" cy="690317"/>
          </a:xfrm>
          <a:prstGeom prst="rect">
            <a:avLst/>
          </a:prstGeom>
          <a:noFill/>
          <a:ln>
            <a:noFill/>
          </a:ln>
        </p:spPr>
        <p:txBody>
          <a:bodyPr spcFirstLastPara="1" wrap="square" lIns="0" tIns="0" rIns="0" bIns="0" anchor="ctr" anchorCtr="0">
            <a:spAutoFit/>
          </a:bodyPr>
          <a:lstStyle/>
          <a:p>
            <a:r>
              <a:rPr lang="en" sz="2888" b="1">
                <a:solidFill>
                  <a:srgbClr val="0F293D"/>
                </a:solidFill>
                <a:latin typeface="Montserrat"/>
                <a:ea typeface="Montserrat"/>
                <a:cs typeface="Montserrat"/>
                <a:sym typeface="Montserrat"/>
              </a:rPr>
              <a:t>$0.80M</a:t>
            </a:r>
            <a:endParaRPr sz="1677">
              <a:latin typeface="Montserrat"/>
              <a:ea typeface="Montserrat"/>
              <a:cs typeface="Montserrat"/>
              <a:sym typeface="Montserrat"/>
            </a:endParaRPr>
          </a:p>
          <a:p>
            <a:pPr>
              <a:spcBef>
                <a:spcPts val="329"/>
              </a:spcBef>
            </a:pPr>
            <a:r>
              <a:rPr lang="en" sz="1348" b="1">
                <a:solidFill>
                  <a:srgbClr val="0F293D"/>
                </a:solidFill>
                <a:latin typeface="Montserrat"/>
                <a:ea typeface="Montserrat"/>
                <a:cs typeface="Montserrat"/>
                <a:sym typeface="Montserrat"/>
              </a:rPr>
              <a:t>25-year NPV</a:t>
            </a:r>
            <a:endParaRPr sz="1677">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05"/>
        <p:cNvGrpSpPr/>
        <p:nvPr/>
      </p:nvGrpSpPr>
      <p:grpSpPr>
        <a:xfrm>
          <a:off x="0" y="0"/>
          <a:ext cx="0" cy="0"/>
          <a:chOff x="0" y="0"/>
          <a:chExt cx="0" cy="0"/>
        </a:xfrm>
      </p:grpSpPr>
      <p:grpSp>
        <p:nvGrpSpPr>
          <p:cNvPr id="1206" name="Google Shape;1206;p147"/>
          <p:cNvGrpSpPr/>
          <p:nvPr/>
        </p:nvGrpSpPr>
        <p:grpSpPr>
          <a:xfrm>
            <a:off x="9893031" y="6440969"/>
            <a:ext cx="2147396" cy="417033"/>
            <a:chOff x="7472673" y="4830726"/>
            <a:chExt cx="1610547" cy="312775"/>
          </a:xfrm>
        </p:grpSpPr>
        <p:pic>
          <p:nvPicPr>
            <p:cNvPr id="1207" name="Google Shape;1207;p147"/>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08" name="Google Shape;1208;p147"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09" name="Google Shape;1209;p147"/>
          <p:cNvGrpSpPr/>
          <p:nvPr/>
        </p:nvGrpSpPr>
        <p:grpSpPr>
          <a:xfrm>
            <a:off x="319989" y="85138"/>
            <a:ext cx="11637400" cy="994663"/>
            <a:chOff x="236700" y="63853"/>
            <a:chExt cx="8728050" cy="745997"/>
          </a:xfrm>
        </p:grpSpPr>
        <p:sp>
          <p:nvSpPr>
            <p:cNvPr id="1210" name="Google Shape;1210;p147"/>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11" name="Google Shape;1211;p14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12" name="Google Shape;1212;p14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13" name="Google Shape;1213;p14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14" name="Google Shape;1214;p14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15" name="Google Shape;1215;p14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16" name="Google Shape;1216;p14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17" name="Google Shape;1217;p147"/>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pPr>
                <a:buClr>
                  <a:schemeClr val="dk1"/>
                </a:buClr>
                <a:buSzPts val="1100"/>
              </a:pPr>
              <a:r>
                <a:rPr lang="en" sz="2800">
                  <a:solidFill>
                    <a:schemeClr val="lt1"/>
                  </a:solidFill>
                  <a:latin typeface="Montserrat ExtraBold"/>
                  <a:ea typeface="Montserrat ExtraBold"/>
                  <a:cs typeface="Montserrat ExtraBold"/>
                  <a:sym typeface="Montserrat ExtraBold"/>
                </a:rPr>
                <a:t>Storage Nearly Doubles Clean Supply and Savings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18" name="Google Shape;1218;p147"/>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19" name="Google Shape;1219;p147"/>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220" name="Google Shape;1220;p147"/>
          <p:cNvSpPr txBox="1"/>
          <p:nvPr/>
        </p:nvSpPr>
        <p:spPr>
          <a:xfrm>
            <a:off x="477967" y="1152267"/>
            <a:ext cx="11558400" cy="294248"/>
          </a:xfrm>
          <a:prstGeom prst="rect">
            <a:avLst/>
          </a:prstGeom>
          <a:noFill/>
          <a:ln>
            <a:noFill/>
          </a:ln>
        </p:spPr>
        <p:txBody>
          <a:bodyPr spcFirstLastPara="1" wrap="square" lIns="0" tIns="0" rIns="0" bIns="0" anchor="t" anchorCtr="0">
            <a:spAutoFit/>
          </a:bodyPr>
          <a:lstStyle/>
          <a:p>
            <a:r>
              <a:rPr lang="en" sz="1912" b="1">
                <a:solidFill>
                  <a:srgbClr val="0F293D"/>
                </a:solidFill>
                <a:latin typeface="Montserrat"/>
                <a:ea typeface="Montserrat"/>
                <a:cs typeface="Montserrat"/>
                <a:sym typeface="Montserrat"/>
              </a:rPr>
              <a:t>Same factory, same new tariff -  add a battery (Case 4 → Case 2):</a:t>
            </a:r>
            <a:endParaRPr sz="1912">
              <a:latin typeface="Montserrat"/>
              <a:ea typeface="Montserrat"/>
              <a:cs typeface="Montserrat"/>
              <a:sym typeface="Montserrat"/>
            </a:endParaRPr>
          </a:p>
        </p:txBody>
      </p:sp>
      <p:pic>
        <p:nvPicPr>
          <p:cNvPr id="1221" name="Google Shape;1221;p147"/>
          <p:cNvPicPr preferRelativeResize="0"/>
          <p:nvPr/>
        </p:nvPicPr>
        <p:blipFill rotWithShape="1">
          <a:blip r:embed="rId5">
            <a:alphaModFix/>
          </a:blip>
          <a:srcRect/>
          <a:stretch/>
        </p:blipFill>
        <p:spPr>
          <a:xfrm>
            <a:off x="596509" y="1873403"/>
            <a:ext cx="5136800" cy="3161600"/>
          </a:xfrm>
          <a:prstGeom prst="rect">
            <a:avLst/>
          </a:prstGeom>
          <a:noFill/>
          <a:ln>
            <a:noFill/>
          </a:ln>
        </p:spPr>
      </p:pic>
      <p:sp>
        <p:nvSpPr>
          <p:cNvPr id="1222" name="Google Shape;1222;p147"/>
          <p:cNvSpPr txBox="1"/>
          <p:nvPr/>
        </p:nvSpPr>
        <p:spPr>
          <a:xfrm>
            <a:off x="596509" y="1626439"/>
            <a:ext cx="5136800" cy="244362"/>
          </a:xfrm>
          <a:prstGeom prst="rect">
            <a:avLst/>
          </a:prstGeom>
          <a:noFill/>
          <a:ln>
            <a:noFill/>
          </a:ln>
        </p:spPr>
        <p:txBody>
          <a:bodyPr spcFirstLastPara="1" wrap="square" lIns="0" tIns="0" rIns="0" bIns="0" anchor="t" anchorCtr="0">
            <a:spAutoFit/>
          </a:bodyPr>
          <a:lstStyle/>
          <a:p>
            <a:pPr algn="ctr"/>
            <a:r>
              <a:rPr lang="en" sz="1588" b="1">
                <a:solidFill>
                  <a:srgbClr val="127A7A"/>
                </a:solidFill>
                <a:latin typeface="Montserrat"/>
                <a:ea typeface="Montserrat"/>
                <a:cs typeface="Montserrat"/>
                <a:sym typeface="Montserrat"/>
              </a:rPr>
              <a:t>CLEAN SELF-SUPPLY (% of load)</a:t>
            </a:r>
            <a:endParaRPr sz="1912">
              <a:latin typeface="Montserrat"/>
              <a:ea typeface="Montserrat"/>
              <a:cs typeface="Montserrat"/>
              <a:sym typeface="Montserrat"/>
            </a:endParaRPr>
          </a:p>
        </p:txBody>
      </p:sp>
      <p:pic>
        <p:nvPicPr>
          <p:cNvPr id="1223" name="Google Shape;1223;p147"/>
          <p:cNvPicPr preferRelativeResize="0"/>
          <p:nvPr/>
        </p:nvPicPr>
        <p:blipFill rotWithShape="1">
          <a:blip r:embed="rId6">
            <a:alphaModFix/>
          </a:blip>
          <a:srcRect/>
          <a:stretch/>
        </p:blipFill>
        <p:spPr>
          <a:xfrm>
            <a:off x="6177887" y="1873403"/>
            <a:ext cx="5136800" cy="3161600"/>
          </a:xfrm>
          <a:prstGeom prst="rect">
            <a:avLst/>
          </a:prstGeom>
          <a:noFill/>
          <a:ln>
            <a:noFill/>
          </a:ln>
        </p:spPr>
      </p:pic>
      <p:sp>
        <p:nvSpPr>
          <p:cNvPr id="1224" name="Google Shape;1224;p147"/>
          <p:cNvSpPr txBox="1"/>
          <p:nvPr/>
        </p:nvSpPr>
        <p:spPr>
          <a:xfrm>
            <a:off x="6177887" y="1626439"/>
            <a:ext cx="5136800" cy="244362"/>
          </a:xfrm>
          <a:prstGeom prst="rect">
            <a:avLst/>
          </a:prstGeom>
          <a:noFill/>
          <a:ln>
            <a:noFill/>
          </a:ln>
        </p:spPr>
        <p:txBody>
          <a:bodyPr spcFirstLastPara="1" wrap="square" lIns="0" tIns="0" rIns="0" bIns="0" anchor="t" anchorCtr="0">
            <a:spAutoFit/>
          </a:bodyPr>
          <a:lstStyle/>
          <a:p>
            <a:pPr algn="ctr"/>
            <a:r>
              <a:rPr lang="en" sz="1588" b="1">
                <a:solidFill>
                  <a:srgbClr val="E09A2B"/>
                </a:solidFill>
                <a:latin typeface="Montserrat"/>
                <a:ea typeface="Montserrat"/>
                <a:cs typeface="Montserrat"/>
                <a:sym typeface="Montserrat"/>
              </a:rPr>
              <a:t>ANNUAL BILL SAVINGS (USD)</a:t>
            </a:r>
            <a:endParaRPr sz="1912">
              <a:latin typeface="Montserrat"/>
              <a:ea typeface="Montserrat"/>
              <a:cs typeface="Montserrat"/>
              <a:sym typeface="Montserrat"/>
            </a:endParaRPr>
          </a:p>
        </p:txBody>
      </p:sp>
      <p:sp>
        <p:nvSpPr>
          <p:cNvPr id="1225" name="Google Shape;1225;p147"/>
          <p:cNvSpPr/>
          <p:nvPr/>
        </p:nvSpPr>
        <p:spPr>
          <a:xfrm>
            <a:off x="477967" y="5429688"/>
            <a:ext cx="11637200" cy="938800"/>
          </a:xfrm>
          <a:prstGeom prst="rect">
            <a:avLst/>
          </a:prstGeom>
          <a:solidFill>
            <a:srgbClr val="F1F5F7"/>
          </a:solidFill>
          <a:ln w="10275" cap="flat" cmpd="sng">
            <a:solidFill>
              <a:srgbClr val="DDE4E9"/>
            </a:solidFill>
            <a:prstDash val="solid"/>
            <a:round/>
            <a:headEnd type="none" w="sm" len="sm"/>
            <a:tailEnd type="none" w="sm" len="sm"/>
          </a:ln>
        </p:spPr>
        <p:txBody>
          <a:bodyPr spcFirstLastPara="1" wrap="square" lIns="98767" tIns="49367" rIns="98767" bIns="49367" anchor="ctr" anchorCtr="0">
            <a:noAutofit/>
          </a:bodyPr>
          <a:lstStyle/>
          <a:p>
            <a:pPr algn="ctr"/>
            <a:endParaRPr sz="2344">
              <a:solidFill>
                <a:srgbClr val="000000"/>
              </a:solidFill>
              <a:latin typeface="Cabin"/>
              <a:ea typeface="Cabin"/>
              <a:cs typeface="Cabin"/>
              <a:sym typeface="Cabin"/>
            </a:endParaRPr>
          </a:p>
        </p:txBody>
      </p:sp>
      <p:sp>
        <p:nvSpPr>
          <p:cNvPr id="1226" name="Google Shape;1226;p147"/>
          <p:cNvSpPr/>
          <p:nvPr/>
        </p:nvSpPr>
        <p:spPr>
          <a:xfrm>
            <a:off x="477967" y="5429688"/>
            <a:ext cx="88800" cy="938800"/>
          </a:xfrm>
          <a:prstGeom prst="rect">
            <a:avLst/>
          </a:prstGeom>
          <a:solidFill>
            <a:srgbClr val="127A7A"/>
          </a:solidFill>
          <a:ln>
            <a:noFill/>
          </a:ln>
        </p:spPr>
        <p:txBody>
          <a:bodyPr spcFirstLastPara="1" wrap="square" lIns="98767" tIns="49367" rIns="98767" bIns="49367" anchor="ctr" anchorCtr="0">
            <a:noAutofit/>
          </a:bodyPr>
          <a:lstStyle/>
          <a:p>
            <a:pPr algn="ctr"/>
            <a:endParaRPr sz="2344">
              <a:solidFill>
                <a:srgbClr val="000000"/>
              </a:solidFill>
              <a:latin typeface="Cabin"/>
              <a:ea typeface="Cabin"/>
              <a:cs typeface="Cabin"/>
              <a:sym typeface="Cabin"/>
            </a:endParaRPr>
          </a:p>
        </p:txBody>
      </p:sp>
      <p:sp>
        <p:nvSpPr>
          <p:cNvPr id="1227" name="Google Shape;1227;p147"/>
          <p:cNvSpPr txBox="1"/>
          <p:nvPr/>
        </p:nvSpPr>
        <p:spPr>
          <a:xfrm>
            <a:off x="724956" y="5587442"/>
            <a:ext cx="11064400" cy="541687"/>
          </a:xfrm>
          <a:prstGeom prst="rect">
            <a:avLst/>
          </a:prstGeom>
          <a:noFill/>
          <a:ln>
            <a:noFill/>
          </a:ln>
        </p:spPr>
        <p:txBody>
          <a:bodyPr spcFirstLastPara="1" wrap="square" lIns="0" tIns="0" rIns="0" bIns="0" anchor="ctr" anchorCtr="0">
            <a:spAutoFit/>
          </a:bodyPr>
          <a:lstStyle/>
          <a:p>
            <a:pPr>
              <a:lnSpc>
                <a:spcPct val="110000"/>
              </a:lnSpc>
            </a:pPr>
            <a:r>
              <a:rPr lang="en" sz="1733" b="1">
                <a:solidFill>
                  <a:schemeClr val="dk1"/>
                </a:solidFill>
                <a:latin typeface="Montserrat"/>
                <a:ea typeface="Montserrat"/>
                <a:cs typeface="Montserrat"/>
                <a:sym typeface="Montserrat"/>
              </a:rPr>
              <a:t>+30 points clean energy,  +$324k/yr savings, </a:t>
            </a:r>
            <a:r>
              <a:rPr lang="en" sz="1733">
                <a:solidFill>
                  <a:schemeClr val="dk1"/>
                </a:solidFill>
                <a:latin typeface="Montserrat"/>
                <a:ea typeface="Montserrat"/>
                <a:cs typeface="Montserrat"/>
                <a:sym typeface="Montserrat"/>
              </a:rPr>
              <a:t>package still earns </a:t>
            </a:r>
            <a:r>
              <a:rPr lang="en" sz="1733" b="1">
                <a:solidFill>
                  <a:schemeClr val="dk1"/>
                </a:solidFill>
                <a:latin typeface="Montserrat"/>
                <a:ea typeface="Montserrat"/>
                <a:cs typeface="Montserrat"/>
                <a:sym typeface="Montserrat"/>
              </a:rPr>
              <a:t>16% equity IRR with $1.44M NPV</a:t>
            </a:r>
            <a:endParaRPr sz="1733" b="1">
              <a:solidFill>
                <a:schemeClr val="dk1"/>
              </a:solidFill>
              <a:latin typeface="Montserrat"/>
              <a:ea typeface="Montserrat"/>
              <a:cs typeface="Montserrat"/>
              <a:sym typeface="Montserrat"/>
            </a:endParaRPr>
          </a:p>
          <a:p>
            <a:pPr>
              <a:lnSpc>
                <a:spcPct val="110000"/>
              </a:lnSpc>
            </a:pPr>
            <a:r>
              <a:rPr lang="en" sz="1467">
                <a:solidFill>
                  <a:schemeClr val="dk1"/>
                </a:solidFill>
                <a:latin typeface="Montserrat"/>
                <a:ea typeface="Montserrat"/>
                <a:cs typeface="Montserrat"/>
                <a:sym typeface="Montserrat"/>
              </a:rPr>
              <a:t>The battery shifts midday solar into the evening peak,  turning a daytime hedge into round-the-clock clean supply.</a:t>
            </a:r>
            <a:endParaRPr sz="1467">
              <a:solidFill>
                <a:schemeClr val="dk1"/>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grpSp>
        <p:nvGrpSpPr>
          <p:cNvPr id="1232" name="Google Shape;1232;p148"/>
          <p:cNvGrpSpPr/>
          <p:nvPr/>
        </p:nvGrpSpPr>
        <p:grpSpPr>
          <a:xfrm>
            <a:off x="9893031" y="6440969"/>
            <a:ext cx="2147396" cy="417033"/>
            <a:chOff x="7472673" y="4830726"/>
            <a:chExt cx="1610547" cy="312775"/>
          </a:xfrm>
        </p:grpSpPr>
        <p:pic>
          <p:nvPicPr>
            <p:cNvPr id="1233" name="Google Shape;1233;p148"/>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34" name="Google Shape;1234;p148"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35" name="Google Shape;1235;p148"/>
          <p:cNvGrpSpPr/>
          <p:nvPr/>
        </p:nvGrpSpPr>
        <p:grpSpPr>
          <a:xfrm>
            <a:off x="319989" y="85138"/>
            <a:ext cx="11637400" cy="994663"/>
            <a:chOff x="236700" y="63853"/>
            <a:chExt cx="8728050" cy="745997"/>
          </a:xfrm>
        </p:grpSpPr>
        <p:sp>
          <p:nvSpPr>
            <p:cNvPr id="1236" name="Google Shape;1236;p148"/>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37" name="Google Shape;1237;p14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38" name="Google Shape;1238;p14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39" name="Google Shape;1239;p14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40" name="Google Shape;1240;p14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41" name="Google Shape;1241;p14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42" name="Google Shape;1242;p14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43" name="Google Shape;1243;p148"/>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The 2026 Capacity Tariff Makes Peak-Shaving the Prize</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44" name="Google Shape;1244;p148"/>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45" name="Google Shape;1245;p148"/>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246" name="Google Shape;1246;p148"/>
          <p:cNvSpPr txBox="1"/>
          <p:nvPr/>
        </p:nvSpPr>
        <p:spPr>
          <a:xfrm>
            <a:off x="497736" y="1231167"/>
            <a:ext cx="5832400" cy="3776611"/>
          </a:xfrm>
          <a:prstGeom prst="rect">
            <a:avLst/>
          </a:prstGeom>
          <a:noFill/>
          <a:ln>
            <a:noFill/>
          </a:ln>
        </p:spPr>
        <p:txBody>
          <a:bodyPr spcFirstLastPara="1" wrap="square" lIns="0" tIns="0" rIns="0" bIns="0" anchor="t" anchorCtr="0">
            <a:spAutoFit/>
          </a:bodyPr>
          <a:lstStyle/>
          <a:p>
            <a:pPr>
              <a:lnSpc>
                <a:spcPct val="115000"/>
              </a:lnSpc>
            </a:pPr>
            <a:r>
              <a:rPr lang="en" sz="1647">
                <a:solidFill>
                  <a:schemeClr val="dk1"/>
                </a:solidFill>
                <a:latin typeface="Montserrat"/>
                <a:ea typeface="Montserrat"/>
                <a:cs typeface="Montserrat"/>
                <a:sym typeface="Montserrat"/>
              </a:rPr>
              <a:t>When EVN starts billing capacity (~209,459 VND/kW/month), the dominant value flips from energy arbitrage to </a:t>
            </a:r>
            <a:r>
              <a:rPr lang="en" sz="1647" b="1">
                <a:solidFill>
                  <a:schemeClr val="dk1"/>
                </a:solidFill>
                <a:latin typeface="Montserrat"/>
                <a:ea typeface="Montserrat"/>
                <a:cs typeface="Montserrat"/>
                <a:sym typeface="Montserrat"/>
              </a:rPr>
              <a:t>demand charge avoidance.</a:t>
            </a:r>
            <a:endParaRPr sz="1857">
              <a:solidFill>
                <a:schemeClr val="dk1"/>
              </a:solidFill>
              <a:latin typeface="Montserrat"/>
              <a:ea typeface="Montserrat"/>
              <a:cs typeface="Montserrat"/>
              <a:sym typeface="Montserrat"/>
            </a:endParaRPr>
          </a:p>
          <a:p>
            <a:pPr>
              <a:lnSpc>
                <a:spcPct val="115000"/>
              </a:lnSpc>
              <a:spcBef>
                <a:spcPts val="629"/>
              </a:spcBef>
            </a:pPr>
            <a:endParaRPr sz="1647" b="1">
              <a:solidFill>
                <a:srgbClr val="0F293D"/>
              </a:solidFill>
              <a:latin typeface="Montserrat"/>
              <a:ea typeface="Montserrat"/>
              <a:cs typeface="Montserrat"/>
              <a:sym typeface="Montserrat"/>
            </a:endParaRPr>
          </a:p>
          <a:p>
            <a:pPr>
              <a:lnSpc>
                <a:spcPct val="115000"/>
              </a:lnSpc>
              <a:spcBef>
                <a:spcPts val="629"/>
              </a:spcBef>
            </a:pPr>
            <a:r>
              <a:rPr lang="en" sz="1647">
                <a:solidFill>
                  <a:schemeClr val="dk1"/>
                </a:solidFill>
                <a:latin typeface="Montserrat"/>
                <a:ea typeface="Montserrat"/>
                <a:cs typeface="Montserrat"/>
                <a:sym typeface="Montserrat"/>
              </a:rPr>
              <a:t>The optimizer adds battery power to cut the grid peak nearly in half:</a:t>
            </a:r>
            <a:endParaRPr sz="1857">
              <a:solidFill>
                <a:schemeClr val="dk1"/>
              </a:solidFill>
              <a:latin typeface="Montserrat"/>
              <a:ea typeface="Montserrat"/>
              <a:cs typeface="Montserrat"/>
              <a:sym typeface="Montserrat"/>
            </a:endParaRPr>
          </a:p>
          <a:p>
            <a:pPr>
              <a:lnSpc>
                <a:spcPct val="115000"/>
              </a:lnSpc>
              <a:spcBef>
                <a:spcPts val="629"/>
              </a:spcBef>
            </a:pPr>
            <a:r>
              <a:rPr lang="en" sz="2485" b="1">
                <a:solidFill>
                  <a:srgbClr val="E09A2B"/>
                </a:solidFill>
                <a:latin typeface="Montserrat"/>
                <a:ea typeface="Montserrat"/>
                <a:cs typeface="Montserrat"/>
                <a:sym typeface="Montserrat"/>
              </a:rPr>
              <a:t>2,428 kW → 1,311 kW</a:t>
            </a:r>
            <a:r>
              <a:rPr lang="en" sz="1857" b="1">
                <a:solidFill>
                  <a:srgbClr val="556677"/>
                </a:solidFill>
                <a:latin typeface="Montserrat"/>
                <a:ea typeface="Montserrat"/>
                <a:cs typeface="Montserrat"/>
                <a:sym typeface="Montserrat"/>
              </a:rPr>
              <a:t>  (−46%)</a:t>
            </a:r>
            <a:endParaRPr sz="1857">
              <a:latin typeface="Montserrat"/>
              <a:ea typeface="Montserrat"/>
              <a:cs typeface="Montserrat"/>
              <a:sym typeface="Montserrat"/>
            </a:endParaRPr>
          </a:p>
          <a:p>
            <a:pPr>
              <a:lnSpc>
                <a:spcPct val="115000"/>
              </a:lnSpc>
              <a:spcBef>
                <a:spcPts val="629"/>
              </a:spcBef>
            </a:pPr>
            <a:endParaRPr sz="1857" b="1">
              <a:solidFill>
                <a:srgbClr val="556677"/>
              </a:solidFill>
              <a:latin typeface="Montserrat"/>
              <a:ea typeface="Montserrat"/>
              <a:cs typeface="Montserrat"/>
              <a:sym typeface="Montserrat"/>
            </a:endParaRPr>
          </a:p>
          <a:p>
            <a:pPr>
              <a:lnSpc>
                <a:spcPct val="115000"/>
              </a:lnSpc>
              <a:spcBef>
                <a:spcPts val="629"/>
              </a:spcBef>
            </a:pPr>
            <a:r>
              <a:rPr lang="en" sz="1647">
                <a:solidFill>
                  <a:schemeClr val="dk1"/>
                </a:solidFill>
                <a:latin typeface="Montserrat"/>
                <a:ea typeface="Montserrat"/>
                <a:cs typeface="Montserrat"/>
                <a:sym typeface="Montserrat"/>
              </a:rPr>
              <a:t>Returns tighten as the system grows,  but every metric stays bankable, and this is the tariff Factory A will actually face in 2026.</a:t>
            </a:r>
            <a:endParaRPr sz="1857">
              <a:solidFill>
                <a:schemeClr val="dk1"/>
              </a:solidFill>
              <a:latin typeface="Montserrat"/>
              <a:ea typeface="Montserrat"/>
              <a:cs typeface="Montserrat"/>
              <a:sym typeface="Montserrat"/>
            </a:endParaRPr>
          </a:p>
        </p:txBody>
      </p:sp>
      <p:pic>
        <p:nvPicPr>
          <p:cNvPr id="1247" name="Google Shape;1247;p148"/>
          <p:cNvPicPr preferRelativeResize="0"/>
          <p:nvPr/>
        </p:nvPicPr>
        <p:blipFill rotWithShape="1">
          <a:blip r:embed="rId5">
            <a:alphaModFix/>
          </a:blip>
          <a:srcRect/>
          <a:stretch/>
        </p:blipFill>
        <p:spPr>
          <a:xfrm>
            <a:off x="6585008" y="1569668"/>
            <a:ext cx="5035600" cy="3081200"/>
          </a:xfrm>
          <a:prstGeom prst="rect">
            <a:avLst/>
          </a:prstGeom>
          <a:noFill/>
          <a:ln>
            <a:noFill/>
          </a:ln>
        </p:spPr>
      </p:pic>
      <p:sp>
        <p:nvSpPr>
          <p:cNvPr id="1248" name="Google Shape;1248;p148"/>
          <p:cNvSpPr txBox="1"/>
          <p:nvPr/>
        </p:nvSpPr>
        <p:spPr>
          <a:xfrm>
            <a:off x="7435283" y="1236323"/>
            <a:ext cx="3324000" cy="219612"/>
          </a:xfrm>
          <a:prstGeom prst="rect">
            <a:avLst/>
          </a:prstGeom>
          <a:noFill/>
          <a:ln>
            <a:noFill/>
          </a:ln>
        </p:spPr>
        <p:txBody>
          <a:bodyPr spcFirstLastPara="1" wrap="square" lIns="0" tIns="0" rIns="0" bIns="0" anchor="t" anchorCtr="0">
            <a:spAutoFit/>
          </a:bodyPr>
          <a:lstStyle/>
          <a:p>
            <a:pPr algn="ctr"/>
            <a:r>
              <a:rPr lang="en" sz="1427" b="1">
                <a:solidFill>
                  <a:srgbClr val="E09A2B"/>
                </a:solidFill>
                <a:latin typeface="Montserrat"/>
                <a:ea typeface="Montserrat"/>
                <a:cs typeface="Montserrat"/>
                <a:sym typeface="Montserrat"/>
              </a:rPr>
              <a:t>PEAK GRID DEMAND - CASE 3</a:t>
            </a:r>
            <a:endParaRPr sz="1427">
              <a:latin typeface="Montserrat"/>
              <a:ea typeface="Montserrat"/>
              <a:cs typeface="Montserrat"/>
              <a:sym typeface="Montserrat"/>
            </a:endParaRPr>
          </a:p>
        </p:txBody>
      </p:sp>
      <p:sp>
        <p:nvSpPr>
          <p:cNvPr id="1249" name="Google Shape;1249;p148"/>
          <p:cNvSpPr/>
          <p:nvPr/>
        </p:nvSpPr>
        <p:spPr>
          <a:xfrm>
            <a:off x="384351"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0" name="Google Shape;1250;p148"/>
          <p:cNvSpPr/>
          <p:nvPr/>
        </p:nvSpPr>
        <p:spPr>
          <a:xfrm>
            <a:off x="384351" y="5077600"/>
            <a:ext cx="68800" cy="1212000"/>
          </a:xfrm>
          <a:prstGeom prst="rect">
            <a:avLst/>
          </a:prstGeom>
          <a:solidFill>
            <a:srgbClr val="E09A2B"/>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1" name="Google Shape;1251;p148"/>
          <p:cNvSpPr txBox="1"/>
          <p:nvPr/>
        </p:nvSpPr>
        <p:spPr>
          <a:xfrm>
            <a:off x="621305" y="5232458"/>
            <a:ext cx="2418800" cy="898836"/>
          </a:xfrm>
          <a:prstGeom prst="rect">
            <a:avLst/>
          </a:prstGeom>
          <a:noFill/>
          <a:ln>
            <a:noFill/>
          </a:ln>
        </p:spPr>
        <p:txBody>
          <a:bodyPr spcFirstLastPara="1" wrap="square" lIns="0" tIns="0" rIns="0" bIns="0" anchor="ctr" anchorCtr="0">
            <a:spAutoFit/>
          </a:bodyPr>
          <a:lstStyle/>
          <a:p>
            <a:r>
              <a:rPr lang="en" sz="2800" b="1">
                <a:solidFill>
                  <a:srgbClr val="E09A2B"/>
                </a:solidFill>
                <a:latin typeface="Montserrat"/>
                <a:ea typeface="Montserrat"/>
                <a:cs typeface="Montserrat"/>
                <a:sym typeface="Montserrat"/>
              </a:rPr>
              <a:t>$129k</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Demand-charge</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savings / yr</a:t>
            </a:r>
            <a:endParaRPr sz="1857">
              <a:solidFill>
                <a:schemeClr val="dk1"/>
              </a:solidFill>
              <a:latin typeface="Montserrat"/>
              <a:ea typeface="Montserrat"/>
              <a:cs typeface="Montserrat"/>
              <a:sym typeface="Montserrat"/>
            </a:endParaRPr>
          </a:p>
        </p:txBody>
      </p:sp>
      <p:sp>
        <p:nvSpPr>
          <p:cNvPr id="1252" name="Google Shape;1252;p148"/>
          <p:cNvSpPr/>
          <p:nvPr/>
        </p:nvSpPr>
        <p:spPr>
          <a:xfrm>
            <a:off x="3277179"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3" name="Google Shape;1253;p148"/>
          <p:cNvSpPr/>
          <p:nvPr/>
        </p:nvSpPr>
        <p:spPr>
          <a:xfrm>
            <a:off x="3277179" y="5077600"/>
            <a:ext cx="68800" cy="1212000"/>
          </a:xfrm>
          <a:prstGeom prst="rect">
            <a:avLst/>
          </a:prstGeom>
          <a:solidFill>
            <a:srgbClr val="127A7A"/>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4" name="Google Shape;1254;p148"/>
          <p:cNvSpPr txBox="1"/>
          <p:nvPr/>
        </p:nvSpPr>
        <p:spPr>
          <a:xfrm>
            <a:off x="3514133" y="5232458"/>
            <a:ext cx="2418800" cy="898836"/>
          </a:xfrm>
          <a:prstGeom prst="rect">
            <a:avLst/>
          </a:prstGeom>
          <a:noFill/>
          <a:ln>
            <a:noFill/>
          </a:ln>
        </p:spPr>
        <p:txBody>
          <a:bodyPr spcFirstLastPara="1" wrap="square" lIns="0" tIns="0" rIns="0" bIns="0" anchor="ctr" anchorCtr="0">
            <a:spAutoFit/>
          </a:bodyPr>
          <a:lstStyle/>
          <a:p>
            <a:r>
              <a:rPr lang="en" sz="2800" b="1">
                <a:solidFill>
                  <a:srgbClr val="127A7A"/>
                </a:solidFill>
                <a:latin typeface="Montserrat"/>
                <a:ea typeface="Montserrat"/>
                <a:cs typeface="Montserrat"/>
                <a:sym typeface="Montserrat"/>
              </a:rPr>
              <a:t>-65%</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Total bill</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($758k → $263k)</a:t>
            </a:r>
            <a:endParaRPr sz="1857">
              <a:solidFill>
                <a:schemeClr val="dk1"/>
              </a:solidFill>
              <a:latin typeface="Montserrat"/>
              <a:ea typeface="Montserrat"/>
              <a:cs typeface="Montserrat"/>
              <a:sym typeface="Montserrat"/>
            </a:endParaRPr>
          </a:p>
        </p:txBody>
      </p:sp>
      <p:sp>
        <p:nvSpPr>
          <p:cNvPr id="1255" name="Google Shape;1255;p148"/>
          <p:cNvSpPr/>
          <p:nvPr/>
        </p:nvSpPr>
        <p:spPr>
          <a:xfrm>
            <a:off x="6170007"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6" name="Google Shape;1256;p148"/>
          <p:cNvSpPr/>
          <p:nvPr/>
        </p:nvSpPr>
        <p:spPr>
          <a:xfrm>
            <a:off x="6170007" y="5077600"/>
            <a:ext cx="68800" cy="1212000"/>
          </a:xfrm>
          <a:prstGeom prst="rect">
            <a:avLst/>
          </a:prstGeom>
          <a:solidFill>
            <a:srgbClr val="0F293D"/>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7" name="Google Shape;1257;p148"/>
          <p:cNvSpPr txBox="1"/>
          <p:nvPr/>
        </p:nvSpPr>
        <p:spPr>
          <a:xfrm>
            <a:off x="6406963" y="5232458"/>
            <a:ext cx="2418800" cy="898836"/>
          </a:xfrm>
          <a:prstGeom prst="rect">
            <a:avLst/>
          </a:prstGeom>
          <a:noFill/>
          <a:ln>
            <a:noFill/>
          </a:ln>
        </p:spPr>
        <p:txBody>
          <a:bodyPr spcFirstLastPara="1" wrap="square" lIns="0" tIns="0" rIns="0" bIns="0" anchor="ctr" anchorCtr="0">
            <a:spAutoFit/>
          </a:bodyPr>
          <a:lstStyle/>
          <a:p>
            <a:r>
              <a:rPr lang="en" sz="2800" b="1">
                <a:solidFill>
                  <a:srgbClr val="0F293D"/>
                </a:solidFill>
                <a:latin typeface="Montserrat"/>
                <a:ea typeface="Montserrat"/>
                <a:cs typeface="Montserrat"/>
                <a:sym typeface="Montserrat"/>
              </a:rPr>
              <a:t>12.4%</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Equity IRR</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(still bankable)</a:t>
            </a:r>
            <a:endParaRPr sz="1857">
              <a:solidFill>
                <a:schemeClr val="dk1"/>
              </a:solidFill>
              <a:latin typeface="Montserrat"/>
              <a:ea typeface="Montserrat"/>
              <a:cs typeface="Montserrat"/>
              <a:sym typeface="Montserrat"/>
            </a:endParaRPr>
          </a:p>
        </p:txBody>
      </p:sp>
      <p:sp>
        <p:nvSpPr>
          <p:cNvPr id="1258" name="Google Shape;1258;p148"/>
          <p:cNvSpPr/>
          <p:nvPr/>
        </p:nvSpPr>
        <p:spPr>
          <a:xfrm>
            <a:off x="9062836" y="5077600"/>
            <a:ext cx="2744800" cy="1212000"/>
          </a:xfrm>
          <a:prstGeom prst="rect">
            <a:avLst/>
          </a:prstGeom>
          <a:solidFill>
            <a:srgbClr val="F7F9FA"/>
          </a:solidFill>
          <a:ln w="10000" cap="flat" cmpd="sng">
            <a:solidFill>
              <a:srgbClr val="DDE4E9"/>
            </a:solidFill>
            <a:prstDash val="solid"/>
            <a:round/>
            <a:headEnd type="none" w="sm" len="sm"/>
            <a:tailEnd type="none" w="sm" len="sm"/>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59" name="Google Shape;1259;p148"/>
          <p:cNvSpPr/>
          <p:nvPr/>
        </p:nvSpPr>
        <p:spPr>
          <a:xfrm>
            <a:off x="9062836" y="5077600"/>
            <a:ext cx="68800" cy="1212000"/>
          </a:xfrm>
          <a:prstGeom prst="rect">
            <a:avLst/>
          </a:prstGeom>
          <a:solidFill>
            <a:srgbClr val="0F293D"/>
          </a:solidFill>
          <a:ln>
            <a:noFill/>
          </a:ln>
        </p:spPr>
        <p:txBody>
          <a:bodyPr spcFirstLastPara="1" wrap="square" lIns="95833" tIns="47933" rIns="95833" bIns="47933" anchor="ctr" anchorCtr="0">
            <a:noAutofit/>
          </a:bodyPr>
          <a:lstStyle/>
          <a:p>
            <a:pPr algn="ctr"/>
            <a:endParaRPr sz="2276">
              <a:solidFill>
                <a:srgbClr val="000000"/>
              </a:solidFill>
              <a:latin typeface="Cabin"/>
              <a:ea typeface="Cabin"/>
              <a:cs typeface="Cabin"/>
              <a:sym typeface="Cabin"/>
            </a:endParaRPr>
          </a:p>
        </p:txBody>
      </p:sp>
      <p:sp>
        <p:nvSpPr>
          <p:cNvPr id="1260" name="Google Shape;1260;p148"/>
          <p:cNvSpPr txBox="1"/>
          <p:nvPr/>
        </p:nvSpPr>
        <p:spPr>
          <a:xfrm>
            <a:off x="9299791" y="5232458"/>
            <a:ext cx="2418800" cy="898836"/>
          </a:xfrm>
          <a:prstGeom prst="rect">
            <a:avLst/>
          </a:prstGeom>
          <a:noFill/>
          <a:ln>
            <a:noFill/>
          </a:ln>
        </p:spPr>
        <p:txBody>
          <a:bodyPr spcFirstLastPara="1" wrap="square" lIns="0" tIns="0" rIns="0" bIns="0" anchor="ctr" anchorCtr="0">
            <a:spAutoFit/>
          </a:bodyPr>
          <a:lstStyle/>
          <a:p>
            <a:r>
              <a:rPr lang="en" sz="2800" b="1">
                <a:solidFill>
                  <a:srgbClr val="0F293D"/>
                </a:solidFill>
                <a:latin typeface="Montserrat"/>
                <a:ea typeface="Montserrat"/>
                <a:cs typeface="Montserrat"/>
                <a:sym typeface="Montserrat"/>
              </a:rPr>
              <a:t>1.01</a:t>
            </a:r>
            <a:endParaRPr sz="1857">
              <a:latin typeface="Montserrat"/>
              <a:ea typeface="Montserrat"/>
              <a:cs typeface="Montserrat"/>
              <a:sym typeface="Montserrat"/>
            </a:endParaRPr>
          </a:p>
          <a:p>
            <a:pPr>
              <a:spcBef>
                <a:spcPts val="209"/>
              </a:spcBef>
            </a:pPr>
            <a:r>
              <a:rPr lang="en" sz="1437">
                <a:solidFill>
                  <a:schemeClr val="dk1"/>
                </a:solidFill>
                <a:latin typeface="Montserrat"/>
                <a:ea typeface="Montserrat"/>
                <a:cs typeface="Montserrat"/>
                <a:sym typeface="Montserrat"/>
              </a:rPr>
              <a:t>Avg DSCR</a:t>
            </a:r>
            <a:br>
              <a:rPr lang="en" sz="1437">
                <a:solidFill>
                  <a:schemeClr val="dk1"/>
                </a:solidFill>
                <a:latin typeface="Montserrat"/>
                <a:ea typeface="Montserrat"/>
                <a:cs typeface="Montserrat"/>
                <a:sym typeface="Montserrat"/>
              </a:rPr>
            </a:br>
            <a:r>
              <a:rPr lang="en" sz="1437">
                <a:solidFill>
                  <a:schemeClr val="dk1"/>
                </a:solidFill>
                <a:latin typeface="Montserrat"/>
                <a:ea typeface="Montserrat"/>
                <a:cs typeface="Montserrat"/>
                <a:sym typeface="Montserrat"/>
              </a:rPr>
              <a:t>(debt-serviceable)</a:t>
            </a:r>
            <a:endParaRPr sz="1857">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64"/>
        <p:cNvGrpSpPr/>
        <p:nvPr/>
      </p:nvGrpSpPr>
      <p:grpSpPr>
        <a:xfrm>
          <a:off x="0" y="0"/>
          <a:ext cx="0" cy="0"/>
          <a:chOff x="0" y="0"/>
          <a:chExt cx="0" cy="0"/>
        </a:xfrm>
      </p:grpSpPr>
      <p:grpSp>
        <p:nvGrpSpPr>
          <p:cNvPr id="1265" name="Google Shape;1265;p149"/>
          <p:cNvGrpSpPr/>
          <p:nvPr/>
        </p:nvGrpSpPr>
        <p:grpSpPr>
          <a:xfrm>
            <a:off x="9893031" y="6440969"/>
            <a:ext cx="2147396" cy="417033"/>
            <a:chOff x="7472673" y="4830726"/>
            <a:chExt cx="1610547" cy="312775"/>
          </a:xfrm>
        </p:grpSpPr>
        <p:pic>
          <p:nvPicPr>
            <p:cNvPr id="1266" name="Google Shape;1266;p149"/>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67" name="Google Shape;1267;p149"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68" name="Google Shape;1268;p149"/>
          <p:cNvGrpSpPr/>
          <p:nvPr/>
        </p:nvGrpSpPr>
        <p:grpSpPr>
          <a:xfrm>
            <a:off x="319989" y="85138"/>
            <a:ext cx="11637400" cy="994663"/>
            <a:chOff x="236700" y="63853"/>
            <a:chExt cx="8728050" cy="745997"/>
          </a:xfrm>
        </p:grpSpPr>
        <p:sp>
          <p:nvSpPr>
            <p:cNvPr id="1269" name="Google Shape;1269;p149"/>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70" name="Google Shape;1270;p14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271" name="Google Shape;1271;p14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272" name="Google Shape;1272;p14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273" name="Google Shape;1273;p14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274" name="Google Shape;1274;p14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275" name="Google Shape;1275;p14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276" name="Google Shape;1276;p149"/>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Full Techno-Economic Comparison</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277" name="Google Shape;1277;p149"/>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278" name="Google Shape;1278;p149"/>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graphicFrame>
        <p:nvGraphicFramePr>
          <p:cNvPr id="1279" name="Google Shape;1279;p149"/>
          <p:cNvGraphicFramePr/>
          <p:nvPr/>
        </p:nvGraphicFramePr>
        <p:xfrm>
          <a:off x="237376" y="1198596"/>
          <a:ext cx="4000000" cy="4000000"/>
        </p:xfrm>
        <a:graphic>
          <a:graphicData uri="http://schemas.openxmlformats.org/drawingml/2006/table">
            <a:tbl>
              <a:tblPr>
                <a:noFill/>
              </a:tblPr>
              <a:tblGrid>
                <a:gridCol w="2631967">
                  <a:extLst>
                    <a:ext uri="{9D8B030D-6E8A-4147-A177-3AD203B41FA5}">
                      <a16:colId xmlns:a16="http://schemas.microsoft.com/office/drawing/2014/main" val="20000"/>
                    </a:ext>
                  </a:extLst>
                </a:gridCol>
                <a:gridCol w="1535333">
                  <a:extLst>
                    <a:ext uri="{9D8B030D-6E8A-4147-A177-3AD203B41FA5}">
                      <a16:colId xmlns:a16="http://schemas.microsoft.com/office/drawing/2014/main" val="20001"/>
                    </a:ext>
                  </a:extLst>
                </a:gridCol>
                <a:gridCol w="1535333">
                  <a:extLst>
                    <a:ext uri="{9D8B030D-6E8A-4147-A177-3AD203B41FA5}">
                      <a16:colId xmlns:a16="http://schemas.microsoft.com/office/drawing/2014/main" val="20002"/>
                    </a:ext>
                  </a:extLst>
                </a:gridCol>
                <a:gridCol w="1535333">
                  <a:extLst>
                    <a:ext uri="{9D8B030D-6E8A-4147-A177-3AD203B41FA5}">
                      <a16:colId xmlns:a16="http://schemas.microsoft.com/office/drawing/2014/main" val="20003"/>
                    </a:ext>
                  </a:extLst>
                </a:gridCol>
                <a:gridCol w="1535333">
                  <a:extLst>
                    <a:ext uri="{9D8B030D-6E8A-4147-A177-3AD203B41FA5}">
                      <a16:colId xmlns:a16="http://schemas.microsoft.com/office/drawing/2014/main" val="20004"/>
                    </a:ext>
                  </a:extLst>
                </a:gridCol>
              </a:tblGrid>
              <a:tr h="536480">
                <a:tc>
                  <a:txBody>
                    <a:bodyPr/>
                    <a:lstStyle/>
                    <a:p>
                      <a:pPr marL="0" marR="0" lvl="0" indent="0" algn="l" rtl="0">
                        <a:spcBef>
                          <a:spcPts val="0"/>
                        </a:spcBef>
                        <a:spcAft>
                          <a:spcPts val="0"/>
                        </a:spcAft>
                        <a:buNone/>
                      </a:pPr>
                      <a:endParaRPr sz="2400" u="none" strike="noStrike" cap="none">
                        <a:solidFill>
                          <a:srgbClr val="000000"/>
                        </a:solidFill>
                        <a:latin typeface="Montserrat"/>
                        <a:ea typeface="Montserrat"/>
                        <a:cs typeface="Montserrat"/>
                        <a:sym typeface="Montserrat"/>
                      </a:endParaRPr>
                    </a:p>
                  </a:txBody>
                  <a:tcPr marL="146300" marR="73167" marT="24400" marB="24400" anchor="ct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Only</a:t>
                      </a:r>
                      <a:endParaRPr sz="2400">
                        <a:latin typeface="Montserrat"/>
                        <a:ea typeface="Montserrat"/>
                        <a:cs typeface="Montserrat"/>
                        <a:sym typeface="Montserrat"/>
                      </a:endParaRPr>
                    </a:p>
                  </a:txBody>
                  <a:tcPr marL="146300" marR="73167" marT="24400" marB="24400" anchor="ctr">
                    <a:solidFill>
                      <a:srgbClr val="2E9E5B"/>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127A7A"/>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127A7A"/>
                    </a:solidFill>
                  </a:tcPr>
                </a:tc>
                <a:tc>
                  <a:txBody>
                    <a:bodyPr/>
                    <a:lstStyle/>
                    <a:p>
                      <a:pPr marL="0" marR="0" lvl="0" indent="0" algn="ctr" rtl="0">
                        <a:spcBef>
                          <a:spcPts val="0"/>
                        </a:spcBef>
                        <a:spcAft>
                          <a:spcPts val="0"/>
                        </a:spcAft>
                        <a:buNone/>
                      </a:pPr>
                      <a:r>
                        <a:rPr lang="en" sz="1600" b="1" u="none" strike="noStrike" cap="none">
                          <a:solidFill>
                            <a:srgbClr val="FFFFFF"/>
                          </a:solidFill>
                          <a:latin typeface="Montserrat"/>
                          <a:ea typeface="Montserrat"/>
                          <a:cs typeface="Montserrat"/>
                          <a:sym typeface="Montserrat"/>
                        </a:rPr>
                        <a:t>Solar + BESS</a:t>
                      </a:r>
                      <a:endParaRPr sz="2400">
                        <a:latin typeface="Montserrat"/>
                        <a:ea typeface="Montserrat"/>
                        <a:cs typeface="Montserrat"/>
                        <a:sym typeface="Montserrat"/>
                      </a:endParaRPr>
                    </a:p>
                  </a:txBody>
                  <a:tcPr marL="146300" marR="73167" marT="24400" marB="24400" anchor="ctr">
                    <a:solidFill>
                      <a:srgbClr val="E09A2B"/>
                    </a:solidFill>
                  </a:tcPr>
                </a:tc>
                <a:extLst>
                  <a:ext uri="{0D108BD9-81ED-4DB2-BD59-A6C34878D82A}">
                    <a16:rowId xmlns:a16="http://schemas.microsoft.com/office/drawing/2014/main" val="10000"/>
                  </a:ext>
                </a:extLst>
              </a:tr>
              <a:tr h="455200">
                <a:tc>
                  <a:txBody>
                    <a:bodyPr/>
                    <a:lstStyle/>
                    <a:p>
                      <a:pPr marL="0" marR="0" lvl="0" indent="0" algn="l" rtl="0">
                        <a:spcBef>
                          <a:spcPts val="0"/>
                        </a:spcBef>
                        <a:spcAft>
                          <a:spcPts val="0"/>
                        </a:spcAft>
                        <a:buNone/>
                      </a:pPr>
                      <a:r>
                        <a:rPr lang="en" sz="1300" b="1" i="1" u="none" strike="noStrike" cap="none">
                          <a:solidFill>
                            <a:schemeClr val="dk1"/>
                          </a:solidFill>
                          <a:latin typeface="Montserrat"/>
                          <a:ea typeface="Montserrat"/>
                          <a:cs typeface="Montserrat"/>
                          <a:sym typeface="Montserrat"/>
                        </a:rPr>
                        <a:t>Tariff regime</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New TOU 963</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Current TOU</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New TOU 963</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tc>
                  <a:txBody>
                    <a:bodyPr/>
                    <a:lstStyle/>
                    <a:p>
                      <a:pPr marL="0" marR="0" lvl="0" indent="0" algn="ctr" rtl="0">
                        <a:spcBef>
                          <a:spcPts val="0"/>
                        </a:spcBef>
                        <a:spcAft>
                          <a:spcPts val="0"/>
                        </a:spcAft>
                        <a:buNone/>
                      </a:pPr>
                      <a:r>
                        <a:rPr lang="en" sz="1300" i="1" u="none" strike="noStrike" cap="none">
                          <a:solidFill>
                            <a:schemeClr val="dk1"/>
                          </a:solidFill>
                          <a:latin typeface="Montserrat"/>
                          <a:ea typeface="Montserrat"/>
                          <a:cs typeface="Montserrat"/>
                          <a:sym typeface="Montserrat"/>
                        </a:rPr>
                        <a:t>TOU 963 + 2-comp.</a:t>
                      </a:r>
                      <a:endParaRPr sz="2400">
                        <a:solidFill>
                          <a:schemeClr val="dk1"/>
                        </a:solidFill>
                        <a:latin typeface="Montserrat"/>
                        <a:ea typeface="Montserrat"/>
                        <a:cs typeface="Montserrat"/>
                        <a:sym typeface="Montserrat"/>
                      </a:endParaRPr>
                    </a:p>
                  </a:txBody>
                  <a:tcPr marL="146300" marR="73167" marT="24400" marB="24400" anchor="ctr">
                    <a:solidFill>
                      <a:schemeClr val="lt1"/>
                    </a:solidFill>
                  </a:tcPr>
                </a:tc>
                <a:extLst>
                  <a:ext uri="{0D108BD9-81ED-4DB2-BD59-A6C34878D82A}">
                    <a16:rowId xmlns:a16="http://schemas.microsoft.com/office/drawing/2014/main" val="10001"/>
                  </a:ext>
                </a:extLst>
              </a:tr>
              <a:tr h="439133">
                <a:tc>
                  <a:txBody>
                    <a:bodyPr/>
                    <a:lstStyle/>
                    <a:p>
                      <a:pPr marL="0" marR="0" lvl="0" indent="0" algn="l" rtl="0">
                        <a:spcBef>
                          <a:spcPts val="0"/>
                        </a:spcBef>
                        <a:spcAft>
                          <a:spcPts val="0"/>
                        </a:spcAft>
                        <a:buNone/>
                      </a:pPr>
                      <a:r>
                        <a:rPr lang="en" sz="1500" b="1" u="none" strike="noStrike" cap="none">
                          <a:solidFill>
                            <a:schemeClr val="dk1"/>
                          </a:solidFill>
                          <a:latin typeface="Montserrat"/>
                          <a:ea typeface="Montserrat"/>
                          <a:cs typeface="Montserrat"/>
                          <a:sym typeface="Montserrat"/>
                        </a:rPr>
                        <a:t>PV size</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3.45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5.32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5.91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5.77 MW</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2"/>
                  </a:ext>
                </a:extLst>
              </a:tr>
              <a:tr h="516160">
                <a:tc>
                  <a:txBody>
                    <a:bodyPr/>
                    <a:lstStyle/>
                    <a:p>
                      <a:pPr marL="0" marR="0" lvl="0" indent="0" algn="l" rtl="0">
                        <a:spcBef>
                          <a:spcPts val="0"/>
                        </a:spcBef>
                        <a:spcAft>
                          <a:spcPts val="0"/>
                        </a:spcAft>
                        <a:buNone/>
                      </a:pPr>
                      <a:r>
                        <a:rPr lang="en" sz="1500" b="1" u="none" strike="noStrike" cap="none">
                          <a:solidFill>
                            <a:schemeClr val="dk1"/>
                          </a:solidFill>
                          <a:latin typeface="Montserrat"/>
                          <a:ea typeface="Montserrat"/>
                          <a:cs typeface="Montserrat"/>
                          <a:sym typeface="Montserrat"/>
                        </a:rPr>
                        <a:t>Battery (power / energy)</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a:solidFill>
                            <a:schemeClr val="dk1"/>
                          </a:solidFill>
                          <a:latin typeface="Montserrat"/>
                          <a:ea typeface="Montserrat"/>
                          <a:cs typeface="Montserrat"/>
                          <a:sym typeface="Montserrat"/>
                        </a:rPr>
                        <a:t>-</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1.66 / 8.3</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1.80 / 10.7</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1.83 / 11.7</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3"/>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Clean self-supply</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2E9E5B"/>
                          </a:solidFill>
                          <a:latin typeface="Montserrat"/>
                          <a:ea typeface="Montserrat"/>
                          <a:cs typeface="Montserrat"/>
                          <a:sym typeface="Montserrat"/>
                        </a:rPr>
                        <a:t>35.8%</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59.5%</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65.5%</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b="1" u="none" strike="noStrike" cap="none">
                          <a:solidFill>
                            <a:srgbClr val="E09A2B"/>
                          </a:solidFill>
                          <a:latin typeface="Montserrat"/>
                          <a:ea typeface="Montserrat"/>
                          <a:cs typeface="Montserrat"/>
                          <a:sym typeface="Montserrat"/>
                        </a:rPr>
                        <a:t>65.8%</a:t>
                      </a:r>
                      <a:endParaRPr sz="2400">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4"/>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Total CapEx</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$1.66M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$3.68M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$4.27M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$4.32M</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5"/>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Annual bill savings</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$245k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$531k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$569k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$494k</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6"/>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Equity IRR</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2E9E5B"/>
                          </a:solidFill>
                          <a:latin typeface="Montserrat"/>
                          <a:ea typeface="Montserrat"/>
                          <a:cs typeface="Montserrat"/>
                          <a:sym typeface="Montserrat"/>
                        </a:rPr>
                        <a:t>18.7%</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18.2%</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127A7A"/>
                          </a:solidFill>
                          <a:latin typeface="Montserrat"/>
                          <a:ea typeface="Montserrat"/>
                          <a:cs typeface="Montserrat"/>
                          <a:sym typeface="Montserrat"/>
                        </a:rPr>
                        <a:t>16.1%</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b="1" u="none" strike="noStrike" cap="none">
                          <a:solidFill>
                            <a:srgbClr val="E09A2B"/>
                          </a:solidFill>
                          <a:latin typeface="Montserrat"/>
                          <a:ea typeface="Montserrat"/>
                          <a:cs typeface="Montserrat"/>
                          <a:sym typeface="Montserrat"/>
                        </a:rPr>
                        <a:t>12.4%</a:t>
                      </a:r>
                      <a:endParaRPr sz="2400">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7"/>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25-year NPV</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$0.80M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$1.65M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$1.44M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$0.59M</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08"/>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Average DSCR</a:t>
                      </a:r>
                      <a:endParaRPr sz="2400">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1.33</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1.31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1.21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1.01</a:t>
                      </a:r>
                      <a:endParaRPr sz="2400">
                        <a:solidFill>
                          <a:schemeClr val="dk1"/>
                        </a:solidFill>
                        <a:latin typeface="Montserrat"/>
                        <a:ea typeface="Montserrat"/>
                        <a:cs typeface="Montserrat"/>
                        <a:sym typeface="Montserrat"/>
                      </a:endParaRPr>
                    </a:p>
                  </a:txBody>
                  <a:tcPr marL="146300" marR="73167" marT="24400" marB="24400" anchor="ctr">
                    <a:solidFill>
                      <a:srgbClr val="FFFFFF"/>
                    </a:solidFill>
                  </a:tcPr>
                </a:tc>
                <a:extLst>
                  <a:ext uri="{0D108BD9-81ED-4DB2-BD59-A6C34878D82A}">
                    <a16:rowId xmlns:a16="http://schemas.microsoft.com/office/drawing/2014/main" val="10009"/>
                  </a:ext>
                </a:extLst>
              </a:tr>
              <a:tr h="439133">
                <a:tc>
                  <a:txBody>
                    <a:bodyPr/>
                    <a:lstStyle/>
                    <a:p>
                      <a:pPr marL="0" marR="0" lvl="0" indent="0" algn="l" rtl="0">
                        <a:spcBef>
                          <a:spcPts val="0"/>
                        </a:spcBef>
                        <a:spcAft>
                          <a:spcPts val="0"/>
                        </a:spcAft>
                        <a:buNone/>
                      </a:pPr>
                      <a:r>
                        <a:rPr lang="en" sz="1500" b="1" u="none" strike="noStrike" cap="none">
                          <a:solidFill>
                            <a:srgbClr val="0F293D"/>
                          </a:solidFill>
                          <a:latin typeface="Montserrat"/>
                          <a:ea typeface="Montserrat"/>
                          <a:cs typeface="Montserrat"/>
                          <a:sym typeface="Montserrat"/>
                        </a:rPr>
                        <a:t>Simple payback</a:t>
                      </a:r>
                      <a:endParaRPr sz="2400">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9.0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9.4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10.5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tc>
                  <a:txBody>
                    <a:bodyPr/>
                    <a:lstStyle/>
                    <a:p>
                      <a:pPr marL="0" marR="0" lvl="0" indent="0" algn="ctr" rtl="0">
                        <a:spcBef>
                          <a:spcPts val="0"/>
                        </a:spcBef>
                        <a:spcAft>
                          <a:spcPts val="0"/>
                        </a:spcAft>
                        <a:buNone/>
                      </a:pPr>
                      <a:r>
                        <a:rPr lang="en" sz="1500" u="none" strike="noStrike" cap="none">
                          <a:solidFill>
                            <a:schemeClr val="dk1"/>
                          </a:solidFill>
                          <a:latin typeface="Montserrat"/>
                          <a:ea typeface="Montserrat"/>
                          <a:cs typeface="Montserrat"/>
                          <a:sym typeface="Montserrat"/>
                        </a:rPr>
                        <a:t>12.2 yr</a:t>
                      </a:r>
                      <a:endParaRPr sz="2400">
                        <a:solidFill>
                          <a:schemeClr val="dk1"/>
                        </a:solidFill>
                        <a:latin typeface="Montserrat"/>
                        <a:ea typeface="Montserrat"/>
                        <a:cs typeface="Montserrat"/>
                        <a:sym typeface="Montserrat"/>
                      </a:endParaRPr>
                    </a:p>
                  </a:txBody>
                  <a:tcPr marL="146300" marR="73167" marT="24400" marB="24400" anchor="ctr">
                    <a:solidFill>
                      <a:srgbClr val="F8FAFC"/>
                    </a:solidFill>
                  </a:tcPr>
                </a:tc>
                <a:extLst>
                  <a:ext uri="{0D108BD9-81ED-4DB2-BD59-A6C34878D82A}">
                    <a16:rowId xmlns:a16="http://schemas.microsoft.com/office/drawing/2014/main" val="10010"/>
                  </a:ext>
                </a:extLst>
              </a:tr>
            </a:tbl>
          </a:graphicData>
        </a:graphic>
      </p:graphicFrame>
      <p:sp>
        <p:nvSpPr>
          <p:cNvPr id="1280" name="Google Shape;1280;p149"/>
          <p:cNvSpPr/>
          <p:nvPr/>
        </p:nvSpPr>
        <p:spPr>
          <a:xfrm>
            <a:off x="9373433" y="1198584"/>
            <a:ext cx="2581200" cy="5123600"/>
          </a:xfrm>
          <a:prstGeom prst="rect">
            <a:avLst/>
          </a:prstGeom>
          <a:solidFill>
            <a:srgbClr val="F1F5F7"/>
          </a:solidFill>
          <a:ln w="12700" cap="flat" cmpd="sng">
            <a:solidFill>
              <a:srgbClr val="DDE4E9"/>
            </a:solidFill>
            <a:prstDash val="solid"/>
            <a:round/>
            <a:headEnd type="none" w="sm" len="sm"/>
            <a:tailEnd type="none" w="sm" len="sm"/>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1" name="Google Shape;1281;p149"/>
          <p:cNvSpPr txBox="1"/>
          <p:nvPr/>
        </p:nvSpPr>
        <p:spPr>
          <a:xfrm>
            <a:off x="9600576" y="1401521"/>
            <a:ext cx="2168400" cy="215444"/>
          </a:xfrm>
          <a:prstGeom prst="rect">
            <a:avLst/>
          </a:prstGeom>
          <a:noFill/>
          <a:ln>
            <a:noFill/>
          </a:ln>
        </p:spPr>
        <p:txBody>
          <a:bodyPr spcFirstLastPara="1" wrap="square" lIns="0" tIns="0" rIns="0" bIns="0" anchor="t" anchorCtr="0">
            <a:spAutoFit/>
          </a:bodyPr>
          <a:lstStyle/>
          <a:p>
            <a:r>
              <a:rPr lang="en" sz="1400" b="1">
                <a:solidFill>
                  <a:srgbClr val="0F293D"/>
                </a:solidFill>
                <a:latin typeface="Montserrat"/>
                <a:ea typeface="Montserrat"/>
                <a:cs typeface="Montserrat"/>
                <a:sym typeface="Montserrat"/>
              </a:rPr>
              <a:t>READING THE TABLE</a:t>
            </a:r>
            <a:endParaRPr sz="2400">
              <a:latin typeface="Montserrat"/>
              <a:ea typeface="Montserrat"/>
              <a:cs typeface="Montserrat"/>
              <a:sym typeface="Montserrat"/>
            </a:endParaRPr>
          </a:p>
        </p:txBody>
      </p:sp>
      <p:sp>
        <p:nvSpPr>
          <p:cNvPr id="1282" name="Google Shape;1282;p149"/>
          <p:cNvSpPr/>
          <p:nvPr/>
        </p:nvSpPr>
        <p:spPr>
          <a:xfrm>
            <a:off x="9600576" y="1898715"/>
            <a:ext cx="72000" cy="71200"/>
          </a:xfrm>
          <a:prstGeom prst="ellipse">
            <a:avLst/>
          </a:prstGeom>
          <a:solidFill>
            <a:srgbClr val="0F293D"/>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3" name="Google Shape;1283;p149"/>
          <p:cNvSpPr txBox="1"/>
          <p:nvPr/>
        </p:nvSpPr>
        <p:spPr>
          <a:xfrm>
            <a:off x="9786420" y="1817541"/>
            <a:ext cx="2013600" cy="97539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All four are NPV-positive and clear DSCR ≥ 1.0 - every option is financeable.</a:t>
            </a:r>
            <a:endParaRPr sz="2000">
              <a:solidFill>
                <a:schemeClr val="dk1"/>
              </a:solidFill>
              <a:latin typeface="Montserrat"/>
              <a:ea typeface="Montserrat"/>
              <a:cs typeface="Montserrat"/>
              <a:sym typeface="Montserrat"/>
            </a:endParaRPr>
          </a:p>
        </p:txBody>
      </p:sp>
      <p:sp>
        <p:nvSpPr>
          <p:cNvPr id="1284" name="Google Shape;1284;p149"/>
          <p:cNvSpPr/>
          <p:nvPr/>
        </p:nvSpPr>
        <p:spPr>
          <a:xfrm>
            <a:off x="9585043" y="3226676"/>
            <a:ext cx="72000" cy="71200"/>
          </a:xfrm>
          <a:prstGeom prst="ellipse">
            <a:avLst/>
          </a:prstGeom>
          <a:solidFill>
            <a:srgbClr val="127A7A"/>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5" name="Google Shape;1285;p149"/>
          <p:cNvSpPr txBox="1"/>
          <p:nvPr/>
        </p:nvSpPr>
        <p:spPr>
          <a:xfrm>
            <a:off x="9770887" y="3145502"/>
            <a:ext cx="2013600" cy="731547"/>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Adding BESS lifts clean supply from 36% to ~60-66%.</a:t>
            </a:r>
            <a:endParaRPr sz="2000">
              <a:solidFill>
                <a:schemeClr val="dk1"/>
              </a:solidFill>
              <a:latin typeface="Montserrat"/>
              <a:ea typeface="Montserrat"/>
              <a:cs typeface="Montserrat"/>
              <a:sym typeface="Montserrat"/>
            </a:endParaRPr>
          </a:p>
        </p:txBody>
      </p:sp>
      <p:sp>
        <p:nvSpPr>
          <p:cNvPr id="1286" name="Google Shape;1286;p149"/>
          <p:cNvSpPr/>
          <p:nvPr/>
        </p:nvSpPr>
        <p:spPr>
          <a:xfrm>
            <a:off x="9600576" y="4171604"/>
            <a:ext cx="72000" cy="71200"/>
          </a:xfrm>
          <a:prstGeom prst="ellipse">
            <a:avLst/>
          </a:prstGeom>
          <a:solidFill>
            <a:srgbClr val="E09A2B"/>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
        <p:nvSpPr>
          <p:cNvPr id="1287" name="Google Shape;1287;p149"/>
          <p:cNvSpPr txBox="1"/>
          <p:nvPr/>
        </p:nvSpPr>
        <p:spPr>
          <a:xfrm>
            <a:off x="9786420" y="4090430"/>
            <a:ext cx="2013600" cy="97539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Tariff reform compresses returns (18% → 12%) but never breaks bankability.</a:t>
            </a:r>
            <a:endParaRPr sz="2000">
              <a:solidFill>
                <a:schemeClr val="dk1"/>
              </a:solidFill>
              <a:latin typeface="Montserrat"/>
              <a:ea typeface="Montserrat"/>
              <a:cs typeface="Montserrat"/>
              <a:sym typeface="Montserrat"/>
            </a:endParaRPr>
          </a:p>
        </p:txBody>
      </p:sp>
      <p:sp>
        <p:nvSpPr>
          <p:cNvPr id="1288" name="Google Shape;1288;p149"/>
          <p:cNvSpPr txBox="1"/>
          <p:nvPr/>
        </p:nvSpPr>
        <p:spPr>
          <a:xfrm>
            <a:off x="9786420" y="5143691"/>
            <a:ext cx="2013600" cy="1219245"/>
          </a:xfrm>
          <a:prstGeom prst="rect">
            <a:avLst/>
          </a:prstGeom>
          <a:noFill/>
          <a:ln>
            <a:noFill/>
          </a:ln>
        </p:spPr>
        <p:txBody>
          <a:bodyPr spcFirstLastPara="1" wrap="square" lIns="0" tIns="0" rIns="0" bIns="0" anchor="t" anchorCtr="0">
            <a:spAutoFit/>
          </a:bodyPr>
          <a:lstStyle/>
          <a:p>
            <a:pPr>
              <a:lnSpc>
                <a:spcPct val="108000"/>
              </a:lnSpc>
            </a:pPr>
            <a:r>
              <a:rPr lang="en" sz="1467">
                <a:solidFill>
                  <a:schemeClr val="dk1"/>
                </a:solidFill>
                <a:latin typeface="Montserrat"/>
                <a:ea typeface="Montserrat"/>
                <a:cs typeface="Montserrat"/>
                <a:sym typeface="Montserrat"/>
              </a:rPr>
              <a:t>Solar-only has the highest IRR but the lowest absolute value and clean share.</a:t>
            </a:r>
            <a:endParaRPr sz="2000">
              <a:solidFill>
                <a:schemeClr val="dk1"/>
              </a:solidFill>
              <a:latin typeface="Montserrat"/>
              <a:ea typeface="Montserrat"/>
              <a:cs typeface="Montserrat"/>
              <a:sym typeface="Montserrat"/>
            </a:endParaRPr>
          </a:p>
        </p:txBody>
      </p:sp>
      <p:sp>
        <p:nvSpPr>
          <p:cNvPr id="1289" name="Google Shape;1289;p149"/>
          <p:cNvSpPr/>
          <p:nvPr/>
        </p:nvSpPr>
        <p:spPr>
          <a:xfrm>
            <a:off x="9600576" y="5276504"/>
            <a:ext cx="72000" cy="71200"/>
          </a:xfrm>
          <a:prstGeom prst="ellipse">
            <a:avLst/>
          </a:prstGeom>
          <a:solidFill>
            <a:srgbClr val="309E5C"/>
          </a:solidFill>
          <a:ln>
            <a:noFill/>
          </a:ln>
        </p:spPr>
        <p:txBody>
          <a:bodyPr spcFirstLastPara="1" wrap="square" lIns="121900" tIns="60933" rIns="121900" bIns="60933" anchor="ctr" anchorCtr="0">
            <a:noAutofit/>
          </a:bodyPr>
          <a:lstStyle/>
          <a:p>
            <a:pPr algn="ctr"/>
            <a:endParaRPr sz="2533">
              <a:solidFill>
                <a:srgbClr val="000000"/>
              </a:solidFill>
              <a:latin typeface="Cabin"/>
              <a:ea typeface="Cabin"/>
              <a:cs typeface="Cabin"/>
              <a:sym typeface="Cabi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grpSp>
        <p:nvGrpSpPr>
          <p:cNvPr id="1294" name="Google Shape;1294;p150"/>
          <p:cNvGrpSpPr/>
          <p:nvPr/>
        </p:nvGrpSpPr>
        <p:grpSpPr>
          <a:xfrm>
            <a:off x="9893031" y="6440969"/>
            <a:ext cx="2147396" cy="417033"/>
            <a:chOff x="7472673" y="4830726"/>
            <a:chExt cx="1610547" cy="312775"/>
          </a:xfrm>
        </p:grpSpPr>
        <p:pic>
          <p:nvPicPr>
            <p:cNvPr id="1295" name="Google Shape;1295;p150"/>
            <p:cNvPicPr preferRelativeResize="0"/>
            <p:nvPr/>
          </p:nvPicPr>
          <p:blipFill>
            <a:blip r:embed="rId3">
              <a:alphaModFix/>
            </a:blip>
            <a:stretch>
              <a:fillRect/>
            </a:stretch>
          </p:blipFill>
          <p:spPr>
            <a:xfrm>
              <a:off x="7472673" y="4830726"/>
              <a:ext cx="894924" cy="312775"/>
            </a:xfrm>
            <a:prstGeom prst="rect">
              <a:avLst/>
            </a:prstGeom>
            <a:noFill/>
            <a:ln>
              <a:noFill/>
            </a:ln>
          </p:spPr>
        </p:pic>
        <p:pic>
          <p:nvPicPr>
            <p:cNvPr id="1296" name="Google Shape;1296;p150" title="CEBA new logo.png"/>
            <p:cNvPicPr preferRelativeResize="0"/>
            <p:nvPr/>
          </p:nvPicPr>
          <p:blipFill>
            <a:blip r:embed="rId4">
              <a:alphaModFix/>
            </a:blip>
            <a:stretch>
              <a:fillRect/>
            </a:stretch>
          </p:blipFill>
          <p:spPr>
            <a:xfrm>
              <a:off x="8374923" y="4890787"/>
              <a:ext cx="708296" cy="211825"/>
            </a:xfrm>
            <a:prstGeom prst="rect">
              <a:avLst/>
            </a:prstGeom>
            <a:noFill/>
            <a:ln>
              <a:noFill/>
            </a:ln>
          </p:spPr>
        </p:pic>
      </p:grpSp>
      <p:grpSp>
        <p:nvGrpSpPr>
          <p:cNvPr id="1297" name="Google Shape;1297;p150"/>
          <p:cNvGrpSpPr/>
          <p:nvPr/>
        </p:nvGrpSpPr>
        <p:grpSpPr>
          <a:xfrm>
            <a:off x="319989" y="85138"/>
            <a:ext cx="11637400" cy="994663"/>
            <a:chOff x="236700" y="63853"/>
            <a:chExt cx="8728050" cy="745997"/>
          </a:xfrm>
        </p:grpSpPr>
        <p:sp>
          <p:nvSpPr>
            <p:cNvPr id="1298" name="Google Shape;1298;p150"/>
            <p:cNvSpPr/>
            <p:nvPr/>
          </p:nvSpPr>
          <p:spPr>
            <a:xfrm>
              <a:off x="458250" y="141150"/>
              <a:ext cx="8506500" cy="668700"/>
            </a:xfrm>
            <a:prstGeom prst="homePlate">
              <a:avLst>
                <a:gd name="adj" fmla="val 50000"/>
              </a:avLst>
            </a:prstGeom>
            <a:solidFill>
              <a:srgbClr val="176B62"/>
            </a:solidFill>
            <a:ln>
              <a:noFill/>
            </a:ln>
          </p:spPr>
          <p:txBody>
            <a:bodyPr spcFirstLastPara="1" wrap="square" lIns="121900" tIns="121900" rIns="121900" bIns="121900" anchor="ctr" anchorCtr="0">
              <a:noAutofit/>
            </a:bodyPr>
            <a:lstStyle/>
            <a:p>
              <a:pPr algn="ctr"/>
              <a:endParaRPr sz="2400"/>
            </a:p>
          </p:txBody>
        </p:sp>
        <p:cxnSp>
          <p:nvCxnSpPr>
            <p:cNvPr id="1299" name="Google Shape;1299;p15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300" name="Google Shape;1300;p15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301" name="Google Shape;1301;p15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302" name="Google Shape;1302;p15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303" name="Google Shape;1303;p15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304" name="Google Shape;1304;p15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305" name="Google Shape;1305;p150"/>
            <p:cNvSpPr txBox="1"/>
            <p:nvPr/>
          </p:nvSpPr>
          <p:spPr>
            <a:xfrm>
              <a:off x="637200" y="281363"/>
              <a:ext cx="8255400" cy="461700"/>
            </a:xfrm>
            <a:prstGeom prst="rect">
              <a:avLst/>
            </a:prstGeom>
            <a:noFill/>
            <a:ln>
              <a:noFill/>
            </a:ln>
          </p:spPr>
          <p:txBody>
            <a:bodyPr spcFirstLastPara="1" wrap="square" lIns="91433" tIns="45700" rIns="91433" bIns="45700" anchor="t" anchorCtr="0">
              <a:noAutofit/>
            </a:bodyPr>
            <a:lstStyle/>
            <a:p>
              <a:r>
                <a:rPr lang="en" sz="2800">
                  <a:solidFill>
                    <a:schemeClr val="lt1"/>
                  </a:solidFill>
                  <a:latin typeface="Montserrat ExtraBold"/>
                  <a:ea typeface="Montserrat ExtraBold"/>
                  <a:cs typeface="Montserrat ExtraBold"/>
                  <a:sym typeface="Montserrat ExtraBold"/>
                </a:rPr>
                <a:t>What the Four Cases Tell Us</a:t>
              </a:r>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a:p>
              <a:endParaRPr sz="2800">
                <a:solidFill>
                  <a:schemeClr val="lt1"/>
                </a:solidFill>
                <a:latin typeface="Montserrat ExtraBold"/>
                <a:ea typeface="Montserrat ExtraBold"/>
                <a:cs typeface="Montserrat ExtraBold"/>
                <a:sym typeface="Montserrat ExtraBold"/>
              </a:endParaRPr>
            </a:p>
          </p:txBody>
        </p:sp>
        <p:cxnSp>
          <p:nvCxnSpPr>
            <p:cNvPr id="1306" name="Google Shape;1306;p150"/>
            <p:cNvCxnSpPr/>
            <p:nvPr/>
          </p:nvCxnSpPr>
          <p:spPr>
            <a:xfrm rot="10800000">
              <a:off x="458250" y="707800"/>
              <a:ext cx="3647400" cy="0"/>
            </a:xfrm>
            <a:prstGeom prst="straightConnector1">
              <a:avLst/>
            </a:prstGeom>
            <a:noFill/>
            <a:ln w="19050" cap="flat" cmpd="sng">
              <a:solidFill>
                <a:schemeClr val="lt1"/>
              </a:solidFill>
              <a:prstDash val="solid"/>
              <a:round/>
              <a:headEnd type="none" w="med" len="med"/>
              <a:tailEnd type="none" w="med" len="med"/>
            </a:ln>
          </p:spPr>
        </p:cxnSp>
        <p:cxnSp>
          <p:nvCxnSpPr>
            <p:cNvPr id="1307" name="Google Shape;1307;p150"/>
            <p:cNvCxnSpPr/>
            <p:nvPr/>
          </p:nvCxnSpPr>
          <p:spPr>
            <a:xfrm>
              <a:off x="2731248" y="141150"/>
              <a:ext cx="112500" cy="112500"/>
            </a:xfrm>
            <a:prstGeom prst="straightConnector1">
              <a:avLst/>
            </a:prstGeom>
            <a:noFill/>
            <a:ln w="19050" cap="flat" cmpd="sng">
              <a:solidFill>
                <a:schemeClr val="lt1"/>
              </a:solidFill>
              <a:prstDash val="solid"/>
              <a:round/>
              <a:headEnd type="none" w="med" len="med"/>
              <a:tailEnd type="none" w="med" len="med"/>
            </a:ln>
          </p:spPr>
        </p:cxnSp>
      </p:grpSp>
      <p:sp>
        <p:nvSpPr>
          <p:cNvPr id="1308" name="Google Shape;1308;p150"/>
          <p:cNvSpPr/>
          <p:nvPr/>
        </p:nvSpPr>
        <p:spPr>
          <a:xfrm>
            <a:off x="427433" y="1233800"/>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09" name="Google Shape;1309;p150"/>
          <p:cNvSpPr/>
          <p:nvPr/>
        </p:nvSpPr>
        <p:spPr>
          <a:xfrm>
            <a:off x="427433" y="1233800"/>
            <a:ext cx="742000" cy="1161600"/>
          </a:xfrm>
          <a:prstGeom prst="rect">
            <a:avLst/>
          </a:prstGeom>
          <a:solidFill>
            <a:srgbClr val="2E9E5B"/>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0" name="Google Shape;1310;p150"/>
          <p:cNvSpPr txBox="1"/>
          <p:nvPr/>
        </p:nvSpPr>
        <p:spPr>
          <a:xfrm>
            <a:off x="427433" y="1343358"/>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01</a:t>
            </a:r>
            <a:endParaRPr sz="1851">
              <a:latin typeface="Cabin"/>
              <a:ea typeface="Cabin"/>
              <a:cs typeface="Cabin"/>
              <a:sym typeface="Cabin"/>
            </a:endParaRPr>
          </a:p>
        </p:txBody>
      </p:sp>
      <p:sp>
        <p:nvSpPr>
          <p:cNvPr id="1311" name="Google Shape;1311;p150"/>
          <p:cNvSpPr txBox="1"/>
          <p:nvPr/>
        </p:nvSpPr>
        <p:spPr>
          <a:xfrm>
            <a:off x="1378785" y="1387232"/>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Solar alone is only a partial hedge</a:t>
            </a:r>
            <a:endParaRPr sz="1851">
              <a:latin typeface="Montserrat"/>
              <a:ea typeface="Montserrat"/>
              <a:cs typeface="Montserrat"/>
              <a:sym typeface="Montserrat"/>
            </a:endParaRPr>
          </a:p>
        </p:txBody>
      </p:sp>
      <p:sp>
        <p:nvSpPr>
          <p:cNvPr id="1312" name="Google Shape;1312;p150"/>
          <p:cNvSpPr txBox="1"/>
          <p:nvPr/>
        </p:nvSpPr>
        <p:spPr>
          <a:xfrm>
            <a:off x="1378785" y="1836561"/>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Optimized rooftop PV caps at ~36% of demand and leaves the priced evening peak on the grid.</a:t>
            </a:r>
            <a:endParaRPr sz="1851">
              <a:solidFill>
                <a:schemeClr val="dk1"/>
              </a:solidFill>
              <a:latin typeface="Montserrat"/>
              <a:ea typeface="Montserrat"/>
              <a:cs typeface="Montserrat"/>
              <a:sym typeface="Montserrat"/>
            </a:endParaRPr>
          </a:p>
        </p:txBody>
      </p:sp>
      <p:sp>
        <p:nvSpPr>
          <p:cNvPr id="1313" name="Google Shape;1313;p150"/>
          <p:cNvSpPr/>
          <p:nvPr/>
        </p:nvSpPr>
        <p:spPr>
          <a:xfrm>
            <a:off x="427433" y="2494120"/>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4" name="Google Shape;1314;p150"/>
          <p:cNvSpPr/>
          <p:nvPr/>
        </p:nvSpPr>
        <p:spPr>
          <a:xfrm>
            <a:off x="427433" y="2494120"/>
            <a:ext cx="742000" cy="1161600"/>
          </a:xfrm>
          <a:prstGeom prst="rect">
            <a:avLst/>
          </a:prstGeom>
          <a:solidFill>
            <a:srgbClr val="127A7A"/>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5" name="Google Shape;1315;p150"/>
          <p:cNvSpPr txBox="1"/>
          <p:nvPr/>
        </p:nvSpPr>
        <p:spPr>
          <a:xfrm>
            <a:off x="427433" y="2603678"/>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02</a:t>
            </a:r>
            <a:endParaRPr sz="1851">
              <a:latin typeface="Cabin"/>
              <a:ea typeface="Cabin"/>
              <a:cs typeface="Cabin"/>
              <a:sym typeface="Cabin"/>
            </a:endParaRPr>
          </a:p>
        </p:txBody>
      </p:sp>
      <p:sp>
        <p:nvSpPr>
          <p:cNvPr id="1316" name="Google Shape;1316;p150"/>
          <p:cNvSpPr txBox="1"/>
          <p:nvPr/>
        </p:nvSpPr>
        <p:spPr>
          <a:xfrm>
            <a:off x="1378785" y="2647552"/>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BESS is what unlocks 24/7 clean energy</a:t>
            </a:r>
            <a:endParaRPr sz="1851">
              <a:latin typeface="Montserrat"/>
              <a:ea typeface="Montserrat"/>
              <a:cs typeface="Montserrat"/>
              <a:sym typeface="Montserrat"/>
            </a:endParaRPr>
          </a:p>
        </p:txBody>
      </p:sp>
      <p:sp>
        <p:nvSpPr>
          <p:cNvPr id="1317" name="Google Shape;1317;p150"/>
          <p:cNvSpPr txBox="1"/>
          <p:nvPr/>
        </p:nvSpPr>
        <p:spPr>
          <a:xfrm>
            <a:off x="1378785" y="3096882"/>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Storage lifts clean self-supply to 60 - 66% and roughly doubles bill savings, while equity IRR stays 16-18% and NPV stays positive.</a:t>
            </a:r>
            <a:endParaRPr sz="1851">
              <a:solidFill>
                <a:schemeClr val="dk1"/>
              </a:solidFill>
              <a:latin typeface="Montserrat"/>
              <a:ea typeface="Montserrat"/>
              <a:cs typeface="Montserrat"/>
              <a:sym typeface="Montserrat"/>
            </a:endParaRPr>
          </a:p>
        </p:txBody>
      </p:sp>
      <p:sp>
        <p:nvSpPr>
          <p:cNvPr id="1318" name="Google Shape;1318;p150"/>
          <p:cNvSpPr/>
          <p:nvPr/>
        </p:nvSpPr>
        <p:spPr>
          <a:xfrm>
            <a:off x="427433" y="3754439"/>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19" name="Google Shape;1319;p150"/>
          <p:cNvSpPr/>
          <p:nvPr/>
        </p:nvSpPr>
        <p:spPr>
          <a:xfrm>
            <a:off x="427433" y="3754439"/>
            <a:ext cx="742000" cy="1161600"/>
          </a:xfrm>
          <a:prstGeom prst="rect">
            <a:avLst/>
          </a:prstGeom>
          <a:solidFill>
            <a:srgbClr val="0F293D"/>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0" name="Google Shape;1320;p150"/>
          <p:cNvSpPr txBox="1"/>
          <p:nvPr/>
        </p:nvSpPr>
        <p:spPr>
          <a:xfrm>
            <a:off x="427433" y="3863997"/>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03</a:t>
            </a:r>
            <a:endParaRPr sz="1851">
              <a:latin typeface="Cabin"/>
              <a:ea typeface="Cabin"/>
              <a:cs typeface="Cabin"/>
              <a:sym typeface="Cabin"/>
            </a:endParaRPr>
          </a:p>
        </p:txBody>
      </p:sp>
      <p:sp>
        <p:nvSpPr>
          <p:cNvPr id="1321" name="Google Shape;1321;p150"/>
          <p:cNvSpPr txBox="1"/>
          <p:nvPr/>
        </p:nvSpPr>
        <p:spPr>
          <a:xfrm>
            <a:off x="1378785" y="3907870"/>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Tariff reform compresses but never breaks the case</a:t>
            </a:r>
            <a:endParaRPr sz="1851">
              <a:latin typeface="Montserrat"/>
              <a:ea typeface="Montserrat"/>
              <a:cs typeface="Montserrat"/>
              <a:sym typeface="Montserrat"/>
            </a:endParaRPr>
          </a:p>
        </p:txBody>
      </p:sp>
      <p:sp>
        <p:nvSpPr>
          <p:cNvPr id="1322" name="Google Shape;1322;p150"/>
          <p:cNvSpPr txBox="1"/>
          <p:nvPr/>
        </p:nvSpPr>
        <p:spPr>
          <a:xfrm>
            <a:off x="1378785" y="4357202"/>
            <a:ext cx="6611600" cy="494366"/>
          </a:xfrm>
          <a:prstGeom prst="rect">
            <a:avLst/>
          </a:prstGeom>
          <a:noFill/>
          <a:ln>
            <a:noFill/>
          </a:ln>
        </p:spPr>
        <p:txBody>
          <a:bodyPr spcFirstLastPara="1" wrap="square" lIns="0" tIns="0" rIns="0" bIns="0" anchor="t" anchorCtr="0">
            <a:spAutoFit/>
          </a:bodyPr>
          <a:lstStyle/>
          <a:p>
            <a:pPr>
              <a:lnSpc>
                <a:spcPct val="108000"/>
              </a:lnSpc>
            </a:pPr>
            <a:r>
              <a:rPr lang="en" sz="1487">
                <a:solidFill>
                  <a:schemeClr val="dk1"/>
                </a:solidFill>
                <a:latin typeface="Montserrat"/>
                <a:ea typeface="Montserrat"/>
                <a:cs typeface="Montserrat"/>
                <a:sym typeface="Montserrat"/>
              </a:rPr>
              <a:t>Across current TOU, Decision 963 and the two-component tariff, every Solar+BESS case clears DSCR ≥ 1.0 and remains financeable.</a:t>
            </a:r>
            <a:endParaRPr sz="1851">
              <a:solidFill>
                <a:schemeClr val="dk1"/>
              </a:solidFill>
              <a:latin typeface="Montserrat"/>
              <a:ea typeface="Montserrat"/>
              <a:cs typeface="Montserrat"/>
              <a:sym typeface="Montserrat"/>
            </a:endParaRPr>
          </a:p>
        </p:txBody>
      </p:sp>
      <p:sp>
        <p:nvSpPr>
          <p:cNvPr id="1323" name="Google Shape;1323;p150"/>
          <p:cNvSpPr/>
          <p:nvPr/>
        </p:nvSpPr>
        <p:spPr>
          <a:xfrm>
            <a:off x="427433" y="5014759"/>
            <a:ext cx="7658400" cy="1161600"/>
          </a:xfrm>
          <a:prstGeom prst="rect">
            <a:avLst/>
          </a:prstGeom>
          <a:solidFill>
            <a:srgbClr val="F7F9FA"/>
          </a:solidFill>
          <a:ln w="9925" cap="flat" cmpd="sng">
            <a:solidFill>
              <a:srgbClr val="DDE4E9"/>
            </a:solidFill>
            <a:prstDash val="solid"/>
            <a:round/>
            <a:headEnd type="none" w="sm" len="sm"/>
            <a:tailEnd type="none" w="sm" len="sm"/>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4" name="Google Shape;1324;p150"/>
          <p:cNvSpPr/>
          <p:nvPr/>
        </p:nvSpPr>
        <p:spPr>
          <a:xfrm>
            <a:off x="427433" y="5014759"/>
            <a:ext cx="742000" cy="1161600"/>
          </a:xfrm>
          <a:prstGeom prst="rect">
            <a:avLst/>
          </a:prstGeom>
          <a:solidFill>
            <a:srgbClr val="E09A2B"/>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5" name="Google Shape;1325;p150"/>
          <p:cNvSpPr txBox="1"/>
          <p:nvPr/>
        </p:nvSpPr>
        <p:spPr>
          <a:xfrm>
            <a:off x="427433" y="5124317"/>
            <a:ext cx="742000" cy="412870"/>
          </a:xfrm>
          <a:prstGeom prst="rect">
            <a:avLst/>
          </a:prstGeom>
          <a:noFill/>
          <a:ln>
            <a:noFill/>
          </a:ln>
        </p:spPr>
        <p:txBody>
          <a:bodyPr spcFirstLastPara="1" wrap="square" lIns="0" tIns="0" rIns="0" bIns="0" anchor="ctr" anchorCtr="0">
            <a:spAutoFit/>
          </a:bodyPr>
          <a:lstStyle/>
          <a:p>
            <a:pPr algn="ctr"/>
            <a:r>
              <a:rPr lang="en" sz="2683" b="1">
                <a:solidFill>
                  <a:srgbClr val="FFFFFF"/>
                </a:solidFill>
                <a:latin typeface="Cabin"/>
                <a:ea typeface="Cabin"/>
                <a:cs typeface="Cabin"/>
                <a:sym typeface="Cabin"/>
              </a:rPr>
              <a:t>04</a:t>
            </a:r>
            <a:endParaRPr sz="1851">
              <a:latin typeface="Cabin"/>
              <a:ea typeface="Cabin"/>
              <a:cs typeface="Cabin"/>
              <a:sym typeface="Cabin"/>
            </a:endParaRPr>
          </a:p>
        </p:txBody>
      </p:sp>
      <p:sp>
        <p:nvSpPr>
          <p:cNvPr id="1326" name="Google Shape;1326;p150"/>
          <p:cNvSpPr txBox="1"/>
          <p:nvPr/>
        </p:nvSpPr>
        <p:spPr>
          <a:xfrm>
            <a:off x="1378785" y="5168190"/>
            <a:ext cx="6564400" cy="292837"/>
          </a:xfrm>
          <a:prstGeom prst="rect">
            <a:avLst/>
          </a:prstGeom>
          <a:noFill/>
          <a:ln>
            <a:noFill/>
          </a:ln>
        </p:spPr>
        <p:txBody>
          <a:bodyPr spcFirstLastPara="1" wrap="square" lIns="0" tIns="0" rIns="0" bIns="0" anchor="t" anchorCtr="0">
            <a:spAutoFit/>
          </a:bodyPr>
          <a:lstStyle/>
          <a:p>
            <a:r>
              <a:rPr lang="en" sz="1903" b="1">
                <a:solidFill>
                  <a:srgbClr val="0F293D"/>
                </a:solidFill>
                <a:latin typeface="Montserrat"/>
                <a:ea typeface="Montserrat"/>
                <a:cs typeface="Montserrat"/>
                <a:sym typeface="Montserrat"/>
              </a:rPr>
              <a:t>Size the battery for the 2026 tariff,  not today's</a:t>
            </a:r>
            <a:endParaRPr sz="1851">
              <a:latin typeface="Montserrat"/>
              <a:ea typeface="Montserrat"/>
              <a:cs typeface="Montserrat"/>
              <a:sym typeface="Montserrat"/>
            </a:endParaRPr>
          </a:p>
        </p:txBody>
      </p:sp>
      <p:sp>
        <p:nvSpPr>
          <p:cNvPr id="1327" name="Google Shape;1327;p150"/>
          <p:cNvSpPr txBox="1"/>
          <p:nvPr/>
        </p:nvSpPr>
        <p:spPr>
          <a:xfrm>
            <a:off x="1378803" y="5534654"/>
            <a:ext cx="6611600" cy="674608"/>
          </a:xfrm>
          <a:prstGeom prst="rect">
            <a:avLst/>
          </a:prstGeom>
          <a:noFill/>
          <a:ln>
            <a:noFill/>
          </a:ln>
        </p:spPr>
        <p:txBody>
          <a:bodyPr spcFirstLastPara="1" wrap="square" lIns="0" tIns="0" rIns="0" bIns="0" anchor="t" anchorCtr="0">
            <a:spAutoFit/>
          </a:bodyPr>
          <a:lstStyle/>
          <a:p>
            <a:pPr>
              <a:lnSpc>
                <a:spcPct val="108000"/>
              </a:lnSpc>
            </a:pPr>
            <a:r>
              <a:rPr lang="en" sz="1353">
                <a:solidFill>
                  <a:schemeClr val="dk1"/>
                </a:solidFill>
                <a:latin typeface="Montserrat"/>
                <a:ea typeface="Montserrat"/>
                <a:cs typeface="Montserrat"/>
                <a:sym typeface="Montserrat"/>
              </a:rPr>
              <a:t>Under the two-component capacity charge, demand-charge avoidance (peak −46%) becomes the single largest value stream. Size for power, not just energy.</a:t>
            </a:r>
            <a:endParaRPr sz="1717">
              <a:solidFill>
                <a:schemeClr val="dk1"/>
              </a:solidFill>
              <a:latin typeface="Montserrat"/>
              <a:ea typeface="Montserrat"/>
              <a:cs typeface="Montserrat"/>
              <a:sym typeface="Montserrat"/>
            </a:endParaRPr>
          </a:p>
        </p:txBody>
      </p:sp>
      <p:sp>
        <p:nvSpPr>
          <p:cNvPr id="1328" name="Google Shape;1328;p150"/>
          <p:cNvSpPr/>
          <p:nvPr/>
        </p:nvSpPr>
        <p:spPr>
          <a:xfrm>
            <a:off x="8295133" y="1233800"/>
            <a:ext cx="3329600" cy="4958800"/>
          </a:xfrm>
          <a:prstGeom prst="rect">
            <a:avLst/>
          </a:prstGeom>
          <a:solidFill>
            <a:srgbClr val="0F293D"/>
          </a:solidFill>
          <a:ln>
            <a:noFill/>
          </a:ln>
        </p:spPr>
        <p:txBody>
          <a:bodyPr spcFirstLastPara="1" wrap="square" lIns="95100" tIns="47567" rIns="95100" bIns="47567" anchor="ctr" anchorCtr="0">
            <a:noAutofit/>
          </a:bodyPr>
          <a:lstStyle/>
          <a:p>
            <a:pPr algn="ctr"/>
            <a:endParaRPr sz="2267">
              <a:solidFill>
                <a:srgbClr val="000000"/>
              </a:solidFill>
              <a:latin typeface="Cabin"/>
              <a:ea typeface="Cabin"/>
              <a:cs typeface="Cabin"/>
              <a:sym typeface="Cabin"/>
            </a:endParaRPr>
          </a:p>
        </p:txBody>
      </p:sp>
      <p:sp>
        <p:nvSpPr>
          <p:cNvPr id="1329" name="Google Shape;1329;p150"/>
          <p:cNvSpPr txBox="1"/>
          <p:nvPr/>
        </p:nvSpPr>
        <p:spPr>
          <a:xfrm>
            <a:off x="8580525" y="1595456"/>
            <a:ext cx="2806800" cy="236860"/>
          </a:xfrm>
          <a:prstGeom prst="rect">
            <a:avLst/>
          </a:prstGeom>
          <a:noFill/>
          <a:ln>
            <a:noFill/>
          </a:ln>
        </p:spPr>
        <p:txBody>
          <a:bodyPr spcFirstLastPara="1" wrap="square" lIns="0" tIns="0" rIns="0" bIns="0" anchor="t" anchorCtr="0">
            <a:spAutoFit/>
          </a:bodyPr>
          <a:lstStyle/>
          <a:p>
            <a:r>
              <a:rPr lang="en" sz="1539" b="1">
                <a:solidFill>
                  <a:srgbClr val="E09A2B"/>
                </a:solidFill>
                <a:latin typeface="Montserrat"/>
                <a:ea typeface="Montserrat"/>
                <a:cs typeface="Montserrat"/>
                <a:sym typeface="Montserrat"/>
              </a:rPr>
              <a:t>RECOMMENDATION</a:t>
            </a:r>
            <a:endParaRPr sz="1851">
              <a:latin typeface="Montserrat"/>
              <a:ea typeface="Montserrat"/>
              <a:cs typeface="Montserrat"/>
              <a:sym typeface="Montserrat"/>
            </a:endParaRPr>
          </a:p>
        </p:txBody>
      </p:sp>
      <p:sp>
        <p:nvSpPr>
          <p:cNvPr id="1330" name="Google Shape;1330;p150"/>
          <p:cNvSpPr txBox="1"/>
          <p:nvPr/>
        </p:nvSpPr>
        <p:spPr>
          <a:xfrm>
            <a:off x="8580525" y="2088626"/>
            <a:ext cx="2806800" cy="2256387"/>
          </a:xfrm>
          <a:prstGeom prst="rect">
            <a:avLst/>
          </a:prstGeom>
          <a:noFill/>
          <a:ln>
            <a:noFill/>
          </a:ln>
        </p:spPr>
        <p:txBody>
          <a:bodyPr spcFirstLastPara="1" wrap="square" lIns="0" tIns="0" rIns="0" bIns="0" anchor="t" anchorCtr="0">
            <a:spAutoFit/>
          </a:bodyPr>
          <a:lstStyle/>
          <a:p>
            <a:pPr>
              <a:lnSpc>
                <a:spcPct val="125000"/>
              </a:lnSpc>
            </a:pPr>
            <a:r>
              <a:rPr lang="en" sz="1955">
                <a:solidFill>
                  <a:srgbClr val="FFFFFF"/>
                </a:solidFill>
                <a:latin typeface="Montserrat"/>
                <a:ea typeface="Montserrat"/>
                <a:cs typeface="Montserrat"/>
                <a:sym typeface="Montserrat"/>
              </a:rPr>
              <a:t>Pursue integrated </a:t>
            </a:r>
            <a:r>
              <a:rPr lang="en" sz="1955" b="1">
                <a:solidFill>
                  <a:srgbClr val="FFFFFF"/>
                </a:solidFill>
                <a:latin typeface="Montserrat"/>
                <a:ea typeface="Montserrat"/>
                <a:cs typeface="Montserrat"/>
                <a:sym typeface="Montserrat"/>
              </a:rPr>
              <a:t>Solar + BESS now</a:t>
            </a:r>
            <a:r>
              <a:rPr lang="en" sz="1955">
                <a:solidFill>
                  <a:srgbClr val="FFFFFF"/>
                </a:solidFill>
                <a:latin typeface="Montserrat"/>
                <a:ea typeface="Montserrat"/>
                <a:cs typeface="Montserrat"/>
                <a:sym typeface="Montserrat"/>
              </a:rPr>
              <a:t>,  and size storage to the </a:t>
            </a:r>
            <a:r>
              <a:rPr lang="en" sz="1955" b="1">
                <a:solidFill>
                  <a:srgbClr val="E09A2B"/>
                </a:solidFill>
                <a:latin typeface="Montserrat"/>
                <a:ea typeface="Montserrat"/>
                <a:cs typeface="Montserrat"/>
                <a:sym typeface="Montserrat"/>
              </a:rPr>
              <a:t>tariff you will face in 2026</a:t>
            </a:r>
            <a:r>
              <a:rPr lang="en" sz="1955">
                <a:solidFill>
                  <a:srgbClr val="FFFFFF"/>
                </a:solidFill>
                <a:latin typeface="Montserrat"/>
                <a:ea typeface="Montserrat"/>
                <a:cs typeface="Montserrat"/>
                <a:sym typeface="Montserrat"/>
              </a:rPr>
              <a:t>, not the one you have today.</a:t>
            </a:r>
            <a:endParaRPr sz="1851">
              <a:latin typeface="Montserrat"/>
              <a:ea typeface="Montserrat"/>
              <a:cs typeface="Montserrat"/>
              <a:sym typeface="Montserrat"/>
            </a:endParaRPr>
          </a:p>
        </p:txBody>
      </p:sp>
      <p:sp>
        <p:nvSpPr>
          <p:cNvPr id="1331" name="Google Shape;1331;p150"/>
          <p:cNvSpPr txBox="1"/>
          <p:nvPr/>
        </p:nvSpPr>
        <p:spPr>
          <a:xfrm>
            <a:off x="8580525" y="4916027"/>
            <a:ext cx="2806800" cy="1117998"/>
          </a:xfrm>
          <a:prstGeom prst="rect">
            <a:avLst/>
          </a:prstGeom>
          <a:noFill/>
          <a:ln>
            <a:noFill/>
          </a:ln>
        </p:spPr>
        <p:txBody>
          <a:bodyPr spcFirstLastPara="1" wrap="square" lIns="0" tIns="0" rIns="0" bIns="0" anchor="t" anchorCtr="0">
            <a:spAutoFit/>
          </a:bodyPr>
          <a:lstStyle/>
          <a:p>
            <a:pPr>
              <a:lnSpc>
                <a:spcPct val="118000"/>
              </a:lnSpc>
            </a:pPr>
            <a:r>
              <a:rPr lang="en" sz="1539">
                <a:solidFill>
                  <a:schemeClr val="lt1"/>
                </a:solidFill>
                <a:latin typeface="Montserrat"/>
                <a:ea typeface="Montserrat"/>
                <a:cs typeface="Montserrat"/>
                <a:sym typeface="Montserrat"/>
              </a:rPr>
              <a:t>The battery converts a daytime solar hedge into bankable, round-the-clock clean supply.</a:t>
            </a:r>
            <a:endParaRPr sz="1851">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2046</Words>
  <Application>Microsoft Office PowerPoint</Application>
  <PresentationFormat>Widescreen</PresentationFormat>
  <Paragraphs>247</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Aptos</vt:lpstr>
      <vt:lpstr>Aptos Display</vt:lpstr>
      <vt:lpstr>Arial</vt:lpstr>
      <vt:lpstr>Cabin</vt:lpstr>
      <vt:lpstr>Calibri</vt:lpstr>
      <vt:lpstr>Montserrat</vt:lpstr>
      <vt:lpstr>Montserrat ExtraBold</vt:lpstr>
      <vt:lpstr>Montserrat SemiBold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Tung Ho</dc:creator>
  <cp:lastModifiedBy>Tung Ho</cp:lastModifiedBy>
  <cp:revision>1</cp:revision>
  <dcterms:created xsi:type="dcterms:W3CDTF">2026-06-17T04:23:32Z</dcterms:created>
  <dcterms:modified xsi:type="dcterms:W3CDTF">2026-06-17T04:23:36Z</dcterms:modified>
</cp:coreProperties>
</file>