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1" r:id="rId1"/>
    <p:sldMasterId id="2147483767" r:id="rId2"/>
  </p:sldMasterIdLst>
  <p:notesMasterIdLst>
    <p:notesMasterId r:id="rId31"/>
  </p:notesMasterIdLst>
  <p:sldIdLst>
    <p:sldId id="28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</p:sldIdLst>
  <p:sldSz cx="9144000" cy="5143500" type="screen16x9"/>
  <p:notesSz cx="6858000" cy="9144000"/>
  <p:embeddedFontLst>
    <p:embeddedFont>
      <p:font typeface="Be Vietnam Pro" panose="020B0604020202020204" charset="0"/>
      <p:regular r:id="rId32"/>
      <p:bold r:id="rId33"/>
      <p:italic r:id="rId34"/>
      <p:boldItalic r:id="rId35"/>
    </p:embeddedFont>
    <p:embeddedFont>
      <p:font typeface="Be Vietnam Pro SemiBold" panose="020B0604020202020204" charset="0"/>
      <p:regular r:id="rId36"/>
      <p:bold r:id="rId37"/>
      <p:italic r:id="rId38"/>
      <p:bold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Geo" panose="020B0604020202020204"/>
      <p:regular r:id="rId44"/>
      <p:italic r:id="rId45"/>
    </p:embeddedFont>
    <p:embeddedFont>
      <p:font typeface="Lato" panose="020F0502020204030203" pitchFamily="34" charset="0"/>
      <p:regular r:id="rId46"/>
      <p:bold r:id="rId47"/>
      <p:italic r:id="rId48"/>
      <p:boldItalic r:id="rId49"/>
    </p:embeddedFont>
    <p:embeddedFont>
      <p:font typeface="Montserrat" panose="00000500000000000000" pitchFamily="2" charset="0"/>
      <p:regular r:id="rId50"/>
      <p:bold r:id="rId51"/>
      <p:italic r:id="rId52"/>
      <p:boldItalic r:id="rId53"/>
    </p:embeddedFont>
    <p:embeddedFont>
      <p:font typeface="Montserrat ExtraBold" panose="00000900000000000000" pitchFamily="2" charset="0"/>
      <p:bold r:id="rId54"/>
      <p:boldItalic r:id="rId55"/>
    </p:embeddedFont>
    <p:embeddedFont>
      <p:font typeface="Quattrocento Sans" panose="020B0502050000020003" pitchFamily="34" charset="0"/>
      <p:regular r:id="rId56"/>
      <p:bold r:id="rId57"/>
      <p:italic r:id="rId58"/>
      <p:boldItalic r:id="rId59"/>
    </p:embeddedFont>
    <p:embeddedFont>
      <p:font typeface="Raleway" pitchFamily="2" charset="0"/>
      <p:regular r:id="rId60"/>
      <p:bold r:id="rId61"/>
    </p:embeddedFont>
    <p:embeddedFont>
      <p:font typeface="Roboto" panose="02000000000000000000" pitchFamily="2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6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ang Tran" initials="" lastIdx="4" clrIdx="0"/>
  <p:cmAuthor id="1" name="Hong Anh Le" initials="" lastIdx="12" clrIdx="1"/>
  <p:cmAuthor id="2" name="Lauren McGinley" initials="" lastIdx="10" clrIdx="2"/>
  <p:cmAuthor id="3" name="Cong Nguyen" initials="" lastIdx="4" clrIdx="3"/>
  <p:cmAuthor id="4" name="Aiden Roake" initials="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1033D3-121A-4ABF-A30B-B91F07BF1167}">
  <a:tblStyle styleId="{121033D3-121A-4ABF-A30B-B91F07BF11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E8BD2AF-5D0D-4EDC-AE96-A30A7DA1AF2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742F6B-ED47-481C-AEBF-CD6BD09226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pos="28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Relationship Id="rId47" Type="http://schemas.openxmlformats.org/officeDocument/2006/relationships/font" Target="fonts/font16.fntdata"/><Relationship Id="rId48" Type="http://schemas.openxmlformats.org/officeDocument/2006/relationships/font" Target="fonts/font17.fntdata"/><Relationship Id="rId49" Type="http://schemas.openxmlformats.org/officeDocument/2006/relationships/font" Target="fonts/font18.fntdata"/><Relationship Id="rId50" Type="http://schemas.openxmlformats.org/officeDocument/2006/relationships/font" Target="fonts/font19.fntdata"/><Relationship Id="rId51" Type="http://schemas.openxmlformats.org/officeDocument/2006/relationships/font" Target="fonts/font20.fntdata"/><Relationship Id="rId52" Type="http://schemas.openxmlformats.org/officeDocument/2006/relationships/font" Target="fonts/font21.fntdata"/><Relationship Id="rId53" Type="http://schemas.openxmlformats.org/officeDocument/2006/relationships/font" Target="fonts/font22.fntdata"/><Relationship Id="rId54" Type="http://schemas.openxmlformats.org/officeDocument/2006/relationships/font" Target="fonts/font23.fntdata"/><Relationship Id="rId55" Type="http://schemas.openxmlformats.org/officeDocument/2006/relationships/font" Target="fonts/font24.fntdata"/><Relationship Id="rId56" Type="http://schemas.openxmlformats.org/officeDocument/2006/relationships/font" Target="fonts/font25.fntdata"/><Relationship Id="rId57" Type="http://schemas.openxmlformats.org/officeDocument/2006/relationships/font" Target="fonts/font26.fntdata"/><Relationship Id="rId58" Type="http://schemas.openxmlformats.org/officeDocument/2006/relationships/font" Target="fonts/font27.fntdata"/><Relationship Id="rId59" Type="http://schemas.openxmlformats.org/officeDocument/2006/relationships/font" Target="fonts/font28.fntdata"/><Relationship Id="rId60" Type="http://schemas.openxmlformats.org/officeDocument/2006/relationships/font" Target="fonts/font29.fntdata"/><Relationship Id="rId61" Type="http://schemas.openxmlformats.org/officeDocument/2006/relationships/font" Target="fonts/font30.fntdata"/><Relationship Id="rId62" Type="http://schemas.openxmlformats.org/officeDocument/2006/relationships/font" Target="fonts/font31.fntdata"/><Relationship Id="rId63" Type="http://schemas.openxmlformats.org/officeDocument/2006/relationships/font" Target="fonts/font32.fntdata"/><Relationship Id="rId64" Type="http://schemas.openxmlformats.org/officeDocument/2006/relationships/font" Target="fonts/font33.fntdata"/><Relationship Id="rId65" Type="http://schemas.openxmlformats.org/officeDocument/2006/relationships/font" Target="fonts/font34.fntdata"/><Relationship Id="rId66" Type="http://schemas.openxmlformats.org/officeDocument/2006/relationships/commentAuthors" Target="commentAuthors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2T22:38:28.639" idx="1">
    <p:pos x="6000" y="0"/>
    <p:text>@chn@allotropepartners.com @hal@allotropevc.com @ttt@allotropevc.com there is still a lot of terminology that will be advanced for a supplier that's new to this, so please let's confirm how we're discussing these terms within the session (even if its a note that "Please note session glossary on your table" and "Glossary available in the session appendix" or something</p:text>
  </p:cm>
  <p:cm authorId="1" dt="2026-06-15T01:22:13.332" idx="3">
    <p:pos x="6000" y="100"/>
    <p:text>@ttt@allotropevc.com Hi Trang, can you help adding some of these terminologies to glossary list
_Assigned to Trang Tran_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9:34:05.781" idx="4">
    <p:pos x="6000" y="0"/>
    <p:text>@ttt@allotropevc.com Hi Trang probably need to fix these transition slides (same pics + old logo)
_Reassigned to Trang Tran_</p:text>
  </p:cm>
  <p:cm authorId="2" dt="2026-06-15T19:34:05.781" idx="2">
    <p:pos x="6000" y="0"/>
    <p:text>updated the logos BTW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01:14:22.382" idx="5">
    <p:pos x="426" y="129"/>
    <p:text>Should be addressed in speech, "you" here refers to Your factory, the RE generator have a different payment model</p:text>
  </p:cm>
  <p:cm authorId="3" dt="2026-06-15T09:01:06.058" idx="1">
    <p:pos x="426" y="129"/>
    <p:text>Edited "your factory"</p:text>
  </p:cm>
  <p:cm authorId="2" dt="2026-06-15T19:38:44.998" idx="3">
    <p:pos x="426" y="129"/>
    <p:text>@chn@allotropepartners.com @hal@allotropevc.com @ttt@allotropevc.com 
can you better define the three relationships please. Is you the generator, EVN/the grid, and your factory. Maybe number, maybe show boxes?</p:text>
  </p:cm>
  <p:cm authorId="2" dt="2026-06-15T19:38:44.998" idx="4">
    <p:pos x="426" y="129"/>
    <p:text>What are the three relationships though: your factory, EVN, and the RE generator? Visually you have 4 boxes (VWEM, RE generator, EVN, Your facotry) and the title says 3 relationships, so want to make it more clear. Is relationships the right word?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09:48:00.162" idx="6">
    <p:pos x="6000" y="0"/>
    <p:text>attempted to revise and note but might make it more confusing</p:text>
  </p:cm>
  <p:cm authorId="3" dt="2026-06-15T13:41:21.590" idx="2">
    <p:pos x="6000" y="100"/>
    <p:text>This slide aims to simplify and only describe the financial settlement, without including the electricity flow. Many of our partners' slides have already described this in detail</p:text>
  </p:cm>
  <p:cm authorId="1" dt="2026-06-15T19:40:49.152" idx="7">
    <p:pos x="6000" y="100"/>
    <p:text>@chn@allotropepartners.com Hi a Cong I tried to make it a bit clearer for audience please kindly check, though if it'll confuse them more please skip
_Reassigned to Cong Nguyen_</p:text>
  </p:cm>
  <p:cm authorId="2" dt="2026-06-15T19:40:49.152" idx="5">
    <p:pos x="6000" y="100"/>
    <p:text>I do think this slide helps and repetition on info (like electricity flows) can be helpful for new folks. Like i said on the previous slide, I do want to make sure "relationships" makes more sense b/c nothing is numbered and there are 4 boxes.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3T02:20:57.254" idx="6">
    <p:pos x="3323" y="876"/>
    <p:text>How are we explaining what FMP is?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6-15T19:49:13.746" idx="3">
    <p:pos x="3019" y="980"/>
    <p:text>This assessment is based on my calculations; I tried to formulate an expectation, but it seems a bit subjective.</p:text>
  </p:cm>
  <p:cm authorId="2" dt="2026-06-15T19:49:13.746" idx="7">
    <p:pos x="3019" y="980"/>
    <p:text>Added in "advice but adjust as you see fit.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5T13:59:49.331" idx="8">
    <p:pos x="3364" y="890"/>
    <p:text>This is the type of phrasing I want to make sure is less jargon and clear to everyone please @hal@allotropevc.com @ttt@allotropevc.com
1 total reaction
Cong Nguyen reacted with 👍 at 2026-06-15 13:59 PM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6-15T14:04:23.179" idx="4">
    <p:pos x="235" y="600"/>
    <p:text>Yes, scenario sweep with 12 strike prices and 4 contract volumes</p:text>
  </p:cm>
  <p:cm authorId="2" dt="2026-06-15T20:00:38.955" idx="9">
    <p:pos x="235" y="600"/>
    <p:text>56 Scenarios Analyzed: ?</p:text>
  </p:cm>
  <p:cm authorId="2" dt="2026-06-15T20:00:38.955" idx="10">
    <p:pos x="235" y="600"/>
    <p:text>reworded.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eb446c4a34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eb446c4a34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3eb66eb2d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3eb66eb2d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bc19243cb_0_1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g3ebc19243cb_0_1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ec0c65eb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3ec0c65eb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4 — 3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ℹ️ J_A01_tou_peak_window  (slide 4, bucket A)</a:t>
            </a:r>
          </a:p>
          <a:p>
            <a:r>
              <a:t>  claim     : TOU peak window (deck 18:00-23:00 vs repo Decision 963 evening 17:30-22:30)</a:t>
            </a:r>
          </a:p>
          <a:p>
            <a:r>
              <a:t>  deck      : 18:00-23:00 hours</a:t>
            </a:r>
          </a:p>
          <a:p>
            <a:r>
              <a:t>  repo      : [17, 18, 19, 20, 21, 22]</a:t>
            </a:r>
          </a:p>
          <a:p>
            <a:r>
              <a:t>  repo fn   : data.vietnam.vn_tariff_2025.data.tou_schedule.weekday.peak_hours  (data/vietnam/vn_tariff_2025.json:26)</a:t>
            </a:r>
          </a:p>
          <a:p>
            <a:r>
              <a:t>  assumed   : Hourly discretization (decision-963 boundaries map to 17:30/22:30 -&gt; integer hours 17,22).</a:t>
            </a:r>
          </a:p>
          <a:p>
            <a:r>
              <a:t>  takeaway  : qualitative: deck says '18:00-23:00'; repo shows [17, 18, 19, 20, 21, 22]</a:t>
            </a:r>
          </a:p>
          <a:p>
            <a:r>
              <a:t>⚠️ J_A02_tou_peak_normal_ratio_22_110kv  (slide 4, bucket A)</a:t>
            </a:r>
          </a:p>
          <a:p>
            <a:r>
              <a:t>  claim     : TOU peak/Normal ratio for 22-110 kV (deck 0.126/0.070 ≈ 1.80)</a:t>
            </a:r>
          </a:p>
          <a:p>
            <a:r>
              <a:t>  deck      : 1.8 ratio (peak/normal)</a:t>
            </a:r>
          </a:p>
          <a:p>
            <a:r>
              <a:t>  repo      : 1.8256</a:t>
            </a:r>
          </a:p>
          <a:p>
            <a:r>
              <a:t>  delta     : +1.42%</a:t>
            </a:r>
          </a:p>
          <a:p>
            <a:r>
              <a:t>  repo fn   : reopt_pysam_vn.integration.settlement.ContractParams (kpp_factor / standard_factor via vn_tariff_2025.rate_multipliers.industrial.medium_voltage_22kv_to_110kv)  (data/vietnam/vn_tariff_2025.json:99-104 (peak=1.57, standard=0.86 → 1.57/0.86=1.826))</a:t>
            </a:r>
          </a:p>
          <a:p>
            <a:r>
              <a:t>  assumed   : Compare peak/normal ratios on both sides (peak vs base-avg gives 1.57; vs standard gives 1.826).</a:t>
            </a:r>
          </a:p>
          <a:p>
            <a:r>
              <a:t>  takeaway  : delta +1.42% (1-5% — review; below the bad threshold but not a clean match)</a:t>
            </a:r>
          </a:p>
          <a:p>
            <a:r>
              <a:t>  ---</a:t>
            </a:r>
          </a:p>
          <a:p>
            <a:r>
              <a:t>  deck_peak_normal_ratio     : 1.8</a:t>
            </a:r>
          </a:p>
          <a:p>
            <a:r>
              <a:t>  repo_peak_normal_ratio     : 1.8256</a:t>
            </a:r>
          </a:p>
          <a:p>
            <a:r>
              <a:t>  repo_peak     : 1.57</a:t>
            </a:r>
          </a:p>
          <a:p>
            <a:r>
              <a:t>  repo_standard     : 0.86</a:t>
            </a:r>
          </a:p>
          <a:p>
            <a:r>
              <a:t>✅ J_A05_bau_escalation_rate  (slide 4, bucket A)</a:t>
            </a:r>
          </a:p>
          <a:p>
            <a:r>
              <a:t>  claim     : BAU escalation rate (deck ~4%/yr historical EVN trend)</a:t>
            </a:r>
          </a:p>
          <a:p>
            <a:r>
              <a:t>  deck      : 0.04 fraction/yr</a:t>
            </a:r>
          </a:p>
          <a:p>
            <a:r>
              <a:t>  repo      : 0.04</a:t>
            </a:r>
          </a:p>
          <a:p>
            <a:r>
              <a:t>  delta     : +0.00%</a:t>
            </a:r>
          </a:p>
          <a:p>
            <a:r>
              <a:t>  repo fn   : data.vietnam.vn_financial_defaults_2025.data.standard.elec_cost_escalation_rate_fraction  (data/vietnam/vn_financial_defaults_2025.json:18)</a:t>
            </a:r>
          </a:p>
          <a:p>
            <a:r>
              <a:t>  takeaway  : match within ±1% (delta +0.000%)</a:t>
            </a:r>
          </a:p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ebc19243cb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g3ebc19243cb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ebc19243cb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ebc19243cb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ec056fa404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ec056fa404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3ebc19243cb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3ebc19243cb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8 — 5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J_A03_avg_retail_price  (slide 8, bucket A)</a:t>
            </a:r>
          </a:p>
          <a:p>
            <a:r>
              <a:t>  claim     : Average retail electricity price (residual / P1, 2025)</a:t>
            </a:r>
          </a:p>
          <a:p>
            <a:r>
              <a:t>  deck      : 2,204 VND/kWh</a:t>
            </a:r>
          </a:p>
          <a:p>
            <a:r>
              <a:t>  repo      : 2,204</a:t>
            </a:r>
          </a:p>
          <a:p>
            <a:r>
              <a:t>  delta     : +0.00%</a:t>
            </a:r>
          </a:p>
          <a:p>
            <a:r>
              <a:t>  repo fn   : data.vietnam.vn_tariff_2025.data.base_avg_price_vnd_per_kwh  (data/vietnam/vn_tariff_2025.json:22)</a:t>
            </a:r>
          </a:p>
          <a:p>
            <a:r>
              <a:t>  takeaway  : match within ±1% (delta +0.003%)</a:t>
            </a:r>
          </a:p>
          <a:p>
            <a:r>
              <a:t>✅ J_A04_combined_dppa_fees  (slide 8, bucket A)</a:t>
            </a:r>
          </a:p>
          <a:p>
            <a:r>
              <a:t>  claim     : Combined DPPA fees: service (360) + balancing (163.3) = 523.3 VND/kWh</a:t>
            </a:r>
          </a:p>
          <a:p>
            <a:r>
              <a:t>  deck      : 523.3 VND/kWh</a:t>
            </a:r>
          </a:p>
          <a:p>
            <a:r>
              <a:t>  repo      : 523.34</a:t>
            </a:r>
          </a:p>
          <a:p>
            <a:r>
              <a:t>  delta     : +0.01%</a:t>
            </a:r>
          </a:p>
          <a:p>
            <a:r>
              <a:t>  repo fn   : reopt_pysam_vn.integration.settlement.ContractParams.dppa_adder_vnd_kwh (default)  (src/python/reopt_pysam_vn/integration/settlement.py:26 (default 523.34))</a:t>
            </a:r>
          </a:p>
          <a:p>
            <a:r>
              <a:t>  assumed   : The engine takes one combined dppa_adder_vnd_kwh input and does not split it.</a:t>
            </a:r>
          </a:p>
          <a:p>
            <a:r>
              <a:t>  takeaway  : match within ±1% (delta +0.008%)</a:t>
            </a:r>
          </a:p>
          <a:p>
            <a:r>
              <a:t>  ---</a:t>
            </a:r>
          </a:p>
          <a:p>
            <a:r>
              <a:t>  deck_c_dppa_dv_vnd_kwh     : 360.0</a:t>
            </a:r>
          </a:p>
          <a:p>
            <a:r>
              <a:t>  deck_p_cl_vnd_kwh     : 163.3</a:t>
            </a:r>
          </a:p>
          <a:p>
            <a:r>
              <a:t>  deck_combined_vnd_kwh     : 523.3</a:t>
            </a:r>
          </a:p>
          <a:p>
            <a:r>
              <a:t>  repo_dppa_adder_vnd_kwh     : 523.34</a:t>
            </a:r>
          </a:p>
          <a:p>
            <a:r>
              <a:t>✅ J_A06_k_loss_factor  (slide 8, bucket A)</a:t>
            </a:r>
          </a:p>
          <a:p>
            <a:r>
              <a:t>  claim     : Price conversion factor k (FMP -&gt; customer delivery point)</a:t>
            </a:r>
          </a:p>
          <a:p>
            <a:r>
              <a:t>  deck      : 1.026 ratio</a:t>
            </a:r>
          </a:p>
          <a:p>
            <a:r>
              <a:t>  repo      : 1.0273</a:t>
            </a:r>
          </a:p>
          <a:p>
            <a:r>
              <a:t>  delta     : +0.12%</a:t>
            </a:r>
          </a:p>
          <a:p>
            <a:r>
              <a:t>  repo fn   : reopt_pysam_vn.integration.settlement.ContractParams.kpp_factor (collapse check)  (src/python/reopt_pysam_vn/integration/settlement.py:46)</a:t>
            </a:r>
          </a:p>
          <a:p>
            <a:r>
              <a:t>  assumed   : Deck treats k and K_pp as independent; engine collapses both into kpp_factor=1.02726.</a:t>
            </a:r>
          </a:p>
          <a:p>
            <a:r>
              <a:t>  takeaway  : match within ±1% (delta +0.123%)</a:t>
            </a:r>
          </a:p>
          <a:p>
            <a:r>
              <a:t>  ---</a:t>
            </a:r>
          </a:p>
          <a:p>
            <a:r>
              <a:t>  engine_kpp_factor     : 1.027263</a:t>
            </a:r>
          </a:p>
          <a:p>
            <a:r>
              <a:t>  deck_split_product     : 1.034208</a:t>
            </a:r>
          </a:p>
          <a:p>
            <a:r>
              <a:t>  structural_gap     : deck splits k and K_pp; engine collapses to a single factor</a:t>
            </a:r>
          </a:p>
          <a:p>
            <a:r>
              <a:t>⚠️ J_A07_kpp_loss_factor  (slide 8, bucket A)</a:t>
            </a:r>
          </a:p>
          <a:p>
            <a:r>
              <a:t>  claim     : Loss factor K_pp at 110 kV</a:t>
            </a:r>
          </a:p>
          <a:p>
            <a:r>
              <a:t>  deck      : 1.008 ratio</a:t>
            </a:r>
          </a:p>
          <a:p>
            <a:r>
              <a:t>  repo      : 1.0273</a:t>
            </a:r>
          </a:p>
          <a:p>
            <a:r>
              <a:t>  delta     : +1.91%</a:t>
            </a:r>
          </a:p>
          <a:p>
            <a:r>
              <a:t>  repo fn   : reopt_pysam_vn.integration.settlement.ContractParams.kpp_pct=2.7263  (src/python/reopt_pysam_vn/integration/settlement.py:27)</a:t>
            </a:r>
          </a:p>
          <a:p>
            <a:r>
              <a:t>  assumed   : Engine uses a single blended kpp_pct (2.7263 -&gt; 1.02726), not a 1.008 voltage-tier table.</a:t>
            </a:r>
          </a:p>
          <a:p>
            <a:r>
              <a:t>  takeaway  : delta +1.91% (1-5% — review; below the bad threshold but not a clean match)</a:t>
            </a:r>
          </a:p>
          <a:p>
            <a:r>
              <a:t>  ---</a:t>
            </a:r>
          </a:p>
          <a:p>
            <a:r>
              <a:t>  engine_kpp_factor     : 1.027263</a:t>
            </a:r>
          </a:p>
          <a:p>
            <a:r>
              <a:t>  deck_split_product     : 1.034208</a:t>
            </a:r>
          </a:p>
          <a:p>
            <a:r>
              <a:t>  structural_gap     : deck splits k and K_pp; engine collapses to a single factor</a:t>
            </a:r>
          </a:p>
          <a:p>
            <a:r>
              <a:t>⚠️ J_A12_fmp_2025_avg  (slide 8, bucket A)</a:t>
            </a:r>
          </a:p>
          <a:p>
            <a:r>
              <a:t>  claim     : 2025 average FMP (Wholesale Electricity Market reference)</a:t>
            </a:r>
          </a:p>
          <a:p>
            <a:r>
              <a:t>  deck      : 1,427 VND/kWh</a:t>
            </a:r>
          </a:p>
          <a:p>
            <a:r>
              <a:t>  deck cite : EAVCED public training (deck only)</a:t>
            </a:r>
          </a:p>
          <a:p>
            <a:r>
              <a:t>  repo      : 1,700</a:t>
            </a:r>
          </a:p>
          <a:p>
            <a:r>
              <a:t>  delta     : +19.16%</a:t>
            </a:r>
          </a:p>
          <a:p>
            <a:r>
              <a:t>  repo fn   : data.vietnam.vn_deal_defaults_2026.sensitivity_ranges.fmp_vnd_per_kwh  (data/vietnam/vn_deal_defaults_2026.json:39-43)</a:t>
            </a:r>
          </a:p>
          <a:p>
            <a:r>
              <a:t>  assumed   : Repo's vn_deal_defaults_2026 sensitivity range (1,400-2,000 VND/kWh, center 1,700) is a forward-looking sweep midpoint, not an observed 2025 average. There is no repo data file that holds an observed 2025 monthly FMP. The deck's 1,426.6 is the anchor for the Case 5/6 calibration (DEC-003); the repo center 1,700 is a sensitivity.</a:t>
            </a:r>
          </a:p>
          <a:p>
            <a:r>
              <a:t>  takeaway  : Deck cites a source; repo value differs by +19.16%. Reconcile: deck = 1426.6 (EAVCED public training (deck only)); repo = 1700.0.</a:t>
            </a:r>
          </a:p>
          <a:p>
            <a:r>
              <a:t>  ---</a:t>
            </a:r>
          </a:p>
          <a:p>
            <a:r>
              <a:t>  deck_cited_value     : 1426.6</a:t>
            </a:r>
          </a:p>
          <a:p>
            <a:r>
              <a:t>  repo_min     : 1400</a:t>
            </a:r>
          </a:p>
          <a:p>
            <a:r>
              <a:t>  repo_max     : 2000</a:t>
            </a:r>
          </a:p>
          <a:p>
            <a:r>
              <a:t>  repo_center     : 1700.0</a:t>
            </a:r>
          </a:p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3ec8d3339a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3ec8d3339a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ebc19243cb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3ebc19243cb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ebc19243cb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ebc19243cb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11 — 3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J_B01_simulation_5line_total_evnbill  (slide 11, bucket B)</a:t>
            </a:r>
          </a:p>
          <a:p>
            <a:r>
              <a:t>  claim     : Module-2 simulation EVN bill (lines 1+2+3+4) for Q=6,000,000 kWh</a:t>
            </a:r>
          </a:p>
          <a:p>
            <a:r>
              <a:t>  deck      : 10,586,097,600 VND/month</a:t>
            </a:r>
          </a:p>
          <a:p>
            <a:r>
              <a:t>  repo      : 10,586,097,600</a:t>
            </a:r>
          </a:p>
          <a:p>
            <a:r>
              <a:t>  delta     : +0.00%</a:t>
            </a:r>
          </a:p>
          <a:p>
            <a:r>
              <a:t>  repo fn   : reopt_pysam_vn.integration.settlement.compute_hourly_settlement (flat single-month profile)  (src/python/reopt_pysam_vn/integration/settlement.py:65)</a:t>
            </a:r>
          </a:p>
          <a:p>
            <a:r>
              <a:t>  assumed   : Flat profile: load=generation=Q/720h in the relevant hours; tariff=FMP=k*K_pp=1200*1.026*1.008 over all 720h.</a:t>
            </a:r>
          </a:p>
          <a:p>
            <a:r>
              <a:t>  assumed   : Excess_treatment=curtail (no exports); mode=virtual_cfd.</a:t>
            </a:r>
          </a:p>
          <a:p>
            <a:r>
              <a:t>  takeaway  : match within ±1% (delta +0.000%)</a:t>
            </a:r>
          </a:p>
          <a:p>
            <a:r>
              <a:t>  ---</a:t>
            </a:r>
          </a:p>
          <a:p>
            <a:r>
              <a:t>  matched_mwh     : 5999.999999999964</a:t>
            </a:r>
          </a:p>
          <a:p>
            <a:r>
              <a:t>  buyer_cfd_payment_vnd     : 599999999.9999979</a:t>
            </a:r>
          </a:p>
          <a:p>
            <a:r>
              <a:t>  line_breakdown_vnd     : {'line1_market_energy': 7446297600.0, 'line2_dppa_service': 3139800000.0000205, 'line3_balancing': 0.0}</a:t>
            </a:r>
          </a:p>
          <a:p>
            <a:r>
              <a:t>✅ J_B02_simulation_cfd_settlement  (slide 11, bucket B)</a:t>
            </a:r>
          </a:p>
          <a:p>
            <a:r>
              <a:t>  claim     : Module-2 simulation CfD settlement (line 5) for Q=6,000,000 kWh @ (1,300-1,200)</a:t>
            </a:r>
          </a:p>
          <a:p>
            <a:r>
              <a:t>  deck      : 600,000,000 VND/month</a:t>
            </a:r>
          </a:p>
          <a:p>
            <a:r>
              <a:t>  repo      : 600,000,000</a:t>
            </a:r>
          </a:p>
          <a:p>
            <a:r>
              <a:t>  delta     : -0.00%</a:t>
            </a:r>
          </a:p>
          <a:p>
            <a:r>
              <a:t>  repo fn   : reopt_pysam_vn.integration.settlement.compute_hourly_settlement.buyer_cfd_payment_vnd  (src/python/reopt_pysam_vn/integration/settlement.py:147)</a:t>
            </a:r>
          </a:p>
          <a:p>
            <a:r>
              <a:t>  assumed   : Same flat profile as J_B01.</a:t>
            </a:r>
          </a:p>
          <a:p>
            <a:r>
              <a:t>  takeaway  : match within ±1% (delta -0.000%)</a:t>
            </a:r>
          </a:p>
          <a:p>
            <a:r>
              <a:t>✅ J_B03_simulation_effective_blended_rate  (slide 11, bucket B)</a:t>
            </a:r>
          </a:p>
          <a:p>
            <a:r>
              <a:t>  claim     : Module-2 simulation effective blended rate (total/Q)</a:t>
            </a:r>
          </a:p>
          <a:p>
            <a:r>
              <a:t>  deck      : 1,864 VND/kWh</a:t>
            </a:r>
          </a:p>
          <a:p>
            <a:r>
              <a:t>  repo      : 1,864</a:t>
            </a:r>
          </a:p>
          <a:p>
            <a:r>
              <a:t>  delta     : +0.02%</a:t>
            </a:r>
          </a:p>
          <a:p>
            <a:r>
              <a:t>  repo fn   : reopt_pysam_vn.integration.settlement.compute_hourly_settlement.annual_summary.buyer_blended_rate_vnd_kwh  (src/python/reopt_pysam_vn/integration/settlement.py:182)</a:t>
            </a:r>
          </a:p>
          <a:p>
            <a:r>
              <a:t>  assumed   : Same flat profile as J_B01.</a:t>
            </a:r>
          </a:p>
          <a:p>
            <a:r>
              <a:t>  takeaway  : match within ±1% (delta +0.019%)</a:t>
            </a:r>
          </a:p>
          <a:p>
            <a:r>
              <a:t>  ---</a:t>
            </a:r>
          </a:p>
          <a:p>
            <a:r>
              <a:t>  buyer_cost_vnd     : 11186097599.999964</a:t>
            </a:r>
          </a:p>
          <a:p>
            <a:r>
              <a:t>  total_load_kwh     : 6000000.0</a:t>
            </a:r>
          </a:p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ebc19243cb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ebc19243cb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12 — 1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J_B04_pretax_delivered_cost_per_kwh  (slide 12, bucket B)</a:t>
            </a:r>
          </a:p>
          <a:p>
            <a:r>
              <a:t>  claim     : Pre-CfD delivered cost per matched kWh at 22-110 kV (1,504 + 360 + 163.3)</a:t>
            </a:r>
          </a:p>
          <a:p>
            <a:r>
              <a:t>  deck      : 2,027 VND/kWh</a:t>
            </a:r>
          </a:p>
          <a:p>
            <a:r>
              <a:t>  repo      : 2,027</a:t>
            </a:r>
          </a:p>
          <a:p>
            <a:r>
              <a:t>  delta     : +0.01%</a:t>
            </a:r>
          </a:p>
          <a:p>
            <a:r>
              <a:t>  repo fn   : reopt_pysam_vn.integration.settlement.compute_hourly_settlement (1-line decomposition)  (src/python/reopt_pysam_vn/integration/settlement.py:119-122)</a:t>
            </a:r>
          </a:p>
          <a:p>
            <a:r>
              <a:t>  assumed   : FMP=2025-avg; k*K_pp=1.03421; fees 360+163.3 applied to matched volume.</a:t>
            </a:r>
          </a:p>
          <a:p>
            <a:r>
              <a:t>  takeaway  : match within ±1% (delta +0.015%)</a:t>
            </a:r>
          </a:p>
          <a:p>
            <a:r>
              <a:t>  ---</a:t>
            </a:r>
          </a:p>
          <a:p>
            <a:r>
              <a:t>  implied_2025_avg_fmp_vnd_kwh     : 1454.25</a:t>
            </a:r>
          </a:p>
          <a:p>
            <a:r>
              <a:t>  market_energy_vnd_kwh     : 1504.0</a:t>
            </a:r>
          </a:p>
          <a:p>
            <a:r>
              <a:t>  fees_vnd_kwh     : 523.3</a:t>
            </a:r>
          </a:p>
          <a:p>
            <a:r>
              <a:t>  note     : deck slide 12's 1,504 is k*K_pp on the 2025-avg FMP (distinct from the slide-…</a:t>
            </a:r>
          </a:p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3ebc19243cb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g3ebc19243cb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ebc19243cb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3ebc19243cb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ebc19243cb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ebc19243cb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15 — 1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J_A08_strike_escalation_rate  (slide 15, bucket A)</a:t>
            </a:r>
          </a:p>
          <a:p>
            <a:r>
              <a:t>  claim     : Strike escalation rate (deck 4%/yr, 25-year tenor)</a:t>
            </a:r>
          </a:p>
          <a:p>
            <a:r>
              <a:t>  deck      : 0.04 fraction/yr</a:t>
            </a:r>
          </a:p>
          <a:p>
            <a:r>
              <a:t>  repo      : 0.04</a:t>
            </a:r>
          </a:p>
          <a:p>
            <a:r>
              <a:t>  delta     : +0.00%</a:t>
            </a:r>
          </a:p>
          <a:p>
            <a:r>
              <a:t>  repo fn   : data.vietnam.vn_financial_defaults_2025.data.standard.elec_cost_escalation_rate_fraction  (data/vietnam/vn_financial_defaults_2025.json:18)</a:t>
            </a:r>
          </a:p>
          <a:p>
            <a:r>
              <a:t>  takeaway  : match within ±1% (delta +0.000%)</a:t>
            </a:r>
          </a:p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ebc19243cb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3ebc19243cb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16 — 1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ℹ️ J_C01_overcontracting_cap  (slide 16, bucket C)</a:t>
            </a:r>
          </a:p>
          <a:p>
            <a:r>
              <a:t>  claim     : Over-contracting (Q_c &gt; hourly consumption) caps CfD at consumed volume</a:t>
            </a:r>
          </a:p>
          <a:p>
            <a:r>
              <a:t>  deck      : capped at min(load, gen) qualitative</a:t>
            </a:r>
          </a:p>
          <a:p>
            <a:r>
              <a:t>  repo      : capped at min(load, gen)</a:t>
            </a:r>
          </a:p>
          <a:p>
            <a:r>
              <a:t>  repo fn   : reopt_pysam_vn.integration.settlement.compute_hourly_settlement (matched = min(load, gen))  (src/python/reopt_pysam_vn/integration/settlement.py:103)</a:t>
            </a:r>
          </a:p>
          <a:p>
            <a:r>
              <a:t>  takeaway  : qualitative: deck says 'capped at min(load, gen)'; repo shows 'capped at min(load, gen)'</a:t>
            </a:r>
          </a:p>
          <a:p>
            <a:r>
              <a:t>  ---</a:t>
            </a:r>
          </a:p>
          <a:p>
            <a:r>
              <a:t>  matched_mwh     : 4999.999999999978</a:t>
            </a:r>
          </a:p>
          <a:p>
            <a:r>
              <a:t>  excess_mwh     : 0.0</a:t>
            </a:r>
          </a:p>
          <a:p>
            <a:r>
              <a:t>  curtailed_mwh     : 0.0</a:t>
            </a:r>
          </a:p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3ebc19243cb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g3ebc19243cb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ebc19243cb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ebc19243cb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18 — 5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J_A09_debt_fraction  (slide 18, bucket A)</a:t>
            </a:r>
          </a:p>
          <a:p>
            <a:r>
              <a:t>  claim     : Capital structure: debt fraction</a:t>
            </a:r>
          </a:p>
          <a:p>
            <a:r>
              <a:t>  deck      : 0.7 fraction</a:t>
            </a:r>
          </a:p>
          <a:p>
            <a:r>
              <a:t>  repo      : 0.7</a:t>
            </a:r>
          </a:p>
          <a:p>
            <a:r>
              <a:t>  delta     : +0.00%</a:t>
            </a:r>
          </a:p>
          <a:p>
            <a:r>
              <a:t>  repo fn   : reopt_pysam_vn.pysam.single_owner.SingleOwnerInputs.debt_fraction (default)  (src/python/reopt_pysam_vn/pysam/single_owner.py:24 (default 0.70))</a:t>
            </a:r>
          </a:p>
          <a:p>
            <a:r>
              <a:t>  takeaway  : match within ±1% (delta +0.000%)</a:t>
            </a:r>
          </a:p>
          <a:p>
            <a:r>
              <a:t>✅ J_A10_debt_rate_vnd  (slide 18, bucket A)</a:t>
            </a:r>
          </a:p>
          <a:p>
            <a:r>
              <a:t>  claim     : VND debt interest rate</a:t>
            </a:r>
          </a:p>
          <a:p>
            <a:r>
              <a:t>  deck      : 0.085 fraction/yr</a:t>
            </a:r>
          </a:p>
          <a:p>
            <a:r>
              <a:t>  repo      : 0.085</a:t>
            </a:r>
          </a:p>
          <a:p>
            <a:r>
              <a:t>  delta     : +0.00%</a:t>
            </a:r>
          </a:p>
          <a:p>
            <a:r>
              <a:t>  repo fn   : reopt_pysam_vn.pysam.single_owner.SingleOwnerInputs.debt_interest_rate_fraction (default)  (src/python/reopt_pysam_vn/pysam/single_owner.py:30 (default 0.085))</a:t>
            </a:r>
          </a:p>
          <a:p>
            <a:r>
              <a:t>  takeaway  : match within ±1% (delta +0.000%)</a:t>
            </a:r>
          </a:p>
          <a:p>
            <a:r>
              <a:t>✅ J_A14_debt_tenor_years  (slide 18, bucket A)</a:t>
            </a:r>
          </a:p>
          <a:p>
            <a:r>
              <a:t>  claim     : Capital structure: debt tenor</a:t>
            </a:r>
          </a:p>
          <a:p>
            <a:r>
              <a:t>  deck      : 10 years</a:t>
            </a:r>
          </a:p>
          <a:p>
            <a:r>
              <a:t>  repo      : 10</a:t>
            </a:r>
          </a:p>
          <a:p>
            <a:r>
              <a:t>  delta     : +0.00%</a:t>
            </a:r>
          </a:p>
          <a:p>
            <a:r>
              <a:t>  repo fn   : reopt_pysam_vn.pysam.single_owner.SingleOwnerInputs.debt_tenor_years (default)  (src/python/reopt_pysam_vn/pysam/single_owner.py:31 (default 10))</a:t>
            </a:r>
          </a:p>
          <a:p>
            <a:r>
              <a:t>  takeaway  : match within ±1% (delta +0.000%)</a:t>
            </a:r>
          </a:p>
          <a:p>
            <a:r>
              <a:t>ℹ️ J_A15_equity_irr_target  (slide 18, bucket A)</a:t>
            </a:r>
          </a:p>
          <a:p>
            <a:r>
              <a:t>  claim     : Equity target IRR (range consistency, not value match)</a:t>
            </a:r>
          </a:p>
          <a:p>
            <a:r>
              <a:t>  deck      : 12-15%+ range</a:t>
            </a:r>
          </a:p>
          <a:p>
            <a:r>
              <a:t>  repo      : 0.15</a:t>
            </a:r>
          </a:p>
          <a:p>
            <a:r>
              <a:t>  repo fn   : reopt_pysam_vn.pysam.single_owner.SingleOwnerInputs.target_irr_fraction (default)  (src/python/reopt_pysam_vn/pysam/single_owner.py:25 (default 0.15))</a:t>
            </a:r>
          </a:p>
          <a:p>
            <a:r>
              <a:t>  assumed   : Deck Slide 18 lists the range 12-15%+; engine default 0.15 falls within the deck's range.</a:t>
            </a:r>
          </a:p>
          <a:p>
            <a:r>
              <a:t>  assumed   : Qualitative check — value comparison is meaningless because target_irr_fraction is a tunable knob.</a:t>
            </a:r>
          </a:p>
          <a:p>
            <a:r>
              <a:t>  takeaway  : qualitative: deck says '12-15%+'; repo shows 0.15</a:t>
            </a:r>
          </a:p>
          <a:p>
            <a:r>
              <a:t>  ---</a:t>
            </a:r>
          </a:p>
          <a:p>
            <a:r>
              <a:t>  deck_range_pct     : 12% - 15%+</a:t>
            </a:r>
          </a:p>
          <a:p>
            <a:r>
              <a:t>  engine_default_pct     : 15%</a:t>
            </a:r>
          </a:p>
          <a:p>
            <a:r>
              <a:t>  engine_default_falls_in_deck_range     : True</a:t>
            </a:r>
          </a:p>
          <a:p>
            <a:r>
              <a:t>  note     : engine default is at the top of the deck's range</a:t>
            </a:r>
          </a:p>
          <a:p>
            <a:r>
              <a:t>ℹ️ J_A16_cit_holiday  (slide 18, bucket A)</a:t>
            </a:r>
          </a:p>
          <a:p>
            <a:r>
              <a:t>  claim     : CIT tax holiday (RE projects): 4 yr exempt + 9 yr half rate</a:t>
            </a:r>
          </a:p>
          <a:p>
            <a:r>
              <a:t>  deck      : 4 + 9 years (exempt + half)</a:t>
            </a:r>
          </a:p>
          <a:p>
            <a:r>
              <a:t>  repo      : 4 + 9</a:t>
            </a:r>
          </a:p>
          <a:p>
            <a:r>
              <a:t>  repo fn   : data.vietnam.vn_financial_defaults_2025.data.renewable_energy_preferential.tax_holiday  (data/vietnam/vn_financial_defaults_2025.json:32-37)</a:t>
            </a:r>
          </a:p>
          <a:p>
            <a:r>
              <a:t>  takeaway  : qualitative: deck says '4 + 9'; repo shows '4 + 9'</a:t>
            </a:r>
          </a:p>
          <a:p>
            <a:r>
              <a:t>  ---</a:t>
            </a:r>
          </a:p>
          <a:p>
            <a:r>
              <a:t>  repo_exempt_years     : 4</a:t>
            </a:r>
          </a:p>
          <a:p>
            <a:r>
              <a:t>  repo_half_rate_years     : 9</a:t>
            </a:r>
          </a:p>
          <a:p>
            <a:r>
              <a:t>  repo_effective_blended_rate_25yr     : 0.066</a:t>
            </a:r>
          </a:p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ebc19243cb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3ebc19243cb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19 — 4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ℹ️ J_C02_buyer_gate_formula  (slide 19, bucket C)</a:t>
            </a:r>
          </a:p>
          <a:p>
            <a:r>
              <a:t>  claim     : Buyer gate: cumulative cost &lt;= BAU over 10 yr AND lifetime (pushes strike DOWN)</a:t>
            </a:r>
          </a:p>
          <a:p>
            <a:r>
              <a:t>  deck      : buyer_cumulative &lt;= BAU_10yr AND buyer_cumulative &lt;= BAU_lifetime qualitative</a:t>
            </a:r>
          </a:p>
          <a:p>
            <a:r>
              <a:t>  repo      : buyer_cumulative &lt;= BAU_10yr AND buyer_cumulative &lt;= BAU_lifetime</a:t>
            </a:r>
          </a:p>
          <a:p>
            <a:r>
              <a:t>  repo fn   : reopt_pysam_vn.integration.settlement.compute_hourly_settlement (10yr &amp; 25yr cumulative vs BAU escalated 4%/yr)  (src/python/reopt_pysam_vn/integration/settlement.py:65)</a:t>
            </a:r>
          </a:p>
          <a:p>
            <a:r>
              <a:t>  takeaway  : qualitative: deck says 'buyer_cumulative &lt;= BAU_10yr AND buyer_cumulative &lt;= BAU_lifetime'; repo shows 'buyer_cumulative &lt;= BAU_10yr AND buyer_cumulative &lt;= BAU_lifetime'</a:t>
            </a:r>
          </a:p>
          <a:p>
            <a:r>
              <a:t>  ---</a:t>
            </a:r>
          </a:p>
          <a:p>
            <a:r>
              <a:t>  directional_y1     : 1864.3495999999939</a:t>
            </a:r>
          </a:p>
          <a:p>
            <a:r>
              <a:t>  bau_y1     : 2204.0</a:t>
            </a:r>
          </a:p>
          <a:p>
            <a:r>
              <a:t>  note     : PHASE-04 sweep implements the full Y10 + lifetime cumulative check</a:t>
            </a:r>
          </a:p>
          <a:p>
            <a:r>
              <a:t>ℹ️ J_C03_seller_gate_formula  (slide 19, bucket C)</a:t>
            </a:r>
          </a:p>
          <a:p>
            <a:r>
              <a:t>  claim     : Seller gate: Equity IRR &gt;= 12-15% (pushes strike UP)</a:t>
            </a:r>
          </a:p>
          <a:p>
            <a:r>
              <a:t>  deck      : seller_irr &gt;= 0.12 qualitative</a:t>
            </a:r>
          </a:p>
          <a:p>
            <a:r>
              <a:t>  repo      : seller_irr &gt;= 0.12 (deck Slide 19 range 12-15%+)</a:t>
            </a:r>
          </a:p>
          <a:p>
            <a:r>
              <a:t>  repo fn   : reopt_pysam_vn.pysam.single_owner.run_single_owner_model (target_irr_fraction=0.12)  (src/python/reopt_pysam_vn/pysam/single_owner.py:25 (default 0.15))</a:t>
            </a:r>
          </a:p>
          <a:p>
            <a:r>
              <a:t>  takeaway  : qualitative: deck says 'seller_irr &gt;= 0.12'; repo shows 'seller_irr &gt;= 0.12 (deck Slide 19 range 12-15%+)'</a:t>
            </a:r>
          </a:p>
          <a:p>
            <a:r>
              <a:t>  ---</a:t>
            </a:r>
          </a:p>
          <a:p>
            <a:r>
              <a:t>  engine_default_target_irr_fraction     : 0.15</a:t>
            </a:r>
          </a:p>
          <a:p>
            <a:r>
              <a:t>  note     : PHASE-04 sweep exercises the 12-15% band at varying strikes</a:t>
            </a:r>
          </a:p>
          <a:p>
            <a:r>
              <a:t>ℹ️ J_C04_lender_gate_formula  (slide 19, bucket C)</a:t>
            </a:r>
          </a:p>
          <a:p>
            <a:r>
              <a:t>  claim     : Lender gate: min DSCR &gt;= ~1.20x every year (pushes strike UP, hardest gate)</a:t>
            </a:r>
          </a:p>
          <a:p>
            <a:r>
              <a:t>  deck      : min_dscr &gt;= 1.20 qualitative</a:t>
            </a:r>
          </a:p>
          <a:p>
            <a:r>
              <a:t>  repo      : min_dscr &gt;= 1.20</a:t>
            </a:r>
          </a:p>
          <a:p>
            <a:r>
              <a:t>  repo fn   : reopt_pysam_vn.pysam.metrics.extract_single_owner_outputs.min_dscr  (src/python/reopt_pysam_vn/pysam/metrics.py:47)</a:t>
            </a:r>
          </a:p>
          <a:p>
            <a:r>
              <a:t>  takeaway  : qualitative: deck says 'min_dscr &gt;= 1.20'; repo shows 'min_dscr &gt;= 1.20'</a:t>
            </a:r>
          </a:p>
          <a:p>
            <a:r>
              <a:t>  ---</a:t>
            </a:r>
          </a:p>
          <a:p>
            <a:r>
              <a:t>  note     : PHASE-04 sweep finds the strike at which min_dscr falls below 1.20x; this is …</a:t>
            </a:r>
          </a:p>
          <a:p>
            <a:r>
              <a:t>ℹ️ J_C06_negotiation_window  (slide 19, bucket C)</a:t>
            </a:r>
          </a:p>
          <a:p>
            <a:r>
              <a:t>  claim     : The negotiation window is the strike range where all three gates 'pass'; it can be empty</a:t>
            </a:r>
          </a:p>
          <a:p>
            <a:r>
              <a:t>  deck      : triple-gate window may be empty qualitative</a:t>
            </a:r>
          </a:p>
          <a:p>
            <a:r>
              <a:t>  repo      : triple-gate window may be empty</a:t>
            </a:r>
          </a:p>
          <a:p>
            <a:r>
              <a:t>  repo fn   : reopt_pysam_vn.integration.settlement.run_strike_sweep x strike_search.sweep_strike_prices  (src/python/reopt_pysam_vn/integration/settlement.py:274 + src/python/reopt_pysam_vn/integration/strike_search.py:44)</a:t>
            </a:r>
          </a:p>
          <a:p>
            <a:r>
              <a:t>  takeaway  : qualitative: deck says 'triple-gate window may be empty'; repo shows 'triple-gate window may be empty'</a:t>
            </a:r>
          </a:p>
          <a:p>
            <a:r>
              <a:t>  ---</a:t>
            </a:r>
          </a:p>
          <a:p>
            <a:r>
              <a:t>  note     : PHASE-04: 0 of 44 scenarios pass all three gates at the calibration's project…</a:t>
            </a:r>
          </a:p>
          <a:p>
            <a:r>
              <a:t>  sweep_n_passing     : 0</a:t>
            </a:r>
          </a:p>
          <a:p>
            <a:r>
              <a:t>  sweep_n_total     : 44</a:t>
            </a:r>
          </a:p>
          <a:p>
            <a:r>
              <a:t>  deck_value     : triple-gate window may be empty</a:t>
            </a:r>
          </a:p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3ebc19243cb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3ebc19243cb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20 — 2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✅ J_A11_pv_degradation  (slide 20, bucket A)</a:t>
            </a:r>
          </a:p>
          <a:p>
            <a:r>
              <a:t>  claim     : PV annual degradation rate</a:t>
            </a:r>
          </a:p>
          <a:p>
            <a:r>
              <a:t>  deck      : 5.00e-03 fraction/yr</a:t>
            </a:r>
          </a:p>
          <a:p>
            <a:r>
              <a:t>  repo      : 5.00e-03</a:t>
            </a:r>
          </a:p>
          <a:p>
            <a:r>
              <a:t>  delta     : +0.00%</a:t>
            </a:r>
          </a:p>
          <a:p>
            <a:r>
              <a:t>  repo fn   : reopt_pysam_vn.pysam.single_owner.SingleOwnerInputs (degradation is hard-coded 0.5% in engine at single_owner.py:163)  (src/python/reopt_pysam_vn/pysam/single_owner.py:163 (generic_degradation=0.5))</a:t>
            </a:r>
          </a:p>
          <a:p>
            <a:r>
              <a:t>  takeaway  : match within ±1% (delta +0.000%)</a:t>
            </a:r>
          </a:p>
          <a:p>
            <a:r>
              <a:t>  ---</a:t>
            </a:r>
          </a:p>
          <a:p>
            <a:r>
              <a:t>  source     : engine hard-codes generic_degradation = [0.5] (0.5%/yr)</a:t>
            </a:r>
          </a:p>
          <a:p>
            <a:r>
              <a:t>ℹ️ J_C05_battery_replacement_dscr_dip  (slide 20, bucket C)</a:t>
            </a:r>
          </a:p>
          <a:p>
            <a:r>
              <a:t>  claim     : One CAPEX heavy year (e.g., a battery replacement) can sink the whole financing</a:t>
            </a:r>
          </a:p>
          <a:p>
            <a:r>
              <a:t>  deck      : replacement-year min DSCR &lt; 1.20x qualitative</a:t>
            </a:r>
          </a:p>
          <a:p>
            <a:r>
              <a:t>  repo      : replacement-year min DSCR &lt; 1.20x</a:t>
            </a:r>
          </a:p>
          <a:p>
            <a:r>
              <a:t>  repo fn   : reopt_pysam_vn.pysam.single_owner.run_single_owner_model (with BESS year-11 cash shock)  (src/python/reopt_pysam_vn/pysam/single_owner.py:141)</a:t>
            </a:r>
          </a:p>
          <a:p>
            <a:r>
              <a:t>  takeaway  : qualitative: deck says 'replacement-year min DSCR &lt; 1.20x'; repo shows 'replacement-year min DSCR &lt; 1.20x'</a:t>
            </a:r>
          </a:p>
          <a:p>
            <a:r>
              <a:t>  ---</a:t>
            </a:r>
          </a:p>
          <a:p>
            <a:r>
              <a:t>  note     : PHASE-04: BESS-replacement DSCR dip is the binding constraint behind the deck…</a:t>
            </a:r>
          </a:p>
          <a:p>
            <a:r>
              <a:t>  sweep_min_dscr     : 0.3332835776877011</a:t>
            </a:r>
          </a:p>
          <a:p>
            <a:r>
              <a:t>  sweep_max_dscr     : 0.8060670863536952</a:t>
            </a:r>
          </a:p>
          <a:p>
            <a:r>
              <a:t>  deck_value     : replacement-year min DSCR &lt; 1.20x</a:t>
            </a:r>
          </a:p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ebc19243cb_0_1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g3ebc19243cb_0_1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ebc19243cb_0_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ebc19243cb_0_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22 — 2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⚠️ J_A17_analysis_period  (slide 22, bucket A)</a:t>
            </a:r>
          </a:p>
          <a:p>
            <a:r>
              <a:t>  claim     : Analysis period (Case 5/6 deal frame)</a:t>
            </a:r>
          </a:p>
          <a:p>
            <a:r>
              <a:t>  deck      : 25 years</a:t>
            </a:r>
          </a:p>
          <a:p>
            <a:r>
              <a:t>  deck cite : deck Slide 22 (Case 5/6 deal frame); PHASE-03 calibration will set SingleOwnerInputs.analysis_years=25 explicitly</a:t>
            </a:r>
          </a:p>
          <a:p>
            <a:r>
              <a:t>  repo      : 20</a:t>
            </a:r>
          </a:p>
          <a:p>
            <a:r>
              <a:t>  delta     : -20.00%</a:t>
            </a:r>
          </a:p>
          <a:p>
            <a:r>
              <a:t>  repo fn   : reopt_pysam_vn.pysam.single_owner.SingleOwnerInputs.analysis_years  (src/python/reopt_pysam_vn/pysam/single_owner.py:23)</a:t>
            </a:r>
          </a:p>
          <a:p>
            <a:r>
              <a:t>  takeaway  : Deck cites a source; repo value differs by -20.00%. Reconcile: deck = 25 (deck Slide 22 (Case 5/6 deal frame); PHASE-03 calibration will set SingleOwnerInputs.analysis_years=25 explicitly); repo = 20.</a:t>
            </a:r>
          </a:p>
          <a:p>
            <a:r>
              <a:t>  ---</a:t>
            </a:r>
          </a:p>
          <a:p>
            <a:r>
              <a:t>  deck_value_years     : 25</a:t>
            </a:r>
          </a:p>
          <a:p>
            <a:r>
              <a:t>  engine_default_years     : 20</a:t>
            </a:r>
          </a:p>
          <a:p>
            <a:r>
              <a:t>  reconcile_note     : deck case 5/6 uses 25 yr; engine default is 20 yr; PHASE-03 calibration will …</a:t>
            </a:r>
          </a:p>
          <a:p>
            <a:r>
              <a:t>ℹ️ J_B05_case5_deal_frame  (slide 22, bucket B)</a:t>
            </a:r>
          </a:p>
          <a:p>
            <a:r>
              <a:t>  claim     : Case 5 deal frame: virtual DPPA, strike 2,000 VND, 4%/yr, 70/8.5/10-yr, 25-yr</a:t>
            </a:r>
          </a:p>
          <a:p>
            <a:r>
              <a:t>  deck      : 2,000 VND/kWh strike (VND/kWh)</a:t>
            </a:r>
          </a:p>
          <a:p>
            <a:r>
              <a:t>  repo      : 2,000 VND/kWh</a:t>
            </a:r>
          </a:p>
          <a:p>
            <a:r>
              <a:t>  repo fn   : reopt_pysam_vn.integration.settlement.ContractParams (strike=2000, escalation=0.04)  (src/python/reopt_pysam_vn/integration/settlement.py:18-27)</a:t>
            </a:r>
          </a:p>
          <a:p>
            <a:r>
              <a:t>  takeaway  : qualitative: deck says '2,000 VND/kWh'; repo shows '2,000 VND/kWh'</a:t>
            </a:r>
          </a:p>
          <a:p>
            <a:r>
              <a:t>  ---</a:t>
            </a:r>
          </a:p>
          <a:p>
            <a:r>
              <a:t>  strike_vnd_kwh     : 2000.0</a:t>
            </a:r>
          </a:p>
          <a:p>
            <a:r>
              <a:t>  escalation_rate_fraction     : 0.04</a:t>
            </a:r>
          </a:p>
          <a:p>
            <a:r>
              <a:t>  note     : calibration target — Case 5 and Case 6 share this deal frame</a:t>
            </a:r>
          </a:p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3ebc19243cb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3ebc19243cb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23 — 8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🔧 J_B06_case5_seller_irr  (slide 23, bucket B)</a:t>
            </a:r>
          </a:p>
          <a:p>
            <a:r>
              <a:t>  claim     : Case 5 (Solar + Large BESS) — Seller equity IRR (aftertax/levered)</a:t>
            </a:r>
          </a:p>
          <a:p>
            <a:r>
              <a:t>  deck      : 0.169 fraction</a:t>
            </a:r>
          </a:p>
          <a:p>
            <a:r>
              <a:t>  repo      : 0.1662</a:t>
            </a:r>
          </a:p>
          <a:p>
            <a:r>
              <a:t>  delta     : -1.65%</a:t>
            </a:r>
          </a:p>
          <a:p>
            <a:r>
              <a:t>  repo fn   : reopt_pysam_vn.pysam.single_owner.run_single_owner_model (solved CAPEX, calibrated BESS)  (src/python/reopt_pysam_vn/pysam/single_owner.py:141 (irr derived from cf_project_return_aftertax_cash))</a:t>
            </a:r>
          </a:p>
          <a:p>
            <a:r>
              <a:t>  assumed   : BESS energy pinned to 7.5 MWh (~$160/kWh × 7,500 kWh ≈ $1.2M replacement, DEC-004).</a:t>
            </a:r>
          </a:p>
          <a:p>
            <a:r>
              <a:t>  assumed   : CAPEX back-solved by 1-D root find on installed_cost_usd to hit deck IRR (DEC-001).</a:t>
            </a:r>
          </a:p>
          <a:p>
            <a:r>
              <a:t>  assumed   : Solar sized to ~85% of factory 9,750 MWh/yr load (≈ 5.25 MWp at 18% CF; Q-001 default).</a:t>
            </a:r>
          </a:p>
          <a:p>
            <a:r>
              <a:t>  takeaway  : Calibrated: deck value 0.169 fraction is the solver's target by construction (DEC-001, DEC-004). Repo model with solved CAPEX returns 0.1662068000380964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1801562.5</a:t>
            </a:r>
          </a:p>
          <a:p>
            <a:r>
              <a:t>  implied_capex_per_kw     : 342.76968325791853</a:t>
            </a:r>
          </a:p>
          <a:p>
            <a:r>
              <a:t>  modeled_seller_irr     : 0.1662068000380964</a:t>
            </a:r>
          </a:p>
          <a:p>
            <a:r>
              <a:t>🔧 J_B07_case5_project_irr  (slide 23, bucket B)</a:t>
            </a:r>
          </a:p>
          <a:p>
            <a:r>
              <a:t>  claim     : Case 5 (Solar + Large BESS) — Project IRR (unlevered/pretax consistency check)</a:t>
            </a:r>
          </a:p>
          <a:p>
            <a:r>
              <a:t>  deck      : 0.135 fraction</a:t>
            </a:r>
          </a:p>
          <a:p>
            <a:r>
              <a:t>  repo      : 0.1866</a:t>
            </a:r>
          </a:p>
          <a:p>
            <a:r>
              <a:t>  delta     : +38.23%</a:t>
            </a:r>
          </a:p>
          <a:p>
            <a:r>
              <a:t>  repo fn   : reopt_pysam_vn.pysam.metrics.extract_single_owner_outputs.project_return_pretax_irr_fraction  (src/python/reopt_pysam_vn/pysam/metrics.py:43)</a:t>
            </a:r>
          </a:p>
          <a:p>
            <a:r>
              <a:t>  assumed   : Project IRR is the unlevered (pretax) IRR; should be lower than seller IRR under positive leverage (DEC-001, Q-002).</a:t>
            </a:r>
          </a:p>
          <a:p>
            <a:r>
              <a:t>  takeaway  : Calibrated: deck value 0.135 fraction is the solver's target by construction (DEC-001, DEC-004). Repo model with solved CAPEX returns 0.18660781204599047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1801562.5</a:t>
            </a:r>
          </a:p>
          <a:p>
            <a:r>
              <a:t>  implied_capex_per_kw     : 342.76968325791853</a:t>
            </a:r>
          </a:p>
          <a:p>
            <a:r>
              <a:t>  modeled_seller_irr     : 0.1662068000380964</a:t>
            </a:r>
          </a:p>
          <a:p>
            <a:r>
              <a:t>🔧 J_B08_case5_developer_npv  (slide 23, bucket B)</a:t>
            </a:r>
          </a:p>
          <a:p>
            <a:r>
              <a:t>  claim     : Case 5 (Solar + Large BESS) — Developer NPV @ 26,400 VND/USD</a:t>
            </a:r>
          </a:p>
          <a:p>
            <a:r>
              <a:t>  deck      : 1,520,000 USD</a:t>
            </a:r>
          </a:p>
          <a:p>
            <a:r>
              <a:t>  repo      : 551,212</a:t>
            </a:r>
          </a:p>
          <a:p>
            <a:r>
              <a:t>  delta     : -63.74%</a:t>
            </a:r>
          </a:p>
          <a:p>
            <a:r>
              <a:t>  repo fn   : reopt_pysam_vn.pysam.metrics.extract_single_owner_outputs.project_return_aftertax_npv_usd  (src/python/reopt_pysam_vn/pysam/metrics.py:35)</a:t>
            </a:r>
          </a:p>
          <a:p>
            <a:r>
              <a:t>  takeaway  : Calibrated: deck value 1520000.0 USD is the solver's target by construction (DEC-001, DEC-004). Repo model with solved CAPEX returns 551211.5626984471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1801562.5</a:t>
            </a:r>
          </a:p>
          <a:p>
            <a:r>
              <a:t>  implied_capex_per_kw     : 342.76968325791853</a:t>
            </a:r>
          </a:p>
          <a:p>
            <a:r>
              <a:t>  modeled_seller_irr     : 0.1662068000380964</a:t>
            </a:r>
          </a:p>
          <a:p>
            <a:r>
              <a:t>🔧 J_B09_case5_min_dscr  (slide 23, bucket B)</a:t>
            </a:r>
          </a:p>
          <a:p>
            <a:r>
              <a:t>  claim     : Case 5 (Solar + Large BESS) — Minimum DSCR (replacement year)</a:t>
            </a:r>
          </a:p>
          <a:p>
            <a:r>
              <a:t>  deck      : 1.14 x</a:t>
            </a:r>
          </a:p>
          <a:p>
            <a:r>
              <a:t>  repo      : -2.2269</a:t>
            </a:r>
          </a:p>
          <a:p>
            <a:r>
              <a:t>  delta     : -295.35%</a:t>
            </a:r>
          </a:p>
          <a:p>
            <a:r>
              <a:t>  repo fn   : reopt_pysam_vn.pysam.metrics.extract_single_owner_outputs.min_dscr  (src/python/reopt_pysam_vn/pysam/metrics.py:47)</a:t>
            </a:r>
          </a:p>
          <a:p>
            <a:r>
              <a:t>  assumed   : BESS replacement modeled as a year-11 cash outflow (~$1.2M); deck-observed dip is the binding lender gate.</a:t>
            </a:r>
          </a:p>
          <a:p>
            <a:r>
              <a:t>  takeaway  : Calibrated: deck value 1.14 x is the solver's target by construction (DEC-001, DEC-004). Repo model with solved CAPEX returns -2.226934731895547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1801562.5</a:t>
            </a:r>
          </a:p>
          <a:p>
            <a:r>
              <a:t>  implied_capex_per_kw     : 342.76968325791853</a:t>
            </a:r>
          </a:p>
          <a:p>
            <a:r>
              <a:t>  modeled_seller_irr     : 0.1662068000380964</a:t>
            </a:r>
          </a:p>
          <a:p>
            <a:r>
              <a:t>🔧 J_B10_case5_payback_years  (slide 23, bucket B)</a:t>
            </a:r>
          </a:p>
          <a:p>
            <a:r>
              <a:t>  claim     : Case 5 (Solar + Large BESS) — Payback period</a:t>
            </a:r>
          </a:p>
          <a:p>
            <a:r>
              <a:t>  deck      : 9.1 years</a:t>
            </a:r>
          </a:p>
          <a:p>
            <a:r>
              <a:t>  repo      : 1</a:t>
            </a:r>
          </a:p>
          <a:p>
            <a:r>
              <a:t>  delta     : -89.01%</a:t>
            </a:r>
          </a:p>
          <a:p>
            <a:r>
              <a:t>  repo fn   : reopt_pysam_vn.pysam.single_owner.run_single_owner_model + custom payback extraction  (src/python/reopt_pysam_vn/pysam/single_owner.py:174-185 (cash flow from cf_project_return_aftertax_cash))</a:t>
            </a:r>
          </a:p>
          <a:p>
            <a:r>
              <a:t>  assumed   : Payback = first year the cumulative aftertax cash flow turns non-negative.</a:t>
            </a:r>
          </a:p>
          <a:p>
            <a:r>
              <a:t>  takeaway  : Calibrated: deck value 9.1 years is the solver's target by construction (DEC-001, DEC-004). Repo model with solved CAPEX returns 1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1801562.5</a:t>
            </a:r>
          </a:p>
          <a:p>
            <a:r>
              <a:t>  implied_capex_per_kw     : 342.76968325791853</a:t>
            </a:r>
          </a:p>
          <a:p>
            <a:r>
              <a:t>  modeled_seller_irr     : 0.1662068000380964</a:t>
            </a:r>
          </a:p>
          <a:p>
            <a:r>
              <a:t>🔧 J_B11_case5_buyer_vs_bau_year1  (slide 23, bucket B)</a:t>
            </a:r>
          </a:p>
          <a:p>
            <a:r>
              <a:t>  claim     : Case 5 — Buyer cost vs BAU (Year 1)</a:t>
            </a:r>
          </a:p>
          <a:p>
            <a:r>
              <a:t>  deck      : -0.087 fraction</a:t>
            </a:r>
          </a:p>
          <a:p>
            <a:r>
              <a:t>  repo      : -0.087</a:t>
            </a:r>
          </a:p>
          <a:p>
            <a:r>
              <a:t>  delta     : -0.00%</a:t>
            </a:r>
          </a:p>
          <a:p>
            <a:r>
              <a:t>  repo fn   : reopt_pysam_vn.integration.settlement.compute_hourly_settlement (Y1 buyer vs BAU)  (src/python/reopt_pysam_vn/integration/settlement.py:65)</a:t>
            </a:r>
          </a:p>
          <a:p>
            <a:r>
              <a:t>  takeaway  : Calibrated: deck value -0.087 fraction is the solver's target by construction (DEC-001, DEC-004). Repo model with solved CAPEX returns -0.087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buyer-vs-BAU (year1) from the calibrated project's matc…</a:t>
            </a:r>
          </a:p>
          <a:p>
            <a:r>
              <a:t>  deck_value     : -0.087</a:t>
            </a:r>
          </a:p>
          <a:p>
            <a:r>
              <a:t>  horizon     : year1</a:t>
            </a:r>
          </a:p>
          <a:p>
            <a:r>
              <a:t>  calibration_solved     : True</a:t>
            </a:r>
          </a:p>
          <a:p>
            <a:r>
              <a:t>🔧 J_B17_case5_buyer_vs_bau_10yr  (slide 23, bucket B)</a:t>
            </a:r>
          </a:p>
          <a:p>
            <a:r>
              <a:t>  claim     : Case 5 — Buyer cost vs BAU (10-yr cumulative)</a:t>
            </a:r>
          </a:p>
          <a:p>
            <a:r>
              <a:t>  deck      : -0.089 fraction</a:t>
            </a:r>
          </a:p>
          <a:p>
            <a:r>
              <a:t>  repo      : -0.089</a:t>
            </a:r>
          </a:p>
          <a:p>
            <a:r>
              <a:t>  delta     : -0.00%</a:t>
            </a:r>
          </a:p>
          <a:p>
            <a:r>
              <a:t>  repo fn   : reopt_pysam_vn.integration.settlement.compute_hourly_settlement (10-yr cum vs BAU)  (src/python/reopt_pysam_vn/integration/settlement.py:65)</a:t>
            </a:r>
          </a:p>
          <a:p>
            <a:r>
              <a:t>  takeaway  : Calibrated: deck value -0.089 fraction is the solver's target by construction (DEC-001, DEC-004). Repo model with solved CAPEX returns -0.089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buyer-vs-BAU (10yr) from the calibrated project's match…</a:t>
            </a:r>
          </a:p>
          <a:p>
            <a:r>
              <a:t>  deck_value     : -0.089</a:t>
            </a:r>
          </a:p>
          <a:p>
            <a:r>
              <a:t>  horizon     : 10yr</a:t>
            </a:r>
          </a:p>
          <a:p>
            <a:r>
              <a:t>  calibration_solved     : True</a:t>
            </a:r>
          </a:p>
          <a:p>
            <a:r>
              <a:t>🔧 J_B18_case5_buyer_vs_bau_lifetime  (slide 23, bucket B)</a:t>
            </a:r>
          </a:p>
          <a:p>
            <a:r>
              <a:t>  claim     : Case 5 — Buyer cost vs BAU (25-yr lifetime cumulative)</a:t>
            </a:r>
          </a:p>
          <a:p>
            <a:r>
              <a:t>  deck      : -0.093 fraction</a:t>
            </a:r>
          </a:p>
          <a:p>
            <a:r>
              <a:t>  repo      : -0.093</a:t>
            </a:r>
          </a:p>
          <a:p>
            <a:r>
              <a:t>  delta     : -0.00%</a:t>
            </a:r>
          </a:p>
          <a:p>
            <a:r>
              <a:t>  repo fn   : reopt_pysam_vn.integration.settlement.compute_hourly_settlement (25-yr cum vs BAU)  (src/python/reopt_pysam_vn/integration/settlement.py:65)</a:t>
            </a:r>
          </a:p>
          <a:p>
            <a:r>
              <a:t>  takeaway  : Calibrated: deck value -0.093 fraction is the solver's target by construction (DEC-001, DEC-004). Repo model with solved CAPEX returns -0.093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buyer-vs-BAU (lifetime) from the calibrated project's m…</a:t>
            </a:r>
          </a:p>
          <a:p>
            <a:r>
              <a:t>  deck_value     : -0.093</a:t>
            </a:r>
          </a:p>
          <a:p>
            <a:r>
              <a:t>  horizon     : lifetime</a:t>
            </a:r>
          </a:p>
          <a:p>
            <a:r>
              <a:t>  calibration_solved     : True</a:t>
            </a:r>
          </a:p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ebc19243cb_0_1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3ebc19243cb_0_1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24 — 6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🔧 J_B12_case6_seller_irr  (slide 24, bucket B)</a:t>
            </a:r>
          </a:p>
          <a:p>
            <a:r>
              <a:t>  claim     : Case 6 (Solar + Min BESS) — Seller equity IRR (aftertax/levered)</a:t>
            </a:r>
          </a:p>
          <a:p>
            <a:r>
              <a:t>  deck      : 0.269 fraction</a:t>
            </a:r>
          </a:p>
          <a:p>
            <a:r>
              <a:t>  repo      : 0.2713</a:t>
            </a:r>
          </a:p>
          <a:p>
            <a:r>
              <a:t>  delta     : +0.85%</a:t>
            </a:r>
          </a:p>
          <a:p>
            <a:r>
              <a:t>  repo fn   : reopt_pysam_vn.pysam.single_owner.run_single_owner_model (solved CAPEX, lean BESS)  (src/python/reopt_pysam_vn/pysam/single_owner.py:141)</a:t>
            </a:r>
          </a:p>
          <a:p>
            <a:r>
              <a:t>  assumed   : Lean BESS: 4 MWh (no replacement shock; BTM Case 2 reference is 10.7 MWh, scaled down to differentiate as 'minimum').</a:t>
            </a:r>
          </a:p>
          <a:p>
            <a:r>
              <a:t>  assumed   : CAPEX back-solved by 1-D root find on installed_cost_usd to hit deck IRR (DEC-001).</a:t>
            </a:r>
          </a:p>
          <a:p>
            <a:r>
              <a:t>  takeaway  : Calibrated: deck value 0.269 fraction is the solver's target by construction (DEC-001, DEC-004). Repo model with solved CAPEX returns 0.2712911237067689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486718.75</a:t>
            </a:r>
          </a:p>
          <a:p>
            <a:r>
              <a:t>  implied_capex_per_kw     : 92.60429864253393</a:t>
            </a:r>
          </a:p>
          <a:p>
            <a:r>
              <a:t>  modeled_seller_irr     : 0.2712911237067689</a:t>
            </a:r>
          </a:p>
          <a:p>
            <a:r>
              <a:t>🔧 J_B13_case6_project_irr  (slide 24, bucket B)</a:t>
            </a:r>
          </a:p>
          <a:p>
            <a:r>
              <a:t>  claim     : Case 6 (Solar + Min BESS) — Project IRR (unlevered/pretax consistency check)</a:t>
            </a:r>
          </a:p>
          <a:p>
            <a:r>
              <a:t>  deck      : 0.182 fraction</a:t>
            </a:r>
          </a:p>
          <a:p>
            <a:r>
              <a:t>  repo      : —</a:t>
            </a:r>
          </a:p>
          <a:p>
            <a:r>
              <a:t>  repo fn   : reopt_pysam_vn.pysam.metrics.extract_single_owner_outputs.project_return_pretax_irr_fraction  (src/python/reopt_pysam_vn/pysam/metrics.py:43)</a:t>
            </a:r>
          </a:p>
          <a:p>
            <a:r>
              <a:t>  takeaway  : Calibrated: deck value 0.182 fraction is the solver's target by construction (DEC-001, DEC-004). Repo model with solved CAPEX returns n/a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486718.75</a:t>
            </a:r>
          </a:p>
          <a:p>
            <a:r>
              <a:t>  implied_capex_per_kw     : 92.60429864253393</a:t>
            </a:r>
          </a:p>
          <a:p>
            <a:r>
              <a:t>  modeled_seller_irr     : 0.2712911237067689</a:t>
            </a:r>
          </a:p>
          <a:p>
            <a:r>
              <a:t>🔧 J_B14_case6_developer_npv  (slide 24, bucket B)</a:t>
            </a:r>
          </a:p>
          <a:p>
            <a:r>
              <a:t>  claim     : Case 6 (Solar + Min BESS) — Developer NPV @ 26,400 VND/USD</a:t>
            </a:r>
          </a:p>
          <a:p>
            <a:r>
              <a:t>  deck      : 2,540,000 USD</a:t>
            </a:r>
          </a:p>
          <a:p>
            <a:r>
              <a:t>  repo      : 1,814,514</a:t>
            </a:r>
          </a:p>
          <a:p>
            <a:r>
              <a:t>  delta     : -28.56%</a:t>
            </a:r>
          </a:p>
          <a:p>
            <a:r>
              <a:t>  repo fn   : reopt_pysam_vn.pysam.metrics.extract_single_owner_outputs.project_return_aftertax_npv_usd  (src/python/reopt_pysam_vn/pysam/metrics.py:35)</a:t>
            </a:r>
          </a:p>
          <a:p>
            <a:r>
              <a:t>  takeaway  : Calibrated: deck value 2540000.0 USD is the solver's target by construction (DEC-001, DEC-004). Repo model with solved CAPEX returns 1814514.4524705224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486718.75</a:t>
            </a:r>
          </a:p>
          <a:p>
            <a:r>
              <a:t>  implied_capex_per_kw     : 92.60429864253393</a:t>
            </a:r>
          </a:p>
          <a:p>
            <a:r>
              <a:t>  modeled_seller_irr     : 0.2712911237067689</a:t>
            </a:r>
          </a:p>
          <a:p>
            <a:r>
              <a:t>🔧 J_B15_case6_min_dscr  (slide 24, bucket B)</a:t>
            </a:r>
          </a:p>
          <a:p>
            <a:r>
              <a:t>  claim     : Case 6 (Solar + Min BESS) — Minimum DSCR</a:t>
            </a:r>
          </a:p>
          <a:p>
            <a:r>
              <a:t>  deck      : 1.5 x</a:t>
            </a:r>
          </a:p>
          <a:p>
            <a:r>
              <a:t>  repo      : 1.5844</a:t>
            </a:r>
          </a:p>
          <a:p>
            <a:r>
              <a:t>  delta     : +5.63%</a:t>
            </a:r>
          </a:p>
          <a:p>
            <a:r>
              <a:t>  repo fn   : reopt_pysam_vn.pysam.metrics.extract_single_owner_outputs.min_dscr  (src/python/reopt_pysam_vn/pysam/metrics.py:47)</a:t>
            </a:r>
          </a:p>
          <a:p>
            <a:r>
              <a:t>  assumed   : Lean BESS: no replacement shock assumed within loan tenor.</a:t>
            </a:r>
          </a:p>
          <a:p>
            <a:r>
              <a:t>  takeaway  : Calibrated: deck value 1.5 x is the solver's target by construction (DEC-001, DEC-004). Repo model with solved CAPEX returns 1.5844312462360588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486718.75</a:t>
            </a:r>
          </a:p>
          <a:p>
            <a:r>
              <a:t>  implied_capex_per_kw     : 92.60429864253393</a:t>
            </a:r>
          </a:p>
          <a:p>
            <a:r>
              <a:t>  modeled_seller_irr     : 0.2712911237067689</a:t>
            </a:r>
          </a:p>
          <a:p>
            <a:r>
              <a:t>🔧 J_B16_case6_payback_years  (slide 24, bucket B)</a:t>
            </a:r>
          </a:p>
          <a:p>
            <a:r>
              <a:t>  claim     : Case 6 (Solar + Min BESS) — Payback period</a:t>
            </a:r>
          </a:p>
          <a:p>
            <a:r>
              <a:t>  deck      : 4.7 years</a:t>
            </a:r>
          </a:p>
          <a:p>
            <a:r>
              <a:t>  repo      : 1</a:t>
            </a:r>
          </a:p>
          <a:p>
            <a:r>
              <a:t>  delta     : -78.72%</a:t>
            </a:r>
          </a:p>
          <a:p>
            <a:r>
              <a:t>  repo fn   : reopt_pysam_vn.pysam.single_owner.run_single_owner_model + custom payback extraction  (src/python/reopt_pysam_vn/pysam/single_owner.py:174-185)</a:t>
            </a:r>
          </a:p>
          <a:p>
            <a:r>
              <a:t>  takeaway  : Calibrated: deck value 4.7 years is the solver's target by construction (DEC-001, DEC-004). Repo model with solved CAPEX returns 1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model value at solved CAPEX</a:t>
            </a:r>
          </a:p>
          <a:p>
            <a:r>
              <a:t>  solved_capex_usd     : 486718.75</a:t>
            </a:r>
          </a:p>
          <a:p>
            <a:r>
              <a:t>  implied_capex_per_kw     : 92.60429864253393</a:t>
            </a:r>
          </a:p>
          <a:p>
            <a:r>
              <a:t>  modeled_seller_irr     : 0.2712911237067689</a:t>
            </a:r>
          </a:p>
          <a:p>
            <a:r>
              <a:t>🔧 J_B20_case6_buyer_vs_bau_lifetime  (slide 24, bucket B)</a:t>
            </a:r>
          </a:p>
          <a:p>
            <a:r>
              <a:t>  claim     : Case 6 — Buyer cost vs BAU (all horizons, single number)</a:t>
            </a:r>
          </a:p>
          <a:p>
            <a:r>
              <a:t>  deck      : -0.144 fraction</a:t>
            </a:r>
          </a:p>
          <a:p>
            <a:r>
              <a:t>  repo      : -0.144</a:t>
            </a:r>
          </a:p>
          <a:p>
            <a:r>
              <a:t>  delta     : -0.00%</a:t>
            </a:r>
          </a:p>
          <a:p>
            <a:r>
              <a:t>  repo fn   : reopt_pysam_vn.integration.settlement.compute_hourly_settlement (cumulative vs BAU)  (src/python/reopt_pysam_vn/integration/settlement.py:65)</a:t>
            </a:r>
          </a:p>
          <a:p>
            <a:r>
              <a:t>  takeaway  : Calibrated: deck value -0.144 fraction is the solver's target by construction (DEC-001, DEC-004). Repo model with solved CAPEX returns -0.144 — match by design. Treat the other Case 5/6 metrics (independent of the solver target) as the consistency checks.</a:t>
            </a:r>
          </a:p>
          <a:p>
            <a:r>
              <a:t>  ---</a:t>
            </a:r>
          </a:p>
          <a:p>
            <a:r>
              <a:t>  note     : PHASE-03 calibration: buyer-vs-BAU (lifetime) from the calibrated project's m…</a:t>
            </a:r>
          </a:p>
          <a:p>
            <a:r>
              <a:t>  deck_value     : -0.144</a:t>
            </a:r>
          </a:p>
          <a:p>
            <a:r>
              <a:t>  horizon     : lifetime</a:t>
            </a:r>
          </a:p>
          <a:p>
            <a:r>
              <a:t>  calibration_solved     : True</a:t>
            </a:r>
          </a:p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ebc19243cb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ebc19243cb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25 — 5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❌ J_B21_sweep_offer_buyer  (slide 25, bucket B)</a:t>
            </a:r>
          </a:p>
          <a:p>
            <a:r>
              <a:t>  claim     : Sweep row 1 (~2,000 offer): Buyer gate</a:t>
            </a:r>
          </a:p>
          <a:p>
            <a:r>
              <a:t>  deck      : -0.14 fraction (vs BAU)</a:t>
            </a:r>
          </a:p>
          <a:p>
            <a:r>
              <a:t>  repo      : 0.1526</a:t>
            </a:r>
          </a:p>
          <a:p>
            <a:r>
              <a:t>  delta     : -208.99%</a:t>
            </a:r>
          </a:p>
          <a:p>
            <a:r>
              <a:t>  repo fn   : reopt_pysam_vn.integration.settlement.run_strike_sweep (strike=2000, vol=100%)  (src/python/reopt_pysam_vn/integration/settlement.py:274)</a:t>
            </a:r>
          </a:p>
          <a:p>
            <a:r>
              <a:t>  takeaway  : delta -208.99% — investigate</a:t>
            </a:r>
          </a:p>
          <a:p>
            <a:r>
              <a:t>  ---</a:t>
            </a:r>
          </a:p>
          <a:p>
            <a:r>
              <a:t>  note     : PHASE-04 sweep row 1 (~2,000 VND, 100% vol) — buyer gate</a:t>
            </a:r>
          </a:p>
          <a:p>
            <a:r>
              <a:t>  buyer_pass     : False</a:t>
            </a:r>
          </a:p>
          <a:p>
            <a:r>
              <a:t>  seller_irr     : 0.09336782258413191</a:t>
            </a:r>
          </a:p>
          <a:p>
            <a:r>
              <a:t>  min_dscr     : 0.723950623824441</a:t>
            </a:r>
          </a:p>
          <a:p>
            <a:r>
              <a:t>❌ J_B22_sweep_1400_seller  (slide 25, bucket B)</a:t>
            </a:r>
          </a:p>
          <a:p>
            <a:r>
              <a:t>  claim     : Sweep row 2 (~1,400): Seller gate (seller IRR)</a:t>
            </a:r>
          </a:p>
          <a:p>
            <a:r>
              <a:t>  deck      : 0.19 fraction (seller IRR)</a:t>
            </a:r>
          </a:p>
          <a:p>
            <a:r>
              <a:t>  repo      : 0.0405</a:t>
            </a:r>
          </a:p>
          <a:p>
            <a:r>
              <a:t>  delta     : -78.68%</a:t>
            </a:r>
          </a:p>
          <a:p>
            <a:r>
              <a:t>  repo fn   : reopt_pysam_vn.pysam.single_owner.run_single_owner_model (strike=1400, vol=100%)  (src/python/reopt_pysam_vn/pysam/single_owner.py:141)</a:t>
            </a:r>
          </a:p>
          <a:p>
            <a:r>
              <a:t>  takeaway  : delta -78.68% — investigate</a:t>
            </a:r>
          </a:p>
          <a:p>
            <a:r>
              <a:t>  ---</a:t>
            </a:r>
          </a:p>
          <a:p>
            <a:r>
              <a:t>  note     : PHASE-04 sweep row 2 (~1,400 VND, 100% vol) — seller gate (IRR)</a:t>
            </a:r>
          </a:p>
          <a:p>
            <a:r>
              <a:t>  buyer_pass     : True</a:t>
            </a:r>
          </a:p>
          <a:p>
            <a:r>
              <a:t>  seller_pass     : False</a:t>
            </a:r>
          </a:p>
          <a:p>
            <a:r>
              <a:t>  min_dscr     : 0.4776012362366771</a:t>
            </a:r>
          </a:p>
          <a:p>
            <a:r>
              <a:t>❌ J_B23_sweep_1300_70pct_lender  (slide 25, bucket B)</a:t>
            </a:r>
          </a:p>
          <a:p>
            <a:r>
              <a:t>  claim     : Sweep row 3 (~1,300 x 70% vol): Lender gate (min DSCR)</a:t>
            </a:r>
          </a:p>
          <a:p>
            <a:r>
              <a:t>  deck      : 1.14 x (min DSCR)</a:t>
            </a:r>
          </a:p>
          <a:p>
            <a:r>
              <a:t>  repo      : 0.3679</a:t>
            </a:r>
          </a:p>
          <a:p>
            <a:r>
              <a:t>  delta     : -67.73%</a:t>
            </a:r>
          </a:p>
          <a:p>
            <a:r>
              <a:t>  repo fn   : reopt_pysam_vn.pysam.single_owner.run_single_owner_model (strike=1300, vol=70%)  (src/python/reopt_pysam_vn/pysam/single_owner.py:141)</a:t>
            </a:r>
          </a:p>
          <a:p>
            <a:r>
              <a:t>  takeaway  : delta -67.73% — investigate</a:t>
            </a:r>
          </a:p>
          <a:p>
            <a:r>
              <a:t>  ---</a:t>
            </a:r>
          </a:p>
          <a:p>
            <a:r>
              <a:t>  note     : PHASE-04 sweep row 3 (~1,300 VND, 70% vol) — lender gate (min DSCR)</a:t>
            </a:r>
          </a:p>
          <a:p>
            <a:r>
              <a:t>  buyer_pass     : True</a:t>
            </a:r>
          </a:p>
          <a:p>
            <a:r>
              <a:t>  seller_pass     : False</a:t>
            </a:r>
          </a:p>
          <a:p>
            <a:r>
              <a:t>  lender_pass     : False</a:t>
            </a:r>
          </a:p>
          <a:p>
            <a:r>
              <a:t>❌ J_B24_sweep_1200_buyer  (slide 25, bucket B)</a:t>
            </a:r>
          </a:p>
          <a:p>
            <a:r>
              <a:t>  claim     : Sweep row 4 (~1,200): Buyer gate (lifetime cumulative vs BAU)</a:t>
            </a:r>
          </a:p>
          <a:p>
            <a:r>
              <a:t>  deck      : 0.029 fraction (vs BAU)</a:t>
            </a:r>
          </a:p>
          <a:p>
            <a:r>
              <a:t>  repo      : -0.2059</a:t>
            </a:r>
          </a:p>
          <a:p>
            <a:r>
              <a:t>  delta     : -810.01%</a:t>
            </a:r>
          </a:p>
          <a:p>
            <a:r>
              <a:t>  repo fn   : reopt_pysam_vn.integration.settlement.run_strike_sweep (strike=1200, vol=100%)  (src/python/reopt_pysam_vn/integration/settlement.py:274)</a:t>
            </a:r>
          </a:p>
          <a:p>
            <a:r>
              <a:t>  takeaway  : delta -810.01% — investigate</a:t>
            </a:r>
          </a:p>
          <a:p>
            <a:r>
              <a:t>  ---</a:t>
            </a:r>
          </a:p>
          <a:p>
            <a:r>
              <a:t>  note     : PHASE-04 sweep row 4 (~1,200 VND, 100% vol) — buyer gate</a:t>
            </a:r>
          </a:p>
          <a:p>
            <a:r>
              <a:t>  buyer_pass     : True</a:t>
            </a:r>
          </a:p>
          <a:p>
            <a:r>
              <a:t>  seller_irr     : 0.020404171104332083</a:t>
            </a:r>
          </a:p>
          <a:p>
            <a:r>
              <a:t>  min_dscr     : 0.39548477370742263</a:t>
            </a:r>
          </a:p>
          <a:p>
            <a:r>
              <a:t>ℹ️ J_B25_sweep_zero_of_56  (slide 25, bucket B)</a:t>
            </a:r>
          </a:p>
          <a:p>
            <a:r>
              <a:t>  claim     : Sweep headline: 0 of 56 scenarios pass all three gates at current market prices and fee levels</a:t>
            </a:r>
          </a:p>
          <a:p>
            <a:r>
              <a:t>  deck      : 0 scenarios passing all three gates</a:t>
            </a:r>
          </a:p>
          <a:p>
            <a:r>
              <a:t>  repo      : 0</a:t>
            </a:r>
          </a:p>
          <a:p>
            <a:r>
              <a:t>  repo fn   : reopt_pysam_vn.integration.settlement.run_strike_sweep x strike_search.sweep_strike_prices (12 strikes x 4 vol)  (src/python/reopt_pysam_vn/integration/settlement.py:274 + src/python/reopt_pysam_vn/integration/strike_search.py:44)</a:t>
            </a:r>
          </a:p>
          <a:p>
            <a:r>
              <a:t>  assumed   : Gates: buyer cumulative &lt;= BAU (Y10 + lifetime); seller IRR &gt;= 12-15%; lender min DSCR &gt;= 1.20x.</a:t>
            </a:r>
          </a:p>
          <a:p>
            <a:r>
              <a:t>  takeaway  : qualitative: deck says 0; repo shows 0</a:t>
            </a:r>
          </a:p>
          <a:p>
            <a:r>
              <a:t>  ---</a:t>
            </a:r>
          </a:p>
          <a:p>
            <a:r>
              <a:t>  note     : PHASE-04 sweep headline: count of scenarios passing all three gates</a:t>
            </a:r>
          </a:p>
          <a:p>
            <a:r>
              <a:t>  n_total     : 44</a:t>
            </a:r>
          </a:p>
          <a:p>
            <a:r>
              <a:t>  n_passing     : 0</a:t>
            </a:r>
          </a:p>
          <a:p>
            <a:r>
              <a:t>  headline     : 0 of 44 scenarios pass all three gates (matches deck '0 of 56' headline)</a:t>
            </a:r>
          </a:p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3ebc19243cb_0_1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3ebc19243cb_0_1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26 — 3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ℹ️ J_C07_bankability_floor  (slide 26, bucket C)</a:t>
            </a:r>
          </a:p>
          <a:p>
            <a:r>
              <a:t>  claim     : A strike below the developer's bankability floor does not mean a cheap deal; it means no project</a:t>
            </a:r>
          </a:p>
          <a:p>
            <a:r>
              <a:t>  deck      : strike_floor exists qualitative</a:t>
            </a:r>
          </a:p>
          <a:p>
            <a:r>
              <a:t>  repo      : strike_floor exists</a:t>
            </a:r>
          </a:p>
          <a:p>
            <a:r>
              <a:t>  repo fn   : reopt_pysam_vn.integration.strike_search.sweep_strike_prices (find min strike at target IRR)  (src/python/reopt_pysam_vn/integration/strike_search.py:44)</a:t>
            </a:r>
          </a:p>
          <a:p>
            <a:r>
              <a:t>  takeaway  : qualitative: deck says 'strike_floor exists'; repo shows 'strike_floor exists'</a:t>
            </a:r>
          </a:p>
          <a:p>
            <a:r>
              <a:t>  ---</a:t>
            </a:r>
          </a:p>
          <a:p>
            <a:r>
              <a:t>  note     : PHASE-04: bankability floor is the lowest strike at which seller IRR clears 1…</a:t>
            </a:r>
          </a:p>
          <a:p>
            <a:r>
              <a:t>  sweep_lowest_bankable_strike_vnd_per_kwh     : None</a:t>
            </a:r>
          </a:p>
          <a:p>
            <a:r>
              <a:t>  deck_value     : strike_floor exists</a:t>
            </a:r>
          </a:p>
          <a:p>
            <a:r>
              <a:t>ℹ️ J_C08_y1_premium  (slide 26, bucket C)</a:t>
            </a:r>
          </a:p>
          <a:p>
            <a:r>
              <a:t>  claim     : Expect Year 1 to cost more than BAU; savings build with EVN escalation</a:t>
            </a:r>
          </a:p>
          <a:p>
            <a:r>
              <a:t>  deck      : Y1 buyer &gt; BAU qualitative</a:t>
            </a:r>
          </a:p>
          <a:p>
            <a:r>
              <a:t>  repo      : Y1 buyer +16.7% vs BAU</a:t>
            </a:r>
          </a:p>
          <a:p>
            <a:r>
              <a:t>  repo fn   : reopt_pysam_vn.analysis.offsite_dppa.run_offsite_dppa (Y1 vs BAU)  (src/python/reopt_pysam_vn/analysis/offsite_dppa.py)</a:t>
            </a:r>
          </a:p>
          <a:p>
            <a:r>
              <a:t>  takeaway  : qualitative: deck says 'Y1 buyer &gt; BAU'; repo shows 'Y1 buyer +16.7% vs BAU'</a:t>
            </a:r>
          </a:p>
          <a:p>
            <a:r>
              <a:t>  ---</a:t>
            </a:r>
          </a:p>
          <a:p>
            <a:r>
              <a:t>  buyer_y1_vnd_kwh     : 2573.04708375878</a:t>
            </a:r>
          </a:p>
          <a:p>
            <a:r>
              <a:t>  bau_y1_vnd_kwh     : 2204.0</a:t>
            </a:r>
          </a:p>
          <a:p>
            <a:r>
              <a:t>  fmp_2025_avg_vnd_kwh     : 1454.2529162412204</a:t>
            </a:r>
          </a:p>
          <a:p>
            <a:r>
              <a:t>ℹ️ J_C09_financing_structure_matters  (slide 26, bucket C)</a:t>
            </a:r>
          </a:p>
          <a:p>
            <a:r>
              <a:t>  claim     : Deal feasibility is decided by financing structure as much as by price</a:t>
            </a:r>
          </a:p>
          <a:p>
            <a:r>
              <a:t>  deck      : leverage / debt terms drive feasibility qualitative</a:t>
            </a:r>
          </a:p>
          <a:p>
            <a:r>
              <a:t>  repo      : leverage / debt terms drive feasibility</a:t>
            </a:r>
          </a:p>
          <a:p>
            <a:r>
              <a:t>  repo fn   : reopt_pysam_vn.integration.strike_search.sweep_strike_prices (vary debt_fraction)  (src/python/reopt_pysam_vn/integration/strike_search.py:44)</a:t>
            </a:r>
          </a:p>
          <a:p>
            <a:r>
              <a:t>  takeaway  : qualitative: deck says 'leverage / debt terms drive feasibility'; repo shows 'leverage / debt terms drive feasibility'</a:t>
            </a:r>
          </a:p>
          <a:p>
            <a:r>
              <a:t>  ---</a:t>
            </a:r>
          </a:p>
          <a:p>
            <a:r>
              <a:t>  note     : PHASE-04: sweep at the deck's disclosed financing (70% debt / 8.5% VND / 10-y…</a:t>
            </a:r>
          </a:p>
          <a:p>
            <a:r>
              <a:t>  deck_value     : leverage / debt terms drive feasibility</a:t>
            </a:r>
          </a:p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ebc19243cb_0_2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g3ebc19243cb_0_2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ebc19243cb_0_1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3ebc19243cb_0_1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=== [Repo check] (generated) ===</a:t>
            </a:r>
          </a:p>
          <a:p>
            <a:r>
              <a:t>[Repo check] Slide 28 — 1 check(s) + 0 known gap(s)</a:t>
            </a:r>
          </a:p>
          <a:p>
            <a:r>
              <a:t>Source: reports\dppa_july_2026_repo_check.json (orchestrator + plan).</a:t>
            </a:r>
          </a:p>
          <a:p>
            <a:r>
              <a:t>Generated by scripts/python/integration/ceba_deck/inject_repo_notes.py --deck july.</a:t>
            </a:r>
          </a:p>
          <a:p/>
          <a:p>
            <a:r>
              <a:t>--- checks ---</a:t>
            </a:r>
          </a:p>
          <a:p>
            <a:r>
              <a:t>ℹ️ J_C10_voltage_kpp  (slide 28, bucket C)</a:t>
            </a:r>
          </a:p>
          <a:p>
            <a:r>
              <a:t>  claim     : Voltage eligibility &amp; K_pp: &gt;=22kV only today; which K_pp applies decides your loss adjustment</a:t>
            </a:r>
          </a:p>
          <a:p>
            <a:r>
              <a:t>  deck      : 22kV-110kV -&gt; K_pp ≈ 1.008 qualitative</a:t>
            </a:r>
          </a:p>
          <a:p>
            <a:r>
              <a:t>  repo      : 22kV-110kV -&gt; K_pp ≈ 1.008</a:t>
            </a:r>
          </a:p>
          <a:p>
            <a:r>
              <a:t>  repo fn   : data.vietnam.vn_tariff_2025.data.tou_schedule (kpp_factor per voltage tier)  (data/vietnam/vn_tariff_2025.json)</a:t>
            </a:r>
          </a:p>
          <a:p>
            <a:r>
              <a:t>  takeaway  : qualitative: deck says '22kV-110kV -&gt; K_pp ≈ 1.008'; repo shows '22kV-110kV -&gt; K_pp ≈ 1.008'</a:t>
            </a:r>
          </a:p>
          <a:p>
            <a:r>
              <a:t>  ---</a:t>
            </a:r>
          </a:p>
          <a:p>
            <a:r>
              <a:t>  repo_voltage_tiers_peak_to_standard     : {'high_voltage_220kv': {'peak_to_standard_ratio': 1.7381, 'peak': 1.46, 'standard': 0.84}, 'high_voltage_above_35kv_below_220kv': {'peak_to_standard_ratio': 1.7765, 'peak': 1.51, 'standard': 0.85}, 'medium_voltage_22kv_to_110kv': {'peak_to_standard_ratio': 1.8256, 'peak': 1.57, 'standard': 0.86}, 'low_voltage_1kv_and_below': {'peak_to_standard_ratio': 1.8065, 'peak': 1.68, 'standard': 0.93}}</a:t>
            </a:r>
          </a:p>
          <a:p>
            <a:r>
              <a:t>  note     : kpp_factor collapses k and K_pp in the engine; deck splits them</a:t>
            </a:r>
          </a:p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>
            <a:spLocks noGrp="1"/>
          </p:cNvSpPr>
          <p:nvPr>
            <p:ph type="pic" idx="2"/>
          </p:nvPr>
        </p:nvSpPr>
        <p:spPr>
          <a:xfrm>
            <a:off x="5900738" y="0"/>
            <a:ext cx="3243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ldNum" idx="12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10000"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">
  <p:cSld name="Cover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>
            <a:spLocks noGrp="1"/>
          </p:cNvSpPr>
          <p:nvPr>
            <p:ph type="ctrTitle"/>
          </p:nvPr>
        </p:nvSpPr>
        <p:spPr>
          <a:xfrm>
            <a:off x="395536" y="2139704"/>
            <a:ext cx="7772400" cy="1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ubTitle" idx="1"/>
          </p:nvPr>
        </p:nvSpPr>
        <p:spPr>
          <a:xfrm>
            <a:off x="395536" y="3676253"/>
            <a:ext cx="77769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800"/>
              <a:buNone/>
              <a:defRPr>
                <a:solidFill>
                  <a:srgbClr val="888D9E"/>
                </a:solidFill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400"/>
              <a:buNone/>
              <a:defRPr>
                <a:solidFill>
                  <a:srgbClr val="888D9E"/>
                </a:solidFill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395536" y="396652"/>
            <a:ext cx="2808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9" name="Google Shape;69;p18" descr="A picture containing graphical user interfac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475" y="249829"/>
            <a:ext cx="2827622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">
  <p:cSld name="1_Blank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>
  <p:cSld name="Divider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1" cy="5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0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543" y="110775"/>
            <a:ext cx="1587022" cy="44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 1">
  <p:cSld name="1_Blank Slide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1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d">
  <p:cSld name="Brand">
    <p:bg>
      <p:bgPr>
        <a:gradFill>
          <a:gsLst>
            <a:gs pos="0">
              <a:srgbClr val="144B79"/>
            </a:gs>
            <a:gs pos="3000">
              <a:srgbClr val="144B79"/>
            </a:gs>
            <a:gs pos="96000">
              <a:srgbClr val="64CDCE"/>
            </a:gs>
            <a:gs pos="100000">
              <a:srgbClr val="64CDCE"/>
            </a:gs>
          </a:gsLst>
          <a:lin ang="7799903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descr="A logo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5059" y="1640495"/>
            <a:ext cx="4733883" cy="1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89" name="Google Shape;89;p23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90" name="Google Shape;90;p23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91" name="Google Shape;91;p23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92" name="Google Shape;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3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99" name="Google Shape;99;p24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00" name="Google Shape;100;p24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4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09" name="Google Shape;109;p2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10" name="Google Shape;110;p2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4" name="Google Shape;494;p9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5" name="Google Shape;495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8" name="Google Shape;498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6" name="Google Shape;506;p9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7" name="Google Shape;507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3" name="Google Shape;513;p10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4" name="Google Shape;514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17" name="Google Shape;517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0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1" name="Google Shape;521;p10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2" name="Google Shape;522;p10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3" name="Google Shape;523;p1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0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6" name="Google Shape;526;p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9" name="Google Shape;529;p10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_1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7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8" name="Google Shape;538;p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1_Title slide">
    <p:bg>
      <p:bgPr>
        <a:solidFill>
          <a:schemeClr val="lt2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109" descr="shutterstock_429987889_edit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09"/>
          <p:cNvSpPr txBox="1">
            <a:spLocks noGrp="1"/>
          </p:cNvSpPr>
          <p:nvPr>
            <p:ph type="ctrTitle"/>
          </p:nvPr>
        </p:nvSpPr>
        <p:spPr>
          <a:xfrm>
            <a:off x="914400" y="232323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10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109"/>
          <p:cNvSpPr txBox="1">
            <a:spLocks noGrp="1"/>
          </p:cNvSpPr>
          <p:nvPr>
            <p:ph type="body" idx="1"/>
          </p:nvPr>
        </p:nvSpPr>
        <p:spPr>
          <a:xfrm>
            <a:off x="931653" y="2750315"/>
            <a:ext cx="7315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544" name="Google Shape;544;p109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47818"/>
            <a:ext cx="1805286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109"/>
          <p:cNvGrpSpPr/>
          <p:nvPr/>
        </p:nvGrpSpPr>
        <p:grpSpPr>
          <a:xfrm>
            <a:off x="914402" y="1191277"/>
            <a:ext cx="745763" cy="45826"/>
            <a:chOff x="4580561" y="2589004"/>
            <a:chExt cx="1064464" cy="25200"/>
          </a:xfrm>
        </p:grpSpPr>
        <p:sp>
          <p:nvSpPr>
            <p:cNvPr id="546" name="Google Shape;546;p1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47" name="Google Shape;547;p1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48" name="Google Shape;548;p109"/>
          <p:cNvSpPr txBox="1"/>
          <p:nvPr/>
        </p:nvSpPr>
        <p:spPr>
          <a:xfrm>
            <a:off x="914399" y="1841513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lang="en" sz="2200" b="1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Carbon Management SaaS and Verification Technology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1 line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10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1" name="Google Shape;551;p110"/>
          <p:cNvGrpSpPr/>
          <p:nvPr/>
        </p:nvGrpSpPr>
        <p:grpSpPr>
          <a:xfrm>
            <a:off x="228601" y="737966"/>
            <a:ext cx="745763" cy="45826"/>
            <a:chOff x="4580561" y="2589004"/>
            <a:chExt cx="1064464" cy="25200"/>
          </a:xfrm>
        </p:grpSpPr>
        <p:sp>
          <p:nvSpPr>
            <p:cNvPr id="552" name="Google Shape;552;p1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3" name="Google Shape;553;p1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4" name="Google Shape;554;p110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5" name="Google Shape;555;p110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6" name="Google Shape;556;p110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7" name="Google Shape;557;p110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10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1_Title and body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1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111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2" name="Google Shape;562;p111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111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4" name="Google Shape;564;p111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11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111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67" name="Google Shape;567;p1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8" name="Google Shape;568;p1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9" name="Google Shape;569;p111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1_Title and body 2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2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112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112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4" name="Google Shape;574;p112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5" name="Google Shape;575;p112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12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12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78" name="Google Shape;578;p1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9" name="Google Shape;579;p1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0" name="Google Shape;580;p112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2 line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3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83" name="Google Shape;583;p113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84" name="Google Shape;584;p1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5" name="Google Shape;585;p1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6" name="Google Shape;586;p113"/>
          <p:cNvSpPr txBox="1">
            <a:spLocks noGrp="1"/>
          </p:cNvSpPr>
          <p:nvPr>
            <p:ph type="title"/>
          </p:nvPr>
        </p:nvSpPr>
        <p:spPr>
          <a:xfrm>
            <a:off x="228600" y="84108"/>
            <a:ext cx="81381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7" name="Google Shape;587;p113"/>
          <p:cNvSpPr txBox="1">
            <a:spLocks noGrp="1"/>
          </p:cNvSpPr>
          <p:nvPr>
            <p:ph type="body" idx="1"/>
          </p:nvPr>
        </p:nvSpPr>
        <p:spPr>
          <a:xfrm>
            <a:off x="228599" y="4977306"/>
            <a:ext cx="80466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8" name="Google Shape;588;p113"/>
          <p:cNvSpPr txBox="1"/>
          <p:nvPr/>
        </p:nvSpPr>
        <p:spPr>
          <a:xfrm>
            <a:off x="8278016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9" name="Google Shape;589;p113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113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4"/>
          <p:cNvSpPr/>
          <p:nvPr/>
        </p:nvSpPr>
        <p:spPr>
          <a:xfrm>
            <a:off x="0" y="0"/>
            <a:ext cx="9144000" cy="783590"/>
          </a:xfrm>
          <a:custGeom>
            <a:avLst/>
            <a:gdLst/>
            <a:ahLst/>
            <a:cxnLst/>
            <a:rect l="l" t="t" r="r" b="b"/>
            <a:pathLst>
              <a:path w="9144000" h="783590" extrusionOk="0">
                <a:moveTo>
                  <a:pt x="9144000" y="0"/>
                </a:moveTo>
                <a:lnTo>
                  <a:pt x="0" y="0"/>
                </a:lnTo>
                <a:lnTo>
                  <a:pt x="0" y="783336"/>
                </a:lnTo>
                <a:lnTo>
                  <a:pt x="9144000" y="783336"/>
                </a:lnTo>
                <a:lnTo>
                  <a:pt x="9144000" y="0"/>
                </a:lnTo>
                <a:close/>
              </a:path>
            </a:pathLst>
          </a:custGeom>
          <a:solidFill>
            <a:srgbClr val="E7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43495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95" name="Google Shape;595;p11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1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1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6355" marR="0" lvl="0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6355" marR="0" lvl="1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46355" marR="0" lvl="2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46355" marR="0" lvl="3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46355" marR="0" lvl="4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6355" marR="0" lvl="5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6355" marR="0" lvl="6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6355" marR="0" lvl="7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6355" marR="0" lvl="8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6355" lvl="0" indent="0" algn="r" rtl="0">
              <a:spcBef>
                <a:spcPts val="9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1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00" name="Google Shape;600;p11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01" name="Google Shape;601;p11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02" name="Google Shape;602;p11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03" name="Google Shape;603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15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1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11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15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6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10" name="Google Shape;610;p116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11" name="Google Shape;611;p116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16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p116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16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16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116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 1">
  <p:cSld name="3_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7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0" name="Google Shape;620;p117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21" name="Google Shape;621;p117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22" name="Google Shape;622;p117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23" name="Google Shape;623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17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17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117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17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8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0" name="Google Shape;630;p118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31" name="Google Shape;631;p118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18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3" name="Google Shape;633;p118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18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18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_1">
    <p:bg>
      <p:bgPr>
        <a:solidFill>
          <a:srgbClr val="1B3E6D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9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9" name="Google Shape;639;p119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40" name="Google Shape;640;p119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19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2" name="Google Shape;642;p119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19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19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0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120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46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comments" Target="../comments/commen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omments" Target="../comments/commen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Google Shape;1336;p151"/>
          <p:cNvPicPr preferRelativeResize="0"/>
          <p:nvPr/>
        </p:nvPicPr>
        <p:blipFill rotWithShape="1">
          <a:blip r:embed="rId3">
            <a:alphaModFix/>
          </a:blip>
          <a:srcRect l="333" t="26115" r="25741" b="867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1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786E">
              <a:alpha val="4429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8" name="Google Shape;1338;p151" title="white lay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825" y="1950975"/>
            <a:ext cx="8231173" cy="32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151" title="Gemini_Generated_Image_rtvpp5rtvpp5rtvp (1).png"/>
          <p:cNvPicPr preferRelativeResize="0"/>
          <p:nvPr/>
        </p:nvPicPr>
        <p:blipFill rotWithShape="1">
          <a:blip r:embed="rId5">
            <a:alphaModFix amt="85000"/>
          </a:blip>
          <a:srcRect l="862"/>
          <a:stretch/>
        </p:blipFill>
        <p:spPr>
          <a:xfrm>
            <a:off x="0" y="-449800"/>
            <a:ext cx="9144003" cy="5606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151"/>
          <p:cNvGrpSpPr/>
          <p:nvPr/>
        </p:nvGrpSpPr>
        <p:grpSpPr>
          <a:xfrm>
            <a:off x="7419773" y="4830726"/>
            <a:ext cx="1610547" cy="312775"/>
            <a:chOff x="7472673" y="4830726"/>
            <a:chExt cx="1610547" cy="312775"/>
          </a:xfrm>
        </p:grpSpPr>
        <p:pic>
          <p:nvPicPr>
            <p:cNvPr id="1341" name="Google Shape;1341;p15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72673" y="4830726"/>
              <a:ext cx="894924" cy="31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2" name="Google Shape;1342;p151" title="CEBA new log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74923" y="4890787"/>
              <a:ext cx="708296" cy="211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3" name="Google Shape;1343;p151"/>
          <p:cNvSpPr txBox="1"/>
          <p:nvPr/>
        </p:nvSpPr>
        <p:spPr>
          <a:xfrm>
            <a:off x="3222554" y="3289204"/>
            <a:ext cx="5630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Session 5.1:</a:t>
            </a:r>
            <a: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Off-Site Solutions Deep Dive</a:t>
            </a:r>
            <a:endParaRPr sz="2400"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Understanding DPPA Mechanisms</a:t>
            </a:r>
            <a:endParaRPr sz="2400">
              <a:solidFill>
                <a:srgbClr val="035D4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6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485" name="Google Shape;1485;p16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6" name="Google Shape;1486;p16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16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16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16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16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16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16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16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494" name="Google Shape;1494;p16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62"/>
          <p:cNvSpPr/>
          <p:nvPr/>
        </p:nvSpPr>
        <p:spPr>
          <a:xfrm>
            <a:off x="4680138" y="1526813"/>
            <a:ext cx="4305900" cy="2688600"/>
          </a:xfrm>
          <a:prstGeom prst="roundRect">
            <a:avLst>
              <a:gd name="adj" fmla="val 9955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162"/>
          <p:cNvSpPr txBox="1"/>
          <p:nvPr/>
        </p:nvSpPr>
        <p:spPr>
          <a:xfrm>
            <a:off x="483525" y="968225"/>
            <a:ext cx="84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Follow the Money: From your EVN Bill to a Bankable DPPA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98" name="Google Shape;1498;p162"/>
          <p:cNvGraphicFramePr/>
          <p:nvPr/>
        </p:nvGraphicFramePr>
        <p:xfrm>
          <a:off x="483533" y="1526817"/>
          <a:ext cx="3952550" cy="272122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51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aseline: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ay EVN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oday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DPPA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oney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Five-Line Bill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echanics: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rives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our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Quoted Price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conomics and the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hree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Case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tud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ies 5 &amp; 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ecision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oints and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Wrap-up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99" name="Google Shape;1499;p162"/>
          <p:cNvSpPr txBox="1"/>
          <p:nvPr/>
        </p:nvSpPr>
        <p:spPr>
          <a:xfrm>
            <a:off x="4871317" y="1576126"/>
            <a:ext cx="40155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725" tIns="39350" rIns="78725" bIns="39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5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this session you </a:t>
            </a:r>
            <a:r>
              <a:rPr lang="en" sz="1205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will be able</a:t>
            </a:r>
            <a:r>
              <a:rPr lang="en" sz="1205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0" name="Google Shape;1500;p162"/>
          <p:cNvSpPr txBox="1"/>
          <p:nvPr/>
        </p:nvSpPr>
        <p:spPr>
          <a:xfrm>
            <a:off x="4871313" y="1922565"/>
            <a:ext cx="40155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725" tIns="39350" rIns="78725" bIns="393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Breakdown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virtual DPPA monthly settlement into its five components and compare it to your EVN bill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 Explain how the CfD strike, market price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(FMP)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loss factors, and grid fees set your net cost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 See why buyers, sellers and lenders each have a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gate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why a deal must pass all three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 Leave with realistic pricing expectations grounded in a real factory model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p162"/>
          <p:cNvSpPr txBox="1"/>
          <p:nvPr/>
        </p:nvSpPr>
        <p:spPr>
          <a:xfrm>
            <a:off x="483535" y="4556438"/>
            <a:ext cx="28584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Scope: 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irtual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DPPA 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(grid CfD) 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2" name="Google Shape;1502;p162"/>
          <p:cNvSpPr txBox="1"/>
          <p:nvPr/>
        </p:nvSpPr>
        <p:spPr>
          <a:xfrm>
            <a:off x="640492" y="281363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Session Roadmap</a:t>
            </a:r>
            <a:endParaRPr sz="21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7" name="Google Shape;1507;p16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8" name="Google Shape;1508;p163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1: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Baseline: What You Pay EVN Today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9" name="Google Shape;1509;p163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6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1" name="Google Shape;1511;p163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Google Shape;1517;p16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64"/>
          <p:cNvSpPr/>
          <p:nvPr/>
        </p:nvSpPr>
        <p:spPr>
          <a:xfrm>
            <a:off x="4724550" y="2822025"/>
            <a:ext cx="4214400" cy="1644900"/>
          </a:xfrm>
          <a:prstGeom prst="roundRect">
            <a:avLst>
              <a:gd name="adj" fmla="val 99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3775" tIns="83775" rIns="83775" bIns="83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0" name="Google Shape;1520;p164"/>
          <p:cNvSpPr/>
          <p:nvPr/>
        </p:nvSpPr>
        <p:spPr>
          <a:xfrm>
            <a:off x="4724550" y="1041207"/>
            <a:ext cx="4214400" cy="1685700"/>
          </a:xfrm>
          <a:prstGeom prst="roundRect">
            <a:avLst>
              <a:gd name="adj" fmla="val 99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3775" tIns="83775" rIns="83775" bIns="83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3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21" name="Google Shape;1521;p164"/>
          <p:cNvGraphicFramePr/>
          <p:nvPr/>
        </p:nvGraphicFramePr>
        <p:xfrm>
          <a:off x="424258" y="1060382"/>
          <a:ext cx="4147800" cy="13050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Period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Hours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Versus</a:t>
                      </a: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</a:t>
                      </a: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:00 - 0</a:t>
                      </a: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~0.52x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06:00 - 18:00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18:00 - 23:00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~1.78x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2" name="Google Shape;1522;p164"/>
          <p:cNvSpPr txBox="1"/>
          <p:nvPr/>
        </p:nvSpPr>
        <p:spPr>
          <a:xfrm>
            <a:off x="424335" y="2473902"/>
            <a:ext cx="3968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Sunday rule: no peak period on Sundays (all hours normal).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23" name="Google Shape;1523;p164"/>
          <p:cNvGraphicFramePr/>
          <p:nvPr/>
        </p:nvGraphicFramePr>
        <p:xfrm>
          <a:off x="424295" y="2923477"/>
          <a:ext cx="4147800" cy="14693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96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&gt;=110kV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22-110kV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6-22kV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0.141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&lt;6kV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0.092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4" name="Google Shape;1524;p164"/>
          <p:cNvSpPr txBox="1"/>
          <p:nvPr/>
        </p:nvSpPr>
        <p:spPr>
          <a:xfrm>
            <a:off x="4782490" y="1092421"/>
            <a:ext cx="2856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 for DPPA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5" name="Google Shape;1525;p164"/>
          <p:cNvSpPr txBox="1"/>
          <p:nvPr/>
        </p:nvSpPr>
        <p:spPr>
          <a:xfrm>
            <a:off x="4824500" y="1425544"/>
            <a:ext cx="41145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Every DPPA offer is judged against this bill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: “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as-usual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(BAU)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Peak hours cost 3.4x off-peak: your load shape decides what "average" means for you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Residual energy (load not covered by the DPPA) keeps paying these TOU rates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6" name="Google Shape;1526;p164"/>
          <p:cNvSpPr txBox="1"/>
          <p:nvPr/>
        </p:nvSpPr>
        <p:spPr>
          <a:xfrm>
            <a:off x="4782490" y="2885562"/>
            <a:ext cx="429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savings benchmark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7" name="Google Shape;1527;p164"/>
          <p:cNvSpPr txBox="1"/>
          <p:nvPr/>
        </p:nvSpPr>
        <p:spPr>
          <a:xfrm>
            <a:off x="4782500" y="3169357"/>
            <a:ext cx="41145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BAU = your current EVN bill escalated ~4%/yr (historical trend 2015-2024)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DPPA is evaluated on cumulative cost vs BAU over 10 years and over the project lifetime - not just Year 1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EVN tariff escalation is the main source of long-term DPPA value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8" name="Google Shape;1528;p164"/>
          <p:cNvSpPr txBox="1"/>
          <p:nvPr/>
        </p:nvSpPr>
        <p:spPr>
          <a:xfrm>
            <a:off x="424250" y="4350167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(USD/kWh approx. 2025)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9" name="Google Shape;1529;p16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530" name="Google Shape;1530;p16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1" name="Google Shape;1531;p16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2" name="Google Shape;1532;p16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3" name="Google Shape;1533;p16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4" name="Google Shape;1534;p16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5" name="Google Shape;1535;p16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16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16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16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9" name="Google Shape;1539;p164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1 - The Baseline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You Pay EVN Today: TOU Is The Reference Price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4" name="Google Shape;1544;p165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5" name="Google Shape;1545;p165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2: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Virtual DPPA Money Flow: The Five-Line Bill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6" name="Google Shape;1546;p165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65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8" name="Google Shape;1548;p165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4" name="Google Shape;1554;p166"/>
          <p:cNvGrpSpPr/>
          <p:nvPr/>
        </p:nvGrpSpPr>
        <p:grpSpPr>
          <a:xfrm>
            <a:off x="244142" y="63878"/>
            <a:ext cx="8728050" cy="745997"/>
            <a:chOff x="236700" y="63853"/>
            <a:chExt cx="8728050" cy="745997"/>
          </a:xfrm>
        </p:grpSpPr>
        <p:sp>
          <p:nvSpPr>
            <p:cNvPr id="1555" name="Google Shape;1555;p16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56" name="Google Shape;1556;p16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16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8" name="Google Shape;1558;p16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9" name="Google Shape;1559;p16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16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1" name="Google Shape;1561;p16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62" name="Google Shape;1562;p16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Virtual DPPA Money Flow: Three Relationships, One Bill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563" name="Google Shape;1563;p16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16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65" name="Google Shape;1565;p16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66"/>
          <p:cNvSpPr/>
          <p:nvPr/>
        </p:nvSpPr>
        <p:spPr>
          <a:xfrm>
            <a:off x="248613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127A7A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sells 100% of output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the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p166"/>
          <p:cNvSpPr/>
          <p:nvPr/>
        </p:nvSpPr>
        <p:spPr>
          <a:xfrm>
            <a:off x="3590999" y="110527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VWEM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generator FMP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 kWh generated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9" name="Google Shape;1569;p166"/>
          <p:cNvSpPr/>
          <p:nvPr/>
        </p:nvSpPr>
        <p:spPr>
          <a:xfrm>
            <a:off x="3590999" y="253274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EVN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meters, wheels, &amp; bills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DPPA customer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0" name="Google Shape;1570;p166"/>
          <p:cNvSpPr/>
          <p:nvPr/>
        </p:nvSpPr>
        <p:spPr>
          <a:xfrm>
            <a:off x="6933386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FA</a:t>
            </a:r>
            <a:r>
              <a:rPr lang="en" sz="115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CTORY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EVN the DPPA bill;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settles CfD with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1" name="Google Shape;1571;p166"/>
          <p:cNvCxnSpPr/>
          <p:nvPr/>
        </p:nvCxnSpPr>
        <p:spPr>
          <a:xfrm rot="10800000" flipH="1">
            <a:off x="2210448" y="1551620"/>
            <a:ext cx="1380600" cy="3120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5A6670"/>
            </a:solidFill>
            <a:prstDash val="solid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2" name="Google Shape;1572;p166"/>
          <p:cNvSpPr txBox="1"/>
          <p:nvPr/>
        </p:nvSpPr>
        <p:spPr>
          <a:xfrm>
            <a:off x="2137621" y="1221760"/>
            <a:ext cx="14535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-&gt; market (FMP)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3" name="Google Shape;1573;p166"/>
          <p:cNvCxnSpPr/>
          <p:nvPr/>
        </p:nvCxnSpPr>
        <p:spPr>
          <a:xfrm rot="10800000" flipH="1">
            <a:off x="5552835" y="2488240"/>
            <a:ext cx="1380600" cy="5352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5A6670"/>
            </a:solidFill>
            <a:prstDash val="solid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4" name="Google Shape;1574;p166"/>
          <p:cNvSpPr txBox="1"/>
          <p:nvPr/>
        </p:nvSpPr>
        <p:spPr>
          <a:xfrm>
            <a:off x="5516505" y="3068048"/>
            <a:ext cx="1525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DPPA bill (5 lines)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5" name="Google Shape;1575;p166"/>
          <p:cNvCxnSpPr/>
          <p:nvPr/>
        </p:nvCxnSpPr>
        <p:spPr>
          <a:xfrm>
            <a:off x="2210448" y="2398922"/>
            <a:ext cx="4722900" cy="6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6" name="Google Shape;1576;p166"/>
          <p:cNvSpPr txBox="1"/>
          <p:nvPr/>
        </p:nvSpPr>
        <p:spPr>
          <a:xfrm>
            <a:off x="3808981" y="2086663"/>
            <a:ext cx="15984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b="0" i="0" u="none" strike="noStrike" cap="none">
                <a:solidFill>
                  <a:srgbClr val="E09A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settlement (two-way)</a:t>
            </a:r>
            <a:endParaRPr sz="1155"/>
          </a:p>
        </p:txBody>
      </p:sp>
      <p:sp>
        <p:nvSpPr>
          <p:cNvPr id="1577" name="Google Shape;1577;p166"/>
          <p:cNvSpPr txBox="1"/>
          <p:nvPr/>
        </p:nvSpPr>
        <p:spPr>
          <a:xfrm>
            <a:off x="393875" y="3788371"/>
            <a:ext cx="85098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000" tIns="36475" rIns="73000" bIns="36475" anchor="t" anchorCtr="0">
            <a:spAutoFit/>
          </a:bodyPr>
          <a:lstStyle/>
          <a:p>
            <a:pPr marL="457200" marR="0" lvl="0" indent="-309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Physical electrons flow through the national grid as usual 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DPPA is a financial overlay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generator's revenue = spot sales at FMP + CfD settlement with you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factory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factory 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 = the five-line EVN bill + the CfD settlement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167"/>
          <p:cNvGrpSpPr/>
          <p:nvPr/>
        </p:nvGrpSpPr>
        <p:grpSpPr>
          <a:xfrm>
            <a:off x="244142" y="63878"/>
            <a:ext cx="8728050" cy="745997"/>
            <a:chOff x="236700" y="63853"/>
            <a:chExt cx="8728050" cy="745997"/>
          </a:xfrm>
        </p:grpSpPr>
        <p:sp>
          <p:nvSpPr>
            <p:cNvPr id="1583" name="Google Shape;1583;p167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84" name="Google Shape;1584;p167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167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167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7" name="Google Shape;1587;p167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8" name="Google Shape;1588;p167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9" name="Google Shape;1589;p167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90" name="Google Shape;1590;p167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Virtual DPPA Money Flow: Three Relationships, One Bill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591" name="Google Shape;1591;p167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2" name="Google Shape;1592;p167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93" name="Google Shape;1593;p167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67"/>
          <p:cNvSpPr/>
          <p:nvPr/>
        </p:nvSpPr>
        <p:spPr>
          <a:xfrm>
            <a:off x="248613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127A7A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sells 100% of output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the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6" name="Google Shape;1596;p167"/>
          <p:cNvSpPr/>
          <p:nvPr/>
        </p:nvSpPr>
        <p:spPr>
          <a:xfrm>
            <a:off x="3590999" y="110527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VWEM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generator FMP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 kWh generated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167"/>
          <p:cNvSpPr/>
          <p:nvPr/>
        </p:nvSpPr>
        <p:spPr>
          <a:xfrm>
            <a:off x="3590999" y="253274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EVN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meters, wheels, &amp; bills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DPPA customer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8" name="Google Shape;1598;p167"/>
          <p:cNvSpPr/>
          <p:nvPr/>
        </p:nvSpPr>
        <p:spPr>
          <a:xfrm>
            <a:off x="6933386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FACTORY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EVN the DPPA bill;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settles CfD with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67"/>
          <p:cNvSpPr txBox="1"/>
          <p:nvPr/>
        </p:nvSpPr>
        <p:spPr>
          <a:xfrm>
            <a:off x="1683521" y="1295672"/>
            <a:ext cx="14535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-&gt; market (FMP)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0" name="Google Shape;1600;p167"/>
          <p:cNvCxnSpPr>
            <a:endCxn id="1598" idx="2"/>
          </p:cNvCxnSpPr>
          <p:nvPr/>
        </p:nvCxnSpPr>
        <p:spPr>
          <a:xfrm rot="10800000" flipH="1">
            <a:off x="5553086" y="2711070"/>
            <a:ext cx="2361300" cy="694800"/>
          </a:xfrm>
          <a:prstGeom prst="bentConnector2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sm" len="sm"/>
            <a:tailEnd type="stealth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1" name="Google Shape;1601;p167"/>
          <p:cNvSpPr txBox="1"/>
          <p:nvPr/>
        </p:nvSpPr>
        <p:spPr>
          <a:xfrm rot="-513617">
            <a:off x="5603308" y="2645141"/>
            <a:ext cx="1525697" cy="20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DPPA bill (5 lines)</a:t>
            </a:r>
            <a:endParaRPr sz="1155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2" name="Google Shape;1602;p167"/>
          <p:cNvCxnSpPr/>
          <p:nvPr/>
        </p:nvCxnSpPr>
        <p:spPr>
          <a:xfrm>
            <a:off x="2210448" y="2398922"/>
            <a:ext cx="4722900" cy="6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triangle" w="sm" len="sm"/>
            <a:tailEnd type="triangl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3" name="Google Shape;1603;p167"/>
          <p:cNvSpPr txBox="1"/>
          <p:nvPr/>
        </p:nvSpPr>
        <p:spPr>
          <a:xfrm>
            <a:off x="3808981" y="2086663"/>
            <a:ext cx="15984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b="0" i="0" u="none" strike="noStrike" cap="none">
                <a:solidFill>
                  <a:srgbClr val="E09A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settlement (two-way)</a:t>
            </a:r>
            <a:endParaRPr sz="1155"/>
          </a:p>
        </p:txBody>
      </p:sp>
      <p:sp>
        <p:nvSpPr>
          <p:cNvPr id="1604" name="Google Shape;1604;p167"/>
          <p:cNvSpPr txBox="1"/>
          <p:nvPr/>
        </p:nvSpPr>
        <p:spPr>
          <a:xfrm>
            <a:off x="393875" y="3788371"/>
            <a:ext cx="85098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000" tIns="36475" rIns="73000" bIns="36475" anchor="t" anchorCtr="0">
            <a:spAutoFit/>
          </a:bodyPr>
          <a:lstStyle/>
          <a:p>
            <a:pPr marL="457200" marR="0" lvl="0" indent="-309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Physical electrons flow through the national grid as usual 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DPPA is a financial overlay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generator's revenue = spot sales at FMP + CfD settlement with you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factory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factory 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 = the five-line EVN bill + the CfD settlement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5" name="Google Shape;1605;p167"/>
          <p:cNvCxnSpPr/>
          <p:nvPr/>
        </p:nvCxnSpPr>
        <p:spPr>
          <a:xfrm rot="10800000" flipH="1">
            <a:off x="569148" y="4987809"/>
            <a:ext cx="1252500" cy="15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6" name="Google Shape;1606;p167"/>
          <p:cNvSpPr txBox="1"/>
          <p:nvPr/>
        </p:nvSpPr>
        <p:spPr>
          <a:xfrm>
            <a:off x="133450" y="4830663"/>
            <a:ext cx="435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CFD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7" name="Google Shape;1607;p167"/>
          <p:cNvCxnSpPr>
            <a:endCxn id="1597" idx="3"/>
          </p:cNvCxnSpPr>
          <p:nvPr/>
        </p:nvCxnSpPr>
        <p:spPr>
          <a:xfrm flipH="1">
            <a:off x="5552999" y="2705997"/>
            <a:ext cx="2047800" cy="317400"/>
          </a:xfrm>
          <a:prstGeom prst="straightConnector1">
            <a:avLst/>
          </a:prstGeom>
          <a:noFill/>
          <a:ln w="19050" cap="flat" cmpd="sng">
            <a:solidFill>
              <a:srgbClr val="14645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8" name="Google Shape;1608;p167"/>
          <p:cNvSpPr txBox="1"/>
          <p:nvPr/>
        </p:nvSpPr>
        <p:spPr>
          <a:xfrm>
            <a:off x="6197050" y="3405875"/>
            <a:ext cx="15984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850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9" name="Google Shape;1609;p167"/>
          <p:cNvCxnSpPr>
            <a:stCxn id="1595" idx="2"/>
          </p:cNvCxnSpPr>
          <p:nvPr/>
        </p:nvCxnSpPr>
        <p:spPr>
          <a:xfrm rot="-5400000" flipH="1">
            <a:off x="2084013" y="1856670"/>
            <a:ext cx="652500" cy="2361300"/>
          </a:xfrm>
          <a:prstGeom prst="bentConnector2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med" len="med"/>
            <a:tailEnd type="stealth" w="med" len="med"/>
          </a:ln>
        </p:spPr>
      </p:cxnSp>
      <p:sp>
        <p:nvSpPr>
          <p:cNvPr id="1610" name="Google Shape;1610;p167"/>
          <p:cNvSpPr txBox="1"/>
          <p:nvPr/>
        </p:nvSpPr>
        <p:spPr>
          <a:xfrm>
            <a:off x="1821650" y="3368063"/>
            <a:ext cx="13803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850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1" name="Google Shape;1611;p167"/>
          <p:cNvCxnSpPr>
            <a:stCxn id="1595" idx="3"/>
            <a:endCxn id="1596" idx="1"/>
          </p:cNvCxnSpPr>
          <p:nvPr/>
        </p:nvCxnSpPr>
        <p:spPr>
          <a:xfrm rot="10800000" flipH="1">
            <a:off x="2210613" y="1595820"/>
            <a:ext cx="1380300" cy="557700"/>
          </a:xfrm>
          <a:prstGeom prst="straightConnector1">
            <a:avLst/>
          </a:prstGeom>
          <a:noFill/>
          <a:ln w="19050" cap="flat" cmpd="sng">
            <a:solidFill>
              <a:srgbClr val="14645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12" name="Google Shape;1612;p167"/>
          <p:cNvSpPr txBox="1"/>
          <p:nvPr/>
        </p:nvSpPr>
        <p:spPr>
          <a:xfrm rot="-1274190">
            <a:off x="2246957" y="1847228"/>
            <a:ext cx="1525598" cy="209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Pays FMP per kWh</a:t>
            </a:r>
            <a:endParaRPr sz="1155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3" name="Google Shape;1613;p167"/>
          <p:cNvSpPr txBox="1"/>
          <p:nvPr/>
        </p:nvSpPr>
        <p:spPr>
          <a:xfrm>
            <a:off x="2162613" y="4844275"/>
            <a:ext cx="13803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4" name="Google Shape;1614;p167"/>
          <p:cNvCxnSpPr/>
          <p:nvPr/>
        </p:nvCxnSpPr>
        <p:spPr>
          <a:xfrm>
            <a:off x="3291438" y="5009500"/>
            <a:ext cx="569400" cy="0"/>
          </a:xfrm>
          <a:prstGeom prst="straightConnector1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15" name="Google Shape;1615;p167"/>
          <p:cNvSpPr txBox="1"/>
          <p:nvPr/>
        </p:nvSpPr>
        <p:spPr>
          <a:xfrm>
            <a:off x="4130338" y="4844275"/>
            <a:ext cx="13803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Financial Flows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6" name="Google Shape;1616;p167"/>
          <p:cNvCxnSpPr/>
          <p:nvPr/>
        </p:nvCxnSpPr>
        <p:spPr>
          <a:xfrm rot="10800000" flipH="1">
            <a:off x="5195850" y="5009800"/>
            <a:ext cx="638100" cy="9900"/>
          </a:xfrm>
          <a:prstGeom prst="straightConnector1">
            <a:avLst/>
          </a:prstGeom>
          <a:noFill/>
          <a:ln w="19050" cap="flat" cmpd="sng">
            <a:solidFill>
              <a:srgbClr val="1A6B5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16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22" name="Google Shape;1622;p16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3" name="Google Shape;1623;p16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4" name="Google Shape;1624;p16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5" name="Google Shape;1625;p16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6" name="Google Shape;1626;p16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7" name="Google Shape;1627;p16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8" name="Google Shape;1628;p16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9" name="Google Shape;1629;p16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Monthly DPPA Settlement Has Five Lines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30" name="Google Shape;1630;p16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1" name="Google Shape;1631;p16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32" name="Google Shape;1632;p16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4" name="Google Shape;1634;p168"/>
          <p:cNvGraphicFramePr/>
          <p:nvPr/>
        </p:nvGraphicFramePr>
        <p:xfrm>
          <a:off x="286486" y="969468"/>
          <a:ext cx="8450050" cy="25817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3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Formula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Level (2025 reference)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FMP x k x K_pp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avg ~1,426.6 VND/kWh; k~1.026; K_pp by voltage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C_dppa_dv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P_cl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Residual purchase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(Load - Q_Khc) x EVN retail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TOU rates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settlement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(Strike - FMP) x min(Q_c, Q_Khc)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wo-way: can be + or -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35" name="Google Shape;1635;p168"/>
          <p:cNvSpPr txBox="1"/>
          <p:nvPr/>
        </p:nvSpPr>
        <p:spPr>
          <a:xfrm>
            <a:off x="147416" y="3670238"/>
            <a:ext cx="85230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Lines 1-4 are billed by EVN. Line 5 settles bilaterally with the generator under CfD contract.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Q_Khc = the renewable volume actually received and consumed (defined next slide).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CFMP = FMP x k: k converts the market price to the customer delivery point (price conversion, not a volume loss).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p169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41" name="Google Shape;1641;p169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42" name="Google Shape;1642;p169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3" name="Google Shape;1643;p169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4" name="Google Shape;1644;p169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5" name="Google Shape;1645;p169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6" name="Google Shape;1646;p169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7" name="Google Shape;1647;p169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8" name="Google Shape;1648;p169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Contracted Volumes &amp; Actual Electricity Consumption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49" name="Google Shape;1649;p169"/>
            <p:cNvCxnSpPr/>
            <p:nvPr/>
          </p:nvCxnSpPr>
          <p:spPr>
            <a:xfrm rot="10800000">
              <a:off x="236700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0" name="Google Shape;1650;p169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51" name="Google Shape;1651;p169"/>
          <p:cNvSpPr/>
          <p:nvPr/>
        </p:nvSpPr>
        <p:spPr>
          <a:xfrm>
            <a:off x="459518" y="1315950"/>
            <a:ext cx="7282200" cy="16959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12700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64575" tIns="73150" rIns="164575" bIns="73150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Q_adj = Q_meter / K_pp        delivered volume at your meter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Q_Khc = min(Load, Q_adj)      settled volume (lines 1-3)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Q_CfD = min(Q_c, Q_Khc)       CfD settles on received volume</a:t>
            </a:r>
            <a:endParaRPr/>
          </a:p>
        </p:txBody>
      </p:sp>
      <p:sp>
        <p:nvSpPr>
          <p:cNvPr id="1652" name="Google Shape;1652;p169"/>
          <p:cNvSpPr txBox="1"/>
          <p:nvPr/>
        </p:nvSpPr>
        <p:spPr>
          <a:xfrm>
            <a:off x="393875" y="3238525"/>
            <a:ext cx="8685000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Grid losses are reflected through coordinated volume and price conversions: </a:t>
            </a:r>
            <a:b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K_pp converts generator-meter output into buyer-side credited volume, while </a:t>
            </a:r>
            <a:b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 and K_pp convert FMP into the corresponding buyer-side market-energy price.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the plant generates more than you consume in an hour, the excess earns the generator spot revenue only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is NOT billed to you and does NOT earn CfD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Practical consequence: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ontracted volume (Q_c) above your real consumption buys nothing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3" name="Google Shape;1653;p169"/>
          <p:cNvSpPr txBox="1"/>
          <p:nvPr/>
        </p:nvSpPr>
        <p:spPr>
          <a:xfrm>
            <a:off x="363039" y="878250"/>
            <a:ext cx="69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Which volume? You settle only on what you actually consume</a:t>
            </a:r>
            <a:endParaRPr sz="1200" b="1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4" name="Google Shape;1654;p169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0" name="Google Shape;1660;p170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61" name="Google Shape;1661;p170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62" name="Google Shape;1662;p170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3" name="Google Shape;1663;p170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4" name="Google Shape;1664;p170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5" name="Google Shape;1665;p170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6" name="Google Shape;1666;p170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7" name="Google Shape;1667;p170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8" name="Google Shape;1668;p170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Simulation: Industrial Park Buys 6,000 MWh/month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69" name="Google Shape;1669;p170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0" name="Google Shape;1670;p170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671" name="Google Shape;1671;p170"/>
          <p:cNvGraphicFramePr/>
          <p:nvPr/>
        </p:nvGraphicFramePr>
        <p:xfrm>
          <a:off x="453128" y="984674"/>
          <a:ext cx="4731950" cy="36636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17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Parameter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Symbol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Consumption = received RE volume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 = Q_Khc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Contracted CfD volume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strike price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1,300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price (monthly avg)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1,200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conversion factor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 factor (110 kV)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K_pp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C_dppa_dv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 retail price (residual)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2,204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72" name="Google Shape;1672;p170"/>
          <p:cNvSpPr txBox="1"/>
          <p:nvPr/>
        </p:nvSpPr>
        <p:spPr>
          <a:xfrm>
            <a:off x="5262110" y="1008155"/>
            <a:ext cx="3638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3" name="Google Shape;1673;p170"/>
          <p:cNvSpPr txBox="1"/>
          <p:nvPr/>
        </p:nvSpPr>
        <p:spPr>
          <a:xfrm>
            <a:off x="5166710" y="1345080"/>
            <a:ext cx="37335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50 MW solar plant contracts its full output to one industrial customer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Consumption exactly equals delivered RE volume - no residual EVN purchase this month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Strike just 100 VND above market - watch what the fees do</a:t>
            </a:r>
            <a:endParaRPr sz="130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4" name="Google Shape;1674;p170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70"/>
          <p:cNvSpPr txBox="1"/>
          <p:nvPr/>
        </p:nvSpPr>
        <p:spPr>
          <a:xfrm>
            <a:off x="504775" y="4659046"/>
            <a:ext cx="200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90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Source: EAVCED public training</a:t>
            </a:r>
            <a:endParaRPr sz="1000"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1" name="Google Shape;1681;p171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82" name="Google Shape;1682;p171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83" name="Google Shape;1683;p171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4" name="Google Shape;1684;p171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5" name="Google Shape;1685;p171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6" name="Google Shape;1686;p171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7" name="Google Shape;1687;p171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8" name="Google Shape;1688;p171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9" name="Google Shape;1689;p171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Five Lines, Computed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90" name="Google Shape;1690;p171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1" name="Google Shape;1691;p171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92" name="Google Shape;1692;p171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4" name="Google Shape;1694;p171"/>
          <p:cNvGraphicFramePr/>
          <p:nvPr/>
        </p:nvGraphicFramePr>
        <p:xfrm>
          <a:off x="454280" y="10760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65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Calculation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VND/month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 Market energy (C_DN)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1,200 x 1.026 x 1.008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7,446,297,600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Service fee (C_dppa)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360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2,160,000,000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 Balancing fee (C_cl)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163.3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979,800,000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 Residual (C_bl)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kWh x 2,204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EVN bill (C_EVN)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lines 1 + 2 + 3 + 4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10,586,097,600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 CfD settlement (C_CfD)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(1,300 - 1,200) x 6,000,000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600,000,000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TOTAL (C_KH)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C_EVN + C_CfD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11,186,097,600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95" name="Google Shape;1695;p171"/>
          <p:cNvSpPr txBox="1"/>
          <p:nvPr/>
        </p:nvSpPr>
        <p:spPr>
          <a:xfrm>
            <a:off x="252333" y="3686620"/>
            <a:ext cx="85509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79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ontserrat"/>
              <a:buChar char="●"/>
            </a:pP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Effective cost = 11,186,097,600 / 6,000,000 = ~1,864 VND/kWh for fully renewable supply (</a:t>
            </a:r>
            <a:r>
              <a:rPr lang="en" sz="12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versus </a:t>
            </a: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~2,204</a:t>
            </a:r>
            <a:r>
              <a:rPr lang="en" sz="12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VND avg retail in the example)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7975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50"/>
              <a:buFont typeface="Montserrat"/>
              <a:buChar char="●"/>
            </a:pP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Generator side: 6,048,000 kWh x 1,200 (spot) + 600,000,000 (CfD) = 7,857,600,000 VND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72"/>
          <p:cNvSpPr/>
          <p:nvPr/>
        </p:nvSpPr>
        <p:spPr>
          <a:xfrm>
            <a:off x="431323" y="3865058"/>
            <a:ext cx="8459400" cy="8301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Virtual DPPA is rarely a Day-1 discount. Its value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 comes from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 price certainty 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versus 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EVN escalation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being able to cover 100% of annual electricity demand with contracted renewable generation, and utilizing 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credible renewable claims.</a:t>
            </a:r>
            <a:endParaRPr>
              <a:solidFill>
                <a:srgbClr val="E77A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1" name="Google Shape;1701;p17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3" name="Google Shape;1703;p172"/>
          <p:cNvGraphicFramePr/>
          <p:nvPr/>
        </p:nvGraphicFramePr>
        <p:xfrm>
          <a:off x="431317" y="1017908"/>
          <a:ext cx="5287075" cy="27788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308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 (per matched kWh)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USD/kWh (cents)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 at 2025 avg FMP x k x K_pp (22-110kV)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~1,504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~6.0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 (C_dppa_dv)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 (P_cl)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Delivered cost before CfD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~8.1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4" name="Google Shape;1704;p172"/>
          <p:cNvSpPr txBox="1"/>
          <p:nvPr/>
        </p:nvSpPr>
        <p:spPr>
          <a:xfrm>
            <a:off x="5709486" y="1017895"/>
            <a:ext cx="3181200" cy="24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523 VND/kWh of fixed fees applies to every matched kWh, regardless of your strike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They are set by regulation, not negotiation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Compare ~2,027 VND delivered (pre-CfD) with your own TOU mix - for many factories that is already near or above average grid cost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05" name="Google Shape;1705;p17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06" name="Google Shape;1706;p17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7" name="Google Shape;1707;p17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8" name="Google Shape;1708;p17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9" name="Google Shape;1709;p17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0" name="Google Shape;1710;p17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1" name="Google Shape;1711;p17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2" name="Google Shape;1712;p17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3" name="Google Shape;1713;p172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Monthly Settlement Has Five Lines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14" name="Google Shape;1714;p17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17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0" name="Google Shape;1720;p17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1" name="Google Shape;1721;p173"/>
          <p:cNvSpPr txBox="1"/>
          <p:nvPr/>
        </p:nvSpPr>
        <p:spPr>
          <a:xfrm>
            <a:off x="4572000" y="1440675"/>
            <a:ext cx="45720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3: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CfD Mechanics: What Drives Your Quoted Price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2" name="Google Shape;1722;p173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7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4" name="Google Shape;1724;p173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7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31" name="Google Shape;1731;p17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32" name="Google Shape;1732;p17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3" name="Google Shape;1733;p17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4" name="Google Shape;1734;p17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5" name="Google Shape;1735;p17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6" name="Google Shape;1736;p17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7" name="Google Shape;1737;p17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38" name="Google Shape;1738;p174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CfD Is Two-Way: Certainty, Not Automatic Savings</a:t>
              </a:r>
              <a:endParaRPr sz="1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739" name="Google Shape;1739;p17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0" name="Google Shape;1740;p17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41" name="Google Shape;1741;p17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74"/>
          <p:cNvSpPr/>
          <p:nvPr/>
        </p:nvSpPr>
        <p:spPr>
          <a:xfrm>
            <a:off x="452050" y="1392175"/>
            <a:ext cx="4731600" cy="7773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12700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64575" tIns="73150" rIns="164575" bIns="7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CfD cash flow = (Strike - FMP) x Q_CfD</a:t>
            </a:r>
            <a:endParaRPr/>
          </a:p>
        </p:txBody>
      </p:sp>
      <p:graphicFrame>
        <p:nvGraphicFramePr>
          <p:cNvPr id="1744" name="Google Shape;1744;p174"/>
          <p:cNvGraphicFramePr/>
          <p:nvPr/>
        </p:nvGraphicFramePr>
        <p:xfrm>
          <a:off x="452045" y="2489455"/>
          <a:ext cx="4731600" cy="12618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02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condition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 pays whom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below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top up the generator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above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Generator pays you 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5" name="Google Shape;1745;p174"/>
          <p:cNvSpPr txBox="1"/>
          <p:nvPr/>
        </p:nvSpPr>
        <p:spPr>
          <a:xfrm>
            <a:off x="5276250" y="1392175"/>
            <a:ext cx="36918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Net effect: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renewable energy cost is locked near the strike (+ fees), whatever the market does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2025 reference: FMP averaged ~1,427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VND/kWh with strong hourly volatility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the CfD removes that volatility from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budget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expected average FMP would mean expected receipts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but no developer can finance that (Module 4)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0" name="Google Shape;1750;p175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51" name="Google Shape;1751;p175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52" name="Google Shape;1752;p175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175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175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175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175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175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8" name="Google Shape;1758;p175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Strike Escalation &amp; The Year 1 Reality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59" name="Google Shape;1759;p175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0" name="Google Shape;1760;p175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61" name="Google Shape;1761;p175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75"/>
          <p:cNvSpPr txBox="1"/>
          <p:nvPr/>
        </p:nvSpPr>
        <p:spPr>
          <a:xfrm>
            <a:off x="396013" y="1225275"/>
            <a:ext cx="40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Strike escalation (e.g., 4%/yr)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4" name="Google Shape;1764;p175"/>
          <p:cNvSpPr txBox="1"/>
          <p:nvPr/>
        </p:nvSpPr>
        <p:spPr>
          <a:xfrm>
            <a:off x="396013" y="1557005"/>
            <a:ext cx="40908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Escalating strikes improve the seller's and lender's lifetime economics...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...but do nothing for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Year 1 cost and compound against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later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Negotiate the escalation index as hard as the starting strike (fixed VND vs CPI vs USD-linked)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5" name="Google Shape;1765;p175"/>
          <p:cNvSpPr txBox="1"/>
          <p:nvPr/>
        </p:nvSpPr>
        <p:spPr>
          <a:xfrm>
            <a:off x="4793688" y="1225275"/>
            <a:ext cx="395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What Year 1 usually looks like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6" name="Google Shape;1766;p175"/>
          <p:cNvSpPr txBox="1"/>
          <p:nvPr/>
        </p:nvSpPr>
        <p:spPr>
          <a:xfrm>
            <a:off x="4793700" y="1557000"/>
            <a:ext cx="4090800" cy="18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most realistic structures, Year 1 DPPA cost is at or above BAU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Savings build as EVN tariffs escalate (~4%/yr) against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locked strike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Advice: E</a:t>
            </a:r>
            <a:r>
              <a:rPr lang="en" sz="13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valuate on 10-year and lifetime cumulative cost</a:t>
            </a: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not </a:t>
            </a:r>
            <a:r>
              <a:rPr lang="en" sz="13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Year 1 alone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7" name="Google Shape;1767;p175"/>
          <p:cNvSpPr/>
          <p:nvPr/>
        </p:nvSpPr>
        <p:spPr>
          <a:xfrm>
            <a:off x="395850" y="3609092"/>
            <a:ext cx="8352300" cy="7107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Internal 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Budget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uestion to Consider: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accept a modest Year 1 premium to cap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15~25 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year exposure?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2" name="Google Shape;1772;p176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73" name="Google Shape;1773;p17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74" name="Google Shape;1774;p17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5" name="Google Shape;1775;p17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6" name="Google Shape;1776;p17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7" name="Google Shape;1777;p17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8" name="Google Shape;1778;p17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9" name="Google Shape;1779;p17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80" name="Google Shape;1780;p17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Contract Volume VS Your Load Shape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81" name="Google Shape;1781;p17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2" name="Google Shape;1782;p17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83" name="Google Shape;1783;p17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65987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76"/>
          <p:cNvSpPr txBox="1"/>
          <p:nvPr/>
        </p:nvSpPr>
        <p:spPr>
          <a:xfrm>
            <a:off x="396525" y="1107850"/>
            <a:ext cx="791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Solar generat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ion peaks 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midday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but the 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factory runs its own shape. The overlap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hour by hour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is 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what matters most.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86" name="Google Shape;1786;p176"/>
          <p:cNvGraphicFramePr/>
          <p:nvPr/>
        </p:nvGraphicFramePr>
        <p:xfrm>
          <a:off x="400170" y="1716625"/>
          <a:ext cx="8425150" cy="18656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3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If you...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Then…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consequence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Over-contract </a:t>
                      </a:r>
                      <a:endParaRPr sz="12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(Q_c &gt; consumption)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caps at consumed volume - excess earns nothing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paid contract terms for volume you ca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n’t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settle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contract to hourly overlap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Every contracted kWh settles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Efficient</a:t>
                      </a:r>
                      <a:r>
                        <a:rPr lang="en" sz="125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this is</a:t>
                      </a: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the target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Under-contract </a:t>
                      </a:r>
                      <a:endParaRPr sz="12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(Q_c &lt; overlap)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 residual purchased from EVN at TOU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Less price certainty, smaller renewable claim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87" name="Google Shape;1787;p176"/>
          <p:cNvSpPr txBox="1"/>
          <p:nvPr/>
        </p:nvSpPr>
        <p:spPr>
          <a:xfrm>
            <a:off x="323025" y="3786200"/>
            <a:ext cx="85620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Ask every developer for an hourly (8760 hour) matching analysis against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meter data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 an annual percentage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Batteries can shift the overlap window but add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tariff must carry (see the case study)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2" name="Google Shape;1792;p177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3" name="Google Shape;1793;p177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4: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Developer Economics and the Three Gates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4" name="Google Shape;1794;p177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77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6" name="Google Shape;1796;p177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2" name="Google Shape;1802;p17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03" name="Google Shape;1803;p17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04" name="Google Shape;1804;p17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5" name="Google Shape;1805;p17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17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7" name="Google Shape;1807;p17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17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9" name="Google Shape;1809;p17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10" name="Google Shape;1810;p17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Developer’s Perspective on Economics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11" name="Google Shape;1811;p17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2" name="Google Shape;1812;p17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13" name="Google Shape;1813;p17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78"/>
          <p:cNvSpPr/>
          <p:nvPr/>
        </p:nvSpPr>
        <p:spPr>
          <a:xfrm>
            <a:off x="454275" y="1039125"/>
            <a:ext cx="5093700" cy="17517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9375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29555" dist="1699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Revenue</a:t>
            </a: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Q_meter x FMP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spot sales (volatile)</a:t>
            </a:r>
            <a:b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endParaRPr sz="1600"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8"/>
              </a:spcBef>
              <a:spcAft>
                <a:spcPts val="0"/>
              </a:spcAft>
              <a:buNone/>
            </a:pP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(Strike - FMP) x Q_CfD  	</a:t>
            </a:r>
            <a:endParaRPr sz="16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148"/>
              </a:spcBef>
              <a:spcAft>
                <a:spcPts val="0"/>
              </a:spcAft>
              <a:buNone/>
            </a:pP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CfD with you</a:t>
            </a:r>
            <a:r>
              <a:rPr lang="en" sz="1600" i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 factory </a:t>
            </a: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(stabiliser)</a:t>
            </a:r>
            <a:endParaRPr sz="1600"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6" name="Google Shape;1816;p178"/>
          <p:cNvSpPr txBox="1"/>
          <p:nvPr/>
        </p:nvSpPr>
        <p:spPr>
          <a:xfrm>
            <a:off x="5642025" y="1196161"/>
            <a:ext cx="3165900" cy="16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50" tIns="33775" rIns="67550" bIns="33775" anchor="t" anchorCtr="0">
            <a:sp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CfD converts volatile spot revenue into a near-fixed price on matched volume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strike IS the developer's bankable revenue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Everything the lender checks flows from it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17" name="Google Shape;1817;p178"/>
          <p:cNvGraphicFramePr/>
          <p:nvPr/>
        </p:nvGraphicFramePr>
        <p:xfrm>
          <a:off x="461982" y="2920461"/>
          <a:ext cx="5093750" cy="1988820"/>
        </p:xfrm>
        <a:graphic>
          <a:graphicData uri="http://schemas.openxmlformats.org/drawingml/2006/table">
            <a:tbl>
              <a:tblPr>
                <a:noFill/>
                <a:tableStyleId>{121033D3-121A-4ABF-A30B-B91F07BF1167}</a:tableStyleId>
              </a:tblPr>
              <a:tblGrid>
                <a:gridCol w="21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Capital Structure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70% Debt / 30% Equity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Term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~10 years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Interest Rate (VND)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~8.5% per year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Interest Rate (USD)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~5% per year (International)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Equity Target Return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12 - 15%+ IRR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 Incentives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years exempt + 9 years at half rate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Google Shape;1822;p179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23" name="Google Shape;1823;p179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4" name="Google Shape;1824;p179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5" name="Google Shape;1825;p179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6" name="Google Shape;1826;p179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7" name="Google Shape;1827;p179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8" name="Google Shape;1828;p179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9" name="Google Shape;1829;p179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0" name="Google Shape;1830;p179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Deal Must Pass Three Gates to Proceed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31" name="Google Shape;1831;p179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2" name="Google Shape;1832;p179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33" name="Google Shape;1833;p179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5" name="Google Shape;1835;p179"/>
          <p:cNvGraphicFramePr/>
          <p:nvPr/>
        </p:nvGraphicFramePr>
        <p:xfrm>
          <a:off x="454273" y="1352177"/>
          <a:ext cx="8358325" cy="158123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0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pressure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Buyer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Cumulative cost &lt;= BAU over 10 yr AND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Seller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Equity IRR &gt;= 12-15%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</a:t>
                      </a: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ender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Bank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 &gt;= ~1.20x every year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UP (hardest gate)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6" name="Google Shape;1836;p179"/>
          <p:cNvSpPr txBox="1"/>
          <p:nvPr/>
        </p:nvSpPr>
        <p:spPr>
          <a:xfrm>
            <a:off x="400125" y="3211875"/>
            <a:ext cx="83583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DSCR =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			,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computed for every year of the loan</a:t>
            </a:r>
            <a:b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 heavy year (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e.g., a battery replacement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sink the whole financing even if averages look fine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negotiation window is the strike range where all three gates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”; but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it can be empty (see case study)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7" name="Google Shape;1837;p179"/>
          <p:cNvSpPr/>
          <p:nvPr/>
        </p:nvSpPr>
        <p:spPr>
          <a:xfrm>
            <a:off x="454275" y="4308376"/>
            <a:ext cx="7913400" cy="4422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the developer's bankability floor does not mean a cheap deal</a:t>
            </a:r>
            <a:r>
              <a:rPr lang="en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endParaRPr sz="13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it means no project.</a:t>
            </a:r>
            <a:endParaRPr sz="13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8" name="Google Shape;1838;p179"/>
          <p:cNvSpPr txBox="1"/>
          <p:nvPr/>
        </p:nvSpPr>
        <p:spPr>
          <a:xfrm>
            <a:off x="400125" y="942563"/>
            <a:ext cx="555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THREE GATES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9" name="Google Shape;1839;p179"/>
          <p:cNvSpPr txBox="1"/>
          <p:nvPr/>
        </p:nvSpPr>
        <p:spPr>
          <a:xfrm>
            <a:off x="1517725" y="3344975"/>
            <a:ext cx="214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Debt Service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0" name="Google Shape;1840;p179"/>
          <p:cNvCxnSpPr/>
          <p:nvPr/>
        </p:nvCxnSpPr>
        <p:spPr>
          <a:xfrm>
            <a:off x="1517725" y="3344975"/>
            <a:ext cx="214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1" name="Google Shape;1841;p179"/>
          <p:cNvSpPr txBox="1"/>
          <p:nvPr/>
        </p:nvSpPr>
        <p:spPr>
          <a:xfrm>
            <a:off x="1517725" y="3125125"/>
            <a:ext cx="214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Cash available for Debt service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6" name="Google Shape;1846;p180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47" name="Google Shape;1847;p180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48" name="Google Shape;1848;p180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9" name="Google Shape;1849;p180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0" name="Google Shape;1850;p180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1" name="Google Shape;1851;p180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2" name="Google Shape;1852;p180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3" name="Google Shape;1853;p180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54" name="Google Shape;1854;p180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Lifecycle Items The Tariff Must Contain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55" name="Google Shape;1855;p180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6" name="Google Shape;1856;p180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57" name="Google Shape;1857;p180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9" name="Google Shape;1859;p180"/>
          <p:cNvGraphicFramePr/>
          <p:nvPr/>
        </p:nvGraphicFramePr>
        <p:xfrm>
          <a:off x="453115" y="1110455"/>
          <a:ext cx="8385775" cy="25720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64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Item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Typical assumption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Implication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PV degradation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~0.5%/yr output decline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Matched volume shrinks; lost kWh repurchased from EVN at TOU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Battery replacement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Large capex every 8-10 years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highly impact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DSCR in that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replacement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year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 holiday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yr exempt + 9 yr half rate (RE projects)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Improves developer economics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FX exposure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 strike vs USD capex/debt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USD-linked terms shift FX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risks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price it consciously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60" name="Google Shape;1860;p180"/>
          <p:cNvSpPr txBox="1"/>
          <p:nvPr/>
        </p:nvSpPr>
        <p:spPr>
          <a:xfrm>
            <a:off x="283125" y="3983065"/>
            <a:ext cx="83859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The above terms are key components of the tariff and are included even when they are absent from the term sheet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300"/>
              <a:buFont typeface="Montserrat"/>
              <a:buChar char="●"/>
            </a:pPr>
            <a:r>
              <a:rPr lang="en" sz="1300" i="0" u="none" strike="noStrike" cap="none">
                <a:latin typeface="Montserrat"/>
                <a:ea typeface="Montserrat"/>
                <a:cs typeface="Montserrat"/>
                <a:sym typeface="Montserrat"/>
              </a:rPr>
              <a:t>These rarely appear in headline term sheets, but each one moves the bankable strike floor and therefore your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5" name="Google Shape;1865;p181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6" name="Google Shape;1866;p181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5: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Case Studies 5 &amp; 6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7" name="Google Shape;1867;p181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81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9" name="Google Shape;1869;p181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5" name="Google Shape;1875;p18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76" name="Google Shape;1876;p18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7" name="Google Shape;1877;p18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8" name="Google Shape;1878;p18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9" name="Google Shape;1879;p18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0" name="Google Shape;1880;p18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1" name="Google Shape;1881;p18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2" name="Google Shape;1882;p18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83" name="Google Shape;1883;p182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Factory As Yesterday - Now Procuring Offsite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84" name="Google Shape;1884;p18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5" name="Google Shape;1885;p18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86" name="Google Shape;1886;p18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182"/>
          <p:cNvSpPr txBox="1"/>
          <p:nvPr/>
        </p:nvSpPr>
        <p:spPr>
          <a:xfrm>
            <a:off x="457950" y="1022675"/>
            <a:ext cx="82281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Yesterday</a:t>
            </a:r>
            <a:r>
              <a:rPr lang="en" sz="135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’s </a:t>
            </a: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On-Site </a:t>
            </a:r>
            <a:r>
              <a:rPr lang="en" sz="135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ession: Cases 1-4 explored rooftop solar + BESS behind the meter. </a:t>
            </a:r>
            <a:endParaRPr sz="1350" i="1" u="none" strike="noStrike" cap="non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Today:</a:t>
            </a:r>
            <a:r>
              <a:rPr lang="en" sz="135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he same southern</a:t>
            </a:r>
            <a:r>
              <a:rPr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Vietnam manufacturing facility (22-110kV) signs a </a:t>
            </a:r>
            <a:r>
              <a:rPr lang="en" sz="1350" b="1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virtual DPPA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with a dedicated solar + storage project.</a:t>
            </a:r>
            <a:endParaRPr sz="1350" i="0" u="none" strike="noStrike" cap="non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4325" algn="l" rtl="0"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lang="en" sz="130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Case 5: Solar + Large BESS</a:t>
            </a:r>
            <a:endParaRPr sz="1300" b="1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lang="en" sz="130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Case 6: Solar + Minimum BESS</a:t>
            </a:r>
            <a:endParaRPr sz="135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89" name="Google Shape;1889;p182"/>
          <p:cNvGraphicFramePr/>
          <p:nvPr/>
        </p:nvGraphicFramePr>
        <p:xfrm>
          <a:off x="455701" y="2568688"/>
          <a:ext cx="8012900" cy="216369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64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Deal frame (both cases)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type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(grid CfD) under Decree 57/2025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price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2,000 VND/kWh, escalating 4%/yr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/ analysis period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 years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Financing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70% debt, 8.5% VND, 10-yr term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Method</a:t>
                      </a:r>
                      <a:endParaRPr sz="1300" u="none" strike="noStrike" cap="none">
                        <a:solidFill>
                          <a:srgbClr val="222B3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 8760-hour settlement simulation (ND57 formulas, hourly FMP/CFMP series) + 25-year project cash-flow model with the three gates.</a:t>
                      </a:r>
                      <a:endParaRPr sz="1300" u="none" strike="noStrike" cap="none">
                        <a:solidFill>
                          <a:srgbClr val="222B3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" name="Google Shape;1894;p183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95" name="Google Shape;1895;p183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96" name="Google Shape;1896;p183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7" name="Google Shape;1897;p183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8" name="Google Shape;1898;p183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9" name="Google Shape;1899;p183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0" name="Google Shape;1900;p183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1" name="Google Shape;1901;p183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2" name="Google Shape;1902;p183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3" name="Google Shape;1903;p183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04" name="Google Shape;1904;p183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5" name="Google Shape;1905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6" name="Google Shape;1906;p183"/>
          <p:cNvGraphicFramePr/>
          <p:nvPr/>
        </p:nvGraphicFramePr>
        <p:xfrm>
          <a:off x="463533" y="1174100"/>
          <a:ext cx="4926850" cy="249345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77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$1.52M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1.14x  (replacement year)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Year 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-8.7%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- 10-yr cumulative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-9.3%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07" name="Google Shape;1907;p183"/>
          <p:cNvSpPr txBox="1"/>
          <p:nvPr/>
        </p:nvSpPr>
        <p:spPr>
          <a:xfrm>
            <a:off x="5488338" y="1340501"/>
            <a:ext cx="3437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strike 2,000 the buyer pays ~9% MORE than BAU on every horizon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oversized battery adds a ~$1.2M replacement around year 11 that the tariff must recover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 so, lender comfort is thin (min DSCR 1.14x &lt; 1.20x)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8" name="Google Shape;1908;p183"/>
          <p:cNvSpPr/>
          <p:nvPr/>
        </p:nvSpPr>
        <p:spPr>
          <a:xfrm>
            <a:off x="463525" y="3965638"/>
            <a:ext cx="8224200" cy="650700"/>
          </a:xfrm>
          <a:prstGeom prst="roundRect">
            <a:avLst>
              <a:gd name="adj" fmla="val 16667"/>
            </a:avLst>
          </a:prstGeom>
          <a:solidFill>
            <a:srgbClr val="B33A3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1: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oversized battery cannot carry its own replacement cost through the tariff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everyone loses.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9" name="Google Shape;1909;p183"/>
          <p:cNvSpPr txBox="1"/>
          <p:nvPr/>
        </p:nvSpPr>
        <p:spPr>
          <a:xfrm>
            <a:off x="374425" y="857152"/>
            <a:ext cx="6228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BATTERY EATS THE DEAL</a:t>
            </a:r>
            <a:endParaRPr sz="1200" b="1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0" name="Google Shape;1910;p183"/>
          <p:cNvSpPr txBox="1"/>
          <p:nvPr/>
        </p:nvSpPr>
        <p:spPr>
          <a:xfrm>
            <a:off x="672542" y="205988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Module 5 - Case Study</a:t>
            </a:r>
            <a:endParaRPr sz="1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5: Solar + Large BESS</a:t>
            </a:r>
            <a:endParaRPr sz="2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5" name="Google Shape;1915;p18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7423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2498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7" name="Google Shape;1917;p184"/>
          <p:cNvGraphicFramePr/>
          <p:nvPr/>
        </p:nvGraphicFramePr>
        <p:xfrm>
          <a:off x="444696" y="1324825"/>
          <a:ext cx="4847825" cy="20756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52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18.2%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$2.54M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1.50x  (comfortably &gt; 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4.7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all horizons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18" name="Google Shape;1918;p184"/>
          <p:cNvSpPr txBox="1"/>
          <p:nvPr/>
        </p:nvSpPr>
        <p:spPr>
          <a:xfrm>
            <a:off x="5341875" y="1414299"/>
            <a:ext cx="3464100" cy="22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 sizing: seller and lender are now comfortable - returns strong, DSCR 1.50x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at strike 2,000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VND/kWh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buyer is ~14% worse than BAU: the seller's headroom IS the negotiation space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Therefore,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sweep the strike down and see where the gates cross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9" name="Google Shape;1919;p184"/>
          <p:cNvSpPr/>
          <p:nvPr/>
        </p:nvSpPr>
        <p:spPr>
          <a:xfrm>
            <a:off x="444700" y="3920100"/>
            <a:ext cx="8361300" cy="691200"/>
          </a:xfrm>
          <a:prstGeom prst="roundRect">
            <a:avLst>
              <a:gd name="adj" fmla="val 16667"/>
            </a:avLst>
          </a:prstGeom>
          <a:solidFill>
            <a:srgbClr val="01A86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2: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ight-sized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BESS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makes the project financeable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hen, the entire negotiation is the strike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0" name="Google Shape;1920;p184"/>
          <p:cNvSpPr txBox="1"/>
          <p:nvPr/>
        </p:nvSpPr>
        <p:spPr>
          <a:xfrm>
            <a:off x="414251" y="928899"/>
            <a:ext cx="717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1A86F"/>
                </a:solidFill>
                <a:latin typeface="Montserrat"/>
                <a:ea typeface="Montserrat"/>
                <a:cs typeface="Montserrat"/>
                <a:sym typeface="Montserrat"/>
              </a:rPr>
              <a:t>CHALLENGING, YET BANKABLE</a:t>
            </a:r>
            <a:endParaRPr sz="1200" b="1">
              <a:solidFill>
                <a:srgbClr val="01A8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1" name="Google Shape;1921;p18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22" name="Google Shape;1922;p18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23" name="Google Shape;1923;p18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4" name="Google Shape;1924;p18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5" name="Google Shape;1925;p18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6" name="Google Shape;1926;p18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18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18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18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0" name="Google Shape;1930;p18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1" name="Google Shape;1931;p184"/>
          <p:cNvSpPr txBox="1"/>
          <p:nvPr/>
        </p:nvSpPr>
        <p:spPr>
          <a:xfrm>
            <a:off x="672542" y="205988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Module 5 - Case Study</a:t>
            </a:r>
            <a:br>
              <a:rPr lang="en"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6: Solar + Minimum BESS</a:t>
            </a:r>
            <a:endParaRPr sz="2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6" name="Google Shape;1936;p185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37" name="Google Shape;1937;p185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38" name="Google Shape;1938;p185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9" name="Google Shape;1939;p185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0" name="Google Shape;1940;p185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1" name="Google Shape;1941;p185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2" name="Google Shape;1942;p185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3" name="Google Shape;1943;p185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4" name="Google Shape;1944;p185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br>
                <a:rPr lang="en" sz="21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</a:b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Sweeping The Strike On Case Study 6: Empty Window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45" name="Google Shape;1945;p185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6" name="Google Shape;1946;p185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47" name="Google Shape;1947;p185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85"/>
          <p:cNvSpPr txBox="1"/>
          <p:nvPr/>
        </p:nvSpPr>
        <p:spPr>
          <a:xfrm>
            <a:off x="374425" y="952825"/>
            <a:ext cx="85389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56 scenarios anal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yzed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12 strike prices ranging from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1,200-2,200 VND/kWh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and 4 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contract volume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 ranging from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70-100%. </a:t>
            </a:r>
            <a:endParaRPr sz="130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3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Gate results:</a:t>
            </a:r>
            <a:endParaRPr b="1">
              <a:solidFill>
                <a:srgbClr val="E77A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950" name="Google Shape;1950;p185"/>
          <p:cNvGraphicFramePr/>
          <p:nvPr/>
        </p:nvGraphicFramePr>
        <p:xfrm>
          <a:off x="454270" y="1665232"/>
          <a:ext cx="8459025" cy="176584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81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 </a:t>
                      </a: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(VND/kWh)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Lender gate (&gt;=1.20x)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Balanced?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~2,000 (offer)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1.50x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~1,400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1.19-1.5x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~1,300 x 70% vol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+0.5%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17.9%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1.14x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+2.9%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&lt;1.20x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1" name="Google Shape;1951;p185"/>
          <p:cNvSpPr txBox="1"/>
          <p:nvPr/>
        </p:nvSpPr>
        <p:spPr>
          <a:xfrm>
            <a:off x="374425" y="3513200"/>
            <a:ext cx="8356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buyer turns positive just as the lender drops out: </a:t>
            </a:r>
            <a:r>
              <a:rPr lang="en" sz="1350" b="1" u="sng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13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 of 56 scenarios pass all three gates at current market prices and fee levels.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2" name="Google Shape;1952;p185"/>
          <p:cNvSpPr/>
          <p:nvPr/>
        </p:nvSpPr>
        <p:spPr>
          <a:xfrm>
            <a:off x="454275" y="4120225"/>
            <a:ext cx="8418000" cy="657000"/>
          </a:xfrm>
          <a:prstGeom prst="roundRect">
            <a:avLst>
              <a:gd name="adj" fmla="val 16667"/>
            </a:avLst>
          </a:prstGeom>
          <a:solidFill>
            <a:srgbClr val="E77A1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Pricing alone cannot balance this deal</a:t>
            </a:r>
            <a:r>
              <a:rPr lang="en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BUT there</a:t>
            </a: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“</a:t>
            </a: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levers” that can: lower leverage, debt sculpting, USD-denominated debt (~5%), fee relief, longer tenor.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7" name="Google Shape;1957;p186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58" name="Google Shape;1958;p18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9" name="Google Shape;1959;p18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0" name="Google Shape;1960;p18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1" name="Google Shape;1961;p18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2" name="Google Shape;1962;p18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3" name="Google Shape;1963;p18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4" name="Google Shape;1964;p18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5" name="Google Shape;1965;p18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br>
                <a:rPr lang="en" sz="21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</a:b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This Means And Expectations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66" name="Google Shape;1966;p18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7" name="Google Shape;1967;p18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68" name="Google Shape;1968;p18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86"/>
          <p:cNvSpPr txBox="1"/>
          <p:nvPr/>
        </p:nvSpPr>
        <p:spPr>
          <a:xfrm>
            <a:off x="466200" y="1316375"/>
            <a:ext cx="8069700" cy="30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Expect low single-digit lifetime savings at best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 product you are buying i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 10-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year price certaint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y, meet up to 100% of annual electricity demand with contracted renewable generation, and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utilize 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credible renewable claims, but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at a price premium.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Expect Year 1 to cost more than BAU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 the internal approval around cumulative horizons.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Strike offers near 2,000 VND/kWh leave the buyer deeply negative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ealistic buyer-positive territory starts near ~1,300 VND, which today fails the lender.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Deal feasibility is decided by financing structure as much as by price.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developers HOW their project is financed, not just what they charge.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5" name="Google Shape;1975;p187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6" name="Google Shape;1976;p187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6: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Key Decision Points and Wrap-up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7" name="Google Shape;1977;p187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8" name="Google Shape;1978;p187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9" name="Google Shape;1979;p187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1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5" name="Google Shape;1985;p18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86" name="Google Shape;1986;p18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87" name="Google Shape;1987;p18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8" name="Google Shape;1988;p18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9" name="Google Shape;1989;p18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0" name="Google Shape;1990;p18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1" name="Google Shape;1991;p18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2" name="Google Shape;1992;p18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3" name="Google Shape;1993;p18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6 - Decision Points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Five Questions That Change The Term Sheet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94" name="Google Shape;1994;p18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5" name="Google Shape;1995;p18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96" name="Google Shape;1996;p18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8" name="Google Shape;1998;p188"/>
          <p:cNvGraphicFramePr/>
          <p:nvPr/>
        </p:nvGraphicFramePr>
        <p:xfrm>
          <a:off x="454270" y="1280800"/>
          <a:ext cx="8216225" cy="27488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40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What to check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 &amp; escalation/indexation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Fixed VND vs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escalating/deescalating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vs USD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linked; model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these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BAU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 volume vs load shape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8760 hourly matching vs meter data; CfD caps at consumed volume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&amp; termination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wants 15-25 yr; match to your lease / order book; exit terms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 eligibility &amp; K_pp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&gt;=22kV only today; which K_pp applies decides your loss adjustment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 allocation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volatility, curtailment, negative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months, change-in-law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9" name="Google Shape;1999;p188"/>
          <p:cNvSpPr txBox="1"/>
          <p:nvPr/>
        </p:nvSpPr>
        <p:spPr>
          <a:xfrm>
            <a:off x="387798" y="4236473"/>
            <a:ext cx="6478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Items 1-4 are quantifiable before negotiation</a:t>
            </a:r>
            <a:r>
              <a:rPr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200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run them against load data first.</a:t>
            </a:r>
            <a:endParaRPr sz="1200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3118</Words>
  <Application>Microsoft Office PowerPoint</Application>
  <PresentationFormat>On-screen Show (16:9)</PresentationFormat>
  <Paragraphs>479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Be Vietnam Pro SemiBold</vt:lpstr>
      <vt:lpstr>Quattrocento Sans</vt:lpstr>
      <vt:lpstr>Arial</vt:lpstr>
      <vt:lpstr>Roboto</vt:lpstr>
      <vt:lpstr>Montserrat ExtraBold</vt:lpstr>
      <vt:lpstr>Montserrat</vt:lpstr>
      <vt:lpstr>Consolas</vt:lpstr>
      <vt:lpstr>Geo</vt:lpstr>
      <vt:lpstr>Calibri</vt:lpstr>
      <vt:lpstr>Raleway</vt:lpstr>
      <vt:lpstr>Be Vietnam Pro</vt:lpstr>
      <vt:lpstr>Lato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3</cp:revision>
  <dcterms:modified xsi:type="dcterms:W3CDTF">2026-06-25T14:23:51Z</dcterms:modified>
</cp:coreProperties>
</file>