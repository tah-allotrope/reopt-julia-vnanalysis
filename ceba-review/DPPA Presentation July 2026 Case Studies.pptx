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15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omments/comment7.xml" ContentType="application/vnd.openxmlformats-officedocument.presentationml.comments+xml"/>
  <Override PartName="/ppt/notesSlides/notesSlide25.xml" ContentType="application/vnd.openxmlformats-officedocument.presentationml.notesSlide+xml"/>
  <Override PartName="/ppt/comments/comment8.xml" ContentType="application/vnd.openxmlformats-officedocument.presentationml.comment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61" r:id="rId1"/>
    <p:sldMasterId id="2147483767" r:id="rId2"/>
  </p:sldMasterIdLst>
  <p:notesMasterIdLst>
    <p:notesMasterId r:id="rId31"/>
  </p:notesMasterIdLst>
  <p:sldIdLst>
    <p:sldId id="28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</p:sldIdLst>
  <p:sldSz cx="9144000" cy="5143500" type="screen16x9"/>
  <p:notesSz cx="6858000" cy="9144000"/>
  <p:embeddedFontLst>
    <p:embeddedFont>
      <p:font typeface="Be Vietnam Pro" panose="020B0604020202020204" charset="0"/>
      <p:regular r:id="rId32"/>
      <p:bold r:id="rId33"/>
      <p:italic r:id="rId34"/>
      <p:boldItalic r:id="rId35"/>
    </p:embeddedFont>
    <p:embeddedFont>
      <p:font typeface="Be Vietnam Pro SemiBold" panose="020B0604020202020204" charset="0"/>
      <p:regular r:id="rId36"/>
      <p:bold r:id="rId37"/>
      <p:italic r:id="rId38"/>
      <p:boldItalic r:id="rId39"/>
    </p:embeddedFon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Geo" panose="020B0604020202020204"/>
      <p:regular r:id="rId44"/>
      <p:italic r:id="rId45"/>
    </p:embeddedFont>
    <p:embeddedFont>
      <p:font typeface="Lato" panose="020F0502020204030203" pitchFamily="34" charset="0"/>
      <p:regular r:id="rId46"/>
      <p:bold r:id="rId47"/>
      <p:italic r:id="rId48"/>
      <p:boldItalic r:id="rId49"/>
    </p:embeddedFont>
    <p:embeddedFont>
      <p:font typeface="Montserrat" panose="00000500000000000000" pitchFamily="2" charset="0"/>
      <p:regular r:id="rId50"/>
      <p:bold r:id="rId51"/>
      <p:italic r:id="rId52"/>
      <p:boldItalic r:id="rId53"/>
    </p:embeddedFont>
    <p:embeddedFont>
      <p:font typeface="Montserrat ExtraBold" panose="00000900000000000000" pitchFamily="2" charset="0"/>
      <p:bold r:id="rId54"/>
      <p:boldItalic r:id="rId55"/>
    </p:embeddedFont>
    <p:embeddedFont>
      <p:font typeface="Quattrocento Sans" panose="020B0502050000020003" pitchFamily="34" charset="0"/>
      <p:regular r:id="rId56"/>
      <p:bold r:id="rId57"/>
      <p:italic r:id="rId58"/>
      <p:boldItalic r:id="rId59"/>
    </p:embeddedFont>
    <p:embeddedFont>
      <p:font typeface="Raleway" pitchFamily="2" charset="0"/>
      <p:regular r:id="rId60"/>
      <p:bold r:id="rId61"/>
    </p:embeddedFont>
    <p:embeddedFont>
      <p:font typeface="Roboto" panose="02000000000000000000" pitchFamily="2" charset="0"/>
      <p:regular r:id="rId62"/>
      <p:bold r:id="rId63"/>
      <p:italic r:id="rId64"/>
      <p:bold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6">
          <p15:clr>
            <a:srgbClr val="747775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rang Tran" initials="" lastIdx="4" clrIdx="0"/>
  <p:cmAuthor id="1" name="Hong Anh Le" initials="" lastIdx="12" clrIdx="1"/>
  <p:cmAuthor id="2" name="Lauren McGinley" initials="" lastIdx="10" clrIdx="2"/>
  <p:cmAuthor id="3" name="Cong Nguyen" initials="" lastIdx="4" clrIdx="3"/>
  <p:cmAuthor id="4" name="Aiden Roake" initials="" lastIdx="2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1033D3-121A-4ABF-A30B-B91F07BF1167}">
  <a:tblStyle styleId="{121033D3-121A-4ABF-A30B-B91F07BF11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E8BD2AF-5D0D-4EDC-AE96-A30A7DA1AF2F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1742F6B-ED47-481C-AEBF-CD6BD0922621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44"/>
      </p:cViewPr>
      <p:guideLst>
        <p:guide pos="286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8.fntdata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font" Target="fonts/font19.fntdata"/><Relationship Id="rId55" Type="http://schemas.openxmlformats.org/officeDocument/2006/relationships/font" Target="fonts/font24.fntdata"/><Relationship Id="rId63" Type="http://schemas.openxmlformats.org/officeDocument/2006/relationships/font" Target="fonts/font32.fntdata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openxmlformats.org/officeDocument/2006/relationships/font" Target="fonts/font22.fntdata"/><Relationship Id="rId58" Type="http://schemas.openxmlformats.org/officeDocument/2006/relationships/font" Target="fonts/font27.fntdata"/><Relationship Id="rId66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49" Type="http://schemas.openxmlformats.org/officeDocument/2006/relationships/font" Target="fonts/font18.fntdata"/><Relationship Id="rId57" Type="http://schemas.openxmlformats.org/officeDocument/2006/relationships/font" Target="fonts/font26.fntdata"/><Relationship Id="rId61" Type="http://schemas.openxmlformats.org/officeDocument/2006/relationships/font" Target="fonts/font30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openxmlformats.org/officeDocument/2006/relationships/font" Target="fonts/font21.fntdata"/><Relationship Id="rId60" Type="http://schemas.openxmlformats.org/officeDocument/2006/relationships/font" Target="fonts/font29.fntdata"/><Relationship Id="rId65" Type="http://schemas.openxmlformats.org/officeDocument/2006/relationships/font" Target="fonts/font3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56" Type="http://schemas.openxmlformats.org/officeDocument/2006/relationships/font" Target="fonts/font25.fntdata"/><Relationship Id="rId64" Type="http://schemas.openxmlformats.org/officeDocument/2006/relationships/font" Target="fonts/font33.fntdata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20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59" Type="http://schemas.openxmlformats.org/officeDocument/2006/relationships/font" Target="fonts/font28.fntdata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font" Target="fonts/font10.fntdata"/><Relationship Id="rId54" Type="http://schemas.openxmlformats.org/officeDocument/2006/relationships/font" Target="fonts/font23.fntdata"/><Relationship Id="rId62" Type="http://schemas.openxmlformats.org/officeDocument/2006/relationships/font" Target="fonts/font31.fntdata"/><Relationship Id="rId7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6-12T22:38:28.639" idx="1">
    <p:pos x="6000" y="0"/>
    <p:text>@chn@allotropepartners.com @hal@allotropevc.com @ttt@allotropevc.com there is still a lot of terminology that will be advanced for a supplier that's new to this, so please let's confirm how we're discussing these terms within the session (even if its a note that "Please note session glossary on your table" and "Glossary available in the session appendix" or something</p:text>
  </p:cm>
  <p:cm authorId="1" dt="2026-06-15T01:22:13.332" idx="3">
    <p:pos x="6000" y="100"/>
    <p:text>@ttt@allotropevc.com Hi Trang, can you help adding some of these terminologies to glossary list
_Assigned to Trang Tran_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19:34:05.781" idx="4">
    <p:pos x="6000" y="0"/>
    <p:text>@ttt@allotropevc.com Hi Trang probably need to fix these transition slides (same pics + old logo)
_Reassigned to Trang Tran_</p:text>
  </p:cm>
  <p:cm authorId="2" dt="2026-06-15T19:34:05.781" idx="2">
    <p:pos x="6000" y="0"/>
    <p:text>updated the logos BTW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01:14:22.382" idx="5">
    <p:pos x="426" y="129"/>
    <p:text>Should be addressed in speech, "you" here refers to Your factory, the RE generator have a different payment model</p:text>
  </p:cm>
  <p:cm authorId="3" dt="2026-06-15T09:01:06.058" idx="1">
    <p:pos x="426" y="129"/>
    <p:text>Edited "your factory"</p:text>
  </p:cm>
  <p:cm authorId="2" dt="2026-06-15T19:38:44.998" idx="3">
    <p:pos x="426" y="129"/>
    <p:text>@chn@allotropepartners.com @hal@allotropevc.com @ttt@allotropevc.com 
can you better define the three relationships please. Is you the generator, EVN/the grid, and your factory. Maybe number, maybe show boxes?</p:text>
  </p:cm>
  <p:cm authorId="2" dt="2026-06-15T19:38:44.998" idx="4">
    <p:pos x="426" y="129"/>
    <p:text>What are the three relationships though: your factory, EVN, and the RE generator? Visually you have 4 boxes (VWEM, RE generator, EVN, Your facotry) and the title says 3 relationships, so want to make it more clear. Is relationships the right word?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15T09:48:00.162" idx="6">
    <p:pos x="6000" y="0"/>
    <p:text>attempted to revise and note but might make it more confusing</p:text>
  </p:cm>
  <p:cm authorId="3" dt="2026-06-15T13:41:21.590" idx="2">
    <p:pos x="6000" y="100"/>
    <p:text>This slide aims to simplify and only describe the financial settlement, without including the electricity flow. Many of our partners' slides have already described this in detail</p:text>
  </p:cm>
  <p:cm authorId="1" dt="2026-06-15T19:40:49.152" idx="7">
    <p:pos x="6000" y="100"/>
    <p:text>@chn@allotropepartners.com Hi a Cong I tried to make it a bit clearer for audience please kindly check, though if it'll confuse them more please skip
_Reassigned to Cong Nguyen_</p:text>
  </p:cm>
  <p:cm authorId="2" dt="2026-06-15T19:40:49.152" idx="5">
    <p:pos x="6000" y="100"/>
    <p:text>I do think this slide helps and repetition on info (like electricity flows) can be helpful for new folks. Like i said on the previous slide, I do want to make sure "relationships" makes more sense b/c nothing is numbered and there are 4 boxes.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6-13T02:20:57.254" idx="6">
    <p:pos x="3323" y="876"/>
    <p:text>How are we explaining what FMP is?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6-06-15T19:49:13.746" idx="3">
    <p:pos x="3019" y="980"/>
    <p:text>This assessment is based on my calculations; I tried to formulate an expectation, but it seems a bit subjective.</p:text>
  </p:cm>
  <p:cm authorId="2" dt="2026-06-15T19:49:13.746" idx="7">
    <p:pos x="3019" y="980"/>
    <p:text>Added in "advice but adjust as you see fit.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6-06-15T13:59:49.331" idx="8">
    <p:pos x="3364" y="890"/>
    <p:text>This is the type of phrasing I want to make sure is less jargon and clear to everyone please @hal@allotropevc.com @ttt@allotropevc.com
1 total reaction
Cong Nguyen reacted with 👍 at 2026-06-15 13:59 PM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6-06-15T14:04:23.179" idx="4">
    <p:pos x="235" y="600"/>
    <p:text>Yes, scenario sweep with 12 strike prices and 4 contract volumes</p:text>
  </p:cm>
  <p:cm authorId="2" dt="2026-06-15T20:00:38.955" idx="9">
    <p:pos x="235" y="600"/>
    <p:text>56 Scenarios Analyzed: ?</p:text>
  </p:cm>
  <p:cm authorId="2" dt="2026-06-15T20:00:38.955" idx="10">
    <p:pos x="235" y="600"/>
    <p:text>reworded.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3eb446c4a34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3eb446c4a34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3eb66eb2d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3eb66eb2d3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0320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3ebc19243cb_0_1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5" name="Google Shape;1505;g3ebc19243cb_0_1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3ec0c65eb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3ec0c65eb5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0320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3ebc19243cb_0_1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2" name="Google Shape;1542;g3ebc19243cb_0_1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3ebc19243cb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3ebc19243cb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0320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3ec056fa404_3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3ec056fa404_3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0320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3ebc19243cb_0_6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3ebc19243cb_0_6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0320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3ec8d3339a8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8" name="Google Shape;1638;g3ec8d3339a8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g3ebc19243cb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8" name="Google Shape;1658;g3ebc19243cb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3ebc19243cb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3ebc19243cb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g3ebc19243cb_0_7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8" name="Google Shape;1698;g3ebc19243cb_0_7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g3ebc19243cb_0_10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8" name="Google Shape;1718;g3ebc19243cb_0_10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ebc19243cb_0_6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8" name="Google Shape;1728;g3ebc19243cb_0_6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3ebc19243cb_0_7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8" name="Google Shape;1748;g3ebc19243cb_0_7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g3ebc19243cb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0" name="Google Shape;1770;g3ebc19243cb_0_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3ebc19243cb_0_1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g3ebc19243cb_0_1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3ebc19243cb_0_7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0" name="Google Shape;1800;g3ebc19243cb_0_7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g3ebc19243cb_0_7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0" name="Google Shape;1820;g3ebc19243cb_0_7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3ebc19243cb_0_8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3ebc19243cb_0_8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3ebc19243cb_0_19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3" name="Google Shape;1863;g3ebc19243cb_0_19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3ebc19243cb_0_8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g3ebc19243cb_0_8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g3ebc19243cb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2" name="Google Shape;1892;g3ebc19243cb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3ebc19243cb_0_17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3ebc19243cb_0_17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g3ebc19243cb_0_1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4" name="Google Shape;1934;g3ebc19243cb_0_1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g3ebc19243cb_0_17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5" name="Google Shape;1955;g3ebc19243cb_0_17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g3ebc19243cb_0_2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3" name="Google Shape;1973;g3ebc19243cb_0_2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g3ebc19243cb_0_18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3" name="Google Shape;1983;g3ebc19243cb_0_18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ustom Layout">
  <p:cSld name="14_Custom Layou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>
            <a:spLocks noGrp="1"/>
          </p:cNvSpPr>
          <p:nvPr>
            <p:ph type="pic" idx="2"/>
          </p:nvPr>
        </p:nvSpPr>
        <p:spPr>
          <a:xfrm>
            <a:off x="5900738" y="0"/>
            <a:ext cx="32433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>
            <a:spLocks noGrp="1"/>
          </p:cNvSpPr>
          <p:nvPr>
            <p:ph type="pic" idx="2"/>
          </p:nvPr>
        </p:nvSpPr>
        <p:spPr>
          <a:xfrm>
            <a:off x="4100165" y="570248"/>
            <a:ext cx="4237200" cy="2001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8467986" y="172594"/>
            <a:ext cx="561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768096" y="438912"/>
            <a:ext cx="7290000" cy="11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768096" y="1714500"/>
            <a:ext cx="7290000" cy="30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dt" idx="10"/>
          </p:nvPr>
        </p:nvSpPr>
        <p:spPr>
          <a:xfrm>
            <a:off x="768097" y="4853028"/>
            <a:ext cx="16155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ftr" idx="11"/>
          </p:nvPr>
        </p:nvSpPr>
        <p:spPr>
          <a:xfrm>
            <a:off x="3632199" y="4853028"/>
            <a:ext cx="4426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sldNum" idx="12"/>
          </p:nvPr>
        </p:nvSpPr>
        <p:spPr>
          <a:xfrm>
            <a:off x="8128000" y="4853028"/>
            <a:ext cx="7305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lnSpcReduction="10000"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">
  <p:cSld name="Cover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8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8"/>
          <p:cNvSpPr txBox="1">
            <a:spLocks noGrp="1"/>
          </p:cNvSpPr>
          <p:nvPr>
            <p:ph type="ctrTitle"/>
          </p:nvPr>
        </p:nvSpPr>
        <p:spPr>
          <a:xfrm>
            <a:off x="395536" y="2139704"/>
            <a:ext cx="7772400" cy="1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eo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ubTitle" idx="1"/>
          </p:nvPr>
        </p:nvSpPr>
        <p:spPr>
          <a:xfrm>
            <a:off x="395536" y="3676253"/>
            <a:ext cx="77769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800"/>
              <a:buNone/>
              <a:defRPr>
                <a:solidFill>
                  <a:srgbClr val="888D9E"/>
                </a:solidFill>
              </a:defRPr>
            </a:lvl2pPr>
            <a:lvl3pPr lvl="2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400"/>
              <a:buNone/>
              <a:defRPr>
                <a:solidFill>
                  <a:srgbClr val="888D9E"/>
                </a:solidFill>
              </a:defRPr>
            </a:lvl3pPr>
            <a:lvl4pPr lvl="3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4pPr>
            <a:lvl5pPr lvl="4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5pPr>
            <a:lvl6pPr lvl="5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6pPr>
            <a:lvl7pPr lvl="6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7pPr>
            <a:lvl8pPr lvl="7" algn="ctr">
              <a:spcBef>
                <a:spcPts val="1200"/>
              </a:spcBef>
              <a:spcAft>
                <a:spcPts val="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8pPr>
            <a:lvl9pPr lvl="8" algn="ctr">
              <a:spcBef>
                <a:spcPts val="1200"/>
              </a:spcBef>
              <a:spcAft>
                <a:spcPts val="1200"/>
              </a:spcAft>
              <a:buClr>
                <a:srgbClr val="888D9E"/>
              </a:buClr>
              <a:buSzPts val="2000"/>
              <a:buNone/>
              <a:defRPr>
                <a:solidFill>
                  <a:srgbClr val="888D9E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2"/>
          </p:nvPr>
        </p:nvSpPr>
        <p:spPr>
          <a:xfrm>
            <a:off x="395536" y="396652"/>
            <a:ext cx="28083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69" name="Google Shape;69;p18" descr="A picture containing graphical user interfac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6475" y="249829"/>
            <a:ext cx="2827622" cy="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 Slide">
  <p:cSld name="1_Blank Slid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 descr="E:\SP\SP Group_Templates\ImageSlide_PP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715766"/>
            <a:ext cx="9144000" cy="242773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 txBox="1">
            <a:spLocks noGrp="1"/>
          </p:cNvSpPr>
          <p:nvPr>
            <p:ph type="body" idx="1"/>
          </p:nvPr>
        </p:nvSpPr>
        <p:spPr>
          <a:xfrm>
            <a:off x="396305" y="1059583"/>
            <a:ext cx="8352300" cy="3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2"/>
          </p:nvPr>
        </p:nvSpPr>
        <p:spPr>
          <a:xfrm>
            <a:off x="137220" y="128811"/>
            <a:ext cx="4146900" cy="7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  <a:latin typeface="Geo"/>
                <a:ea typeface="Geo"/>
                <a:cs typeface="Geo"/>
                <a:sym typeface="Geo"/>
              </a:defRPr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latin typeface="Geo"/>
                <a:ea typeface="Geo"/>
                <a:cs typeface="Geo"/>
                <a:sym typeface="Geo"/>
              </a:defRPr>
            </a:lvl2pPr>
            <a:lvl3pPr marL="1371600" lvl="2" indent="-3238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latin typeface="Geo"/>
                <a:ea typeface="Geo"/>
                <a:cs typeface="Geo"/>
                <a:sym typeface="Geo"/>
              </a:defRPr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Geo"/>
                <a:ea typeface="Geo"/>
                <a:cs typeface="Geo"/>
                <a:sym typeface="Geo"/>
              </a:defRPr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latin typeface="Geo"/>
                <a:ea typeface="Geo"/>
                <a:cs typeface="Geo"/>
                <a:sym typeface="Geo"/>
              </a:defRPr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/>
          <p:nvPr/>
        </p:nvSpPr>
        <p:spPr>
          <a:xfrm>
            <a:off x="8676456" y="4712245"/>
            <a:ext cx="351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2592" y="170685"/>
            <a:ext cx="1506986" cy="491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">
  <p:cSld name="Divider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1" cy="51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0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33543" y="110775"/>
            <a:ext cx="1587022" cy="449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1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 Slide 1">
  <p:cSld name="1_Blank Slide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1" descr="E:\SP\SP Group_Templates\ImageSlide_PP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715766"/>
            <a:ext cx="9144000" cy="242773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1"/>
          <p:cNvSpPr txBox="1">
            <a:spLocks noGrp="1"/>
          </p:cNvSpPr>
          <p:nvPr>
            <p:ph type="body" idx="1"/>
          </p:nvPr>
        </p:nvSpPr>
        <p:spPr>
          <a:xfrm>
            <a:off x="396305" y="1059583"/>
            <a:ext cx="8352300" cy="3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body" idx="2"/>
          </p:nvPr>
        </p:nvSpPr>
        <p:spPr>
          <a:xfrm>
            <a:off x="137220" y="128811"/>
            <a:ext cx="4146900" cy="7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  <a:latin typeface="Geo"/>
                <a:ea typeface="Geo"/>
                <a:cs typeface="Geo"/>
                <a:sym typeface="Geo"/>
              </a:defRPr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latin typeface="Geo"/>
                <a:ea typeface="Geo"/>
                <a:cs typeface="Geo"/>
                <a:sym typeface="Geo"/>
              </a:defRPr>
            </a:lvl2pPr>
            <a:lvl3pPr marL="1371600" lvl="2" indent="-3238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latin typeface="Geo"/>
                <a:ea typeface="Geo"/>
                <a:cs typeface="Geo"/>
                <a:sym typeface="Geo"/>
              </a:defRPr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Geo"/>
                <a:ea typeface="Geo"/>
                <a:cs typeface="Geo"/>
                <a:sym typeface="Geo"/>
              </a:defRPr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latin typeface="Geo"/>
                <a:ea typeface="Geo"/>
                <a:cs typeface="Geo"/>
                <a:sym typeface="Geo"/>
              </a:defRPr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/>
          <p:nvPr/>
        </p:nvSpPr>
        <p:spPr>
          <a:xfrm>
            <a:off x="8676456" y="4712245"/>
            <a:ext cx="351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2592" y="170685"/>
            <a:ext cx="1506986" cy="491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d">
  <p:cSld name="Brand">
    <p:bg>
      <p:bgPr>
        <a:gradFill>
          <a:gsLst>
            <a:gs pos="0">
              <a:srgbClr val="144B79"/>
            </a:gs>
            <a:gs pos="3000">
              <a:srgbClr val="144B79"/>
            </a:gs>
            <a:gs pos="96000">
              <a:srgbClr val="64CDCE"/>
            </a:gs>
            <a:gs pos="100000">
              <a:srgbClr val="64CDCE"/>
            </a:gs>
          </a:gsLst>
          <a:lin ang="7799903" scaled="0"/>
        </a:gra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2" descr="A logo with white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5059" y="1640495"/>
            <a:ext cx="4733883" cy="1862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89" name="Google Shape;89;p23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90" name="Google Shape;90;p23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91" name="Google Shape;91;p23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92" name="Google Shape;9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3"/>
          <p:cNvSpPr txBox="1">
            <a:spLocks noGrp="1"/>
          </p:cNvSpPr>
          <p:nvPr>
            <p:ph type="title"/>
          </p:nvPr>
        </p:nvSpPr>
        <p:spPr>
          <a:xfrm>
            <a:off x="3810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3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23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99" name="Google Shape;99;p24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100" name="Google Shape;100;p24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4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24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4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4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bg>
      <p:bgPr>
        <a:solidFill>
          <a:srgbClr val="1B3E6D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09" name="Google Shape;109;p25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110" name="Google Shape;110;p25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5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25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e Vietnam Pro SemiBold"/>
              <a:buNone/>
              <a:defRPr sz="2200" b="1" i="0">
                <a:solidFill>
                  <a:schemeClr val="lt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5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5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4" name="Google Shape;494;p9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5" name="Google Shape;495;p9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9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98" name="Google Shape;498;p9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9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9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2" name="Google Shape;502;p9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9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6" name="Google Shape;506;p9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7" name="Google Shape;507;p9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0" name="Google Shape;510;p9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0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3" name="Google Shape;513;p10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4" name="Google Shape;514;p10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0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17" name="Google Shape;517;p10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0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0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1" name="Google Shape;521;p10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22" name="Google Shape;522;p10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3" name="Google Shape;523;p10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0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26" name="Google Shape;526;p10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0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9" name="Google Shape;529;p10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0" name="Google Shape;530;p10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0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 Layout_1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07"/>
          <p:cNvSpPr>
            <a:spLocks noGrp="1"/>
          </p:cNvSpPr>
          <p:nvPr>
            <p:ph type="pic" idx="2"/>
          </p:nvPr>
        </p:nvSpPr>
        <p:spPr>
          <a:xfrm>
            <a:off x="3874182" y="-949180"/>
            <a:ext cx="5155200" cy="51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0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8" name="Google Shape;538;p10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alt1">
  <p:cSld name="1_Title slide">
    <p:bg>
      <p:bgPr>
        <a:solidFill>
          <a:schemeClr val="lt2"/>
        </a:solidFill>
        <a:effectLst/>
      </p:bgPr>
    </p:bg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109" descr="shutterstock_429987889_edited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09"/>
          <p:cNvSpPr txBox="1">
            <a:spLocks noGrp="1"/>
          </p:cNvSpPr>
          <p:nvPr>
            <p:ph type="ctrTitle"/>
          </p:nvPr>
        </p:nvSpPr>
        <p:spPr>
          <a:xfrm>
            <a:off x="914400" y="2323238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2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2" name="Google Shape;542;p10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3" name="Google Shape;543;p109"/>
          <p:cNvSpPr txBox="1">
            <a:spLocks noGrp="1"/>
          </p:cNvSpPr>
          <p:nvPr>
            <p:ph type="body" idx="1"/>
          </p:nvPr>
        </p:nvSpPr>
        <p:spPr>
          <a:xfrm>
            <a:off x="931653" y="2750315"/>
            <a:ext cx="73152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 i="1">
                <a:solidFill>
                  <a:srgbClr val="7F7F7F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pic>
        <p:nvPicPr>
          <p:cNvPr id="544" name="Google Shape;544;p109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347818"/>
            <a:ext cx="1805286" cy="4114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5" name="Google Shape;545;p109"/>
          <p:cNvGrpSpPr/>
          <p:nvPr/>
        </p:nvGrpSpPr>
        <p:grpSpPr>
          <a:xfrm>
            <a:off x="914402" y="1191277"/>
            <a:ext cx="745763" cy="45826"/>
            <a:chOff x="4580561" y="2589004"/>
            <a:chExt cx="1064464" cy="25200"/>
          </a:xfrm>
        </p:grpSpPr>
        <p:sp>
          <p:nvSpPr>
            <p:cNvPr id="546" name="Google Shape;546;p10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47" name="Google Shape;547;p10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48" name="Google Shape;548;p109"/>
          <p:cNvSpPr txBox="1"/>
          <p:nvPr/>
        </p:nvSpPr>
        <p:spPr>
          <a:xfrm>
            <a:off x="914399" y="1841513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</a:pPr>
            <a:r>
              <a:rPr lang="en" sz="2200" b="1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Carbon Management SaaS and Verification Technology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1 line"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10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51" name="Google Shape;551;p110"/>
          <p:cNvGrpSpPr/>
          <p:nvPr/>
        </p:nvGrpSpPr>
        <p:grpSpPr>
          <a:xfrm>
            <a:off x="228601" y="737966"/>
            <a:ext cx="745763" cy="45826"/>
            <a:chOff x="4580561" y="2589004"/>
            <a:chExt cx="1064464" cy="25200"/>
          </a:xfrm>
        </p:grpSpPr>
        <p:sp>
          <p:nvSpPr>
            <p:cNvPr id="552" name="Google Shape;552;p1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53" name="Google Shape;553;p1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54" name="Google Shape;554;p110"/>
          <p:cNvSpPr txBox="1">
            <a:spLocks noGrp="1"/>
          </p:cNvSpPr>
          <p:nvPr>
            <p:ph type="title"/>
          </p:nvPr>
        </p:nvSpPr>
        <p:spPr>
          <a:xfrm>
            <a:off x="228600" y="84109"/>
            <a:ext cx="813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5" name="Google Shape;555;p110"/>
          <p:cNvSpPr txBox="1">
            <a:spLocks noGrp="1"/>
          </p:cNvSpPr>
          <p:nvPr>
            <p:ph type="body" idx="1"/>
          </p:nvPr>
        </p:nvSpPr>
        <p:spPr>
          <a:xfrm>
            <a:off x="228599" y="4986539"/>
            <a:ext cx="8046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800" i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6" name="Google Shape;556;p110"/>
          <p:cNvSpPr txBox="1"/>
          <p:nvPr/>
        </p:nvSpPr>
        <p:spPr>
          <a:xfrm>
            <a:off x="8286390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57" name="Google Shape;557;p110" descr="A green square with white letter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110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1_Title and body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11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" name="Google Shape;561;p111"/>
          <p:cNvSpPr txBox="1">
            <a:spLocks noGrp="1"/>
          </p:cNvSpPr>
          <p:nvPr>
            <p:ph type="title"/>
          </p:nvPr>
        </p:nvSpPr>
        <p:spPr>
          <a:xfrm>
            <a:off x="228600" y="84109"/>
            <a:ext cx="813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rgbClr val="434A5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2" name="Google Shape;562;p111"/>
          <p:cNvSpPr txBox="1">
            <a:spLocks noGrp="1"/>
          </p:cNvSpPr>
          <p:nvPr>
            <p:ph type="body" idx="1"/>
          </p:nvPr>
        </p:nvSpPr>
        <p:spPr>
          <a:xfrm>
            <a:off x="228599" y="4986539"/>
            <a:ext cx="8046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800" i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63" name="Google Shape;563;p111"/>
          <p:cNvSpPr txBox="1"/>
          <p:nvPr/>
        </p:nvSpPr>
        <p:spPr>
          <a:xfrm>
            <a:off x="8286390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64" name="Google Shape;564;p111" descr="A green square with white letter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111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6" name="Google Shape;566;p111"/>
          <p:cNvGrpSpPr/>
          <p:nvPr/>
        </p:nvGrpSpPr>
        <p:grpSpPr>
          <a:xfrm>
            <a:off x="228602" y="737966"/>
            <a:ext cx="745763" cy="45826"/>
            <a:chOff x="4580561" y="2589004"/>
            <a:chExt cx="1064464" cy="25200"/>
          </a:xfrm>
        </p:grpSpPr>
        <p:sp>
          <p:nvSpPr>
            <p:cNvPr id="567" name="Google Shape;567;p1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8" name="Google Shape;568;p1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69" name="Google Shape;569;p111"/>
          <p:cNvSpPr txBox="1">
            <a:spLocks noGrp="1"/>
          </p:cNvSpPr>
          <p:nvPr>
            <p:ph type="body" idx="2"/>
          </p:nvPr>
        </p:nvSpPr>
        <p:spPr>
          <a:xfrm>
            <a:off x="228599" y="424610"/>
            <a:ext cx="81381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 b="1" i="1">
                <a:solidFill>
                  <a:srgbClr val="434A54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1_Title and body 2"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12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" name="Google Shape;572;p112"/>
          <p:cNvSpPr txBox="1">
            <a:spLocks noGrp="1"/>
          </p:cNvSpPr>
          <p:nvPr>
            <p:ph type="title"/>
          </p:nvPr>
        </p:nvSpPr>
        <p:spPr>
          <a:xfrm>
            <a:off x="228600" y="84109"/>
            <a:ext cx="813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rgbClr val="434A5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3" name="Google Shape;573;p112"/>
          <p:cNvSpPr txBox="1">
            <a:spLocks noGrp="1"/>
          </p:cNvSpPr>
          <p:nvPr>
            <p:ph type="body" idx="1"/>
          </p:nvPr>
        </p:nvSpPr>
        <p:spPr>
          <a:xfrm>
            <a:off x="228599" y="4986539"/>
            <a:ext cx="8046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800" i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74" name="Google Shape;574;p112"/>
          <p:cNvSpPr txBox="1"/>
          <p:nvPr/>
        </p:nvSpPr>
        <p:spPr>
          <a:xfrm>
            <a:off x="8286390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75" name="Google Shape;575;p112" descr="A green square with white letter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112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7" name="Google Shape;577;p112"/>
          <p:cNvGrpSpPr/>
          <p:nvPr/>
        </p:nvGrpSpPr>
        <p:grpSpPr>
          <a:xfrm>
            <a:off x="228602" y="737966"/>
            <a:ext cx="745763" cy="45826"/>
            <a:chOff x="4580561" y="2589004"/>
            <a:chExt cx="1064464" cy="25200"/>
          </a:xfrm>
        </p:grpSpPr>
        <p:sp>
          <p:nvSpPr>
            <p:cNvPr id="578" name="Google Shape;578;p1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79" name="Google Shape;579;p1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80" name="Google Shape;580;p112"/>
          <p:cNvSpPr txBox="1">
            <a:spLocks noGrp="1"/>
          </p:cNvSpPr>
          <p:nvPr>
            <p:ph type="body" idx="2"/>
          </p:nvPr>
        </p:nvSpPr>
        <p:spPr>
          <a:xfrm>
            <a:off x="228599" y="424610"/>
            <a:ext cx="81381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 b="1" i="1">
                <a:solidFill>
                  <a:srgbClr val="434A54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4">
  <p:cSld name="Title 2 lines"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13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83" name="Google Shape;583;p113"/>
          <p:cNvGrpSpPr/>
          <p:nvPr/>
        </p:nvGrpSpPr>
        <p:grpSpPr>
          <a:xfrm>
            <a:off x="228602" y="737966"/>
            <a:ext cx="745763" cy="45826"/>
            <a:chOff x="4580561" y="2589004"/>
            <a:chExt cx="1064464" cy="25200"/>
          </a:xfrm>
        </p:grpSpPr>
        <p:sp>
          <p:nvSpPr>
            <p:cNvPr id="584" name="Google Shape;584;p1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85" name="Google Shape;585;p1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86" name="Google Shape;586;p113"/>
          <p:cNvSpPr txBox="1">
            <a:spLocks noGrp="1"/>
          </p:cNvSpPr>
          <p:nvPr>
            <p:ph type="title"/>
          </p:nvPr>
        </p:nvSpPr>
        <p:spPr>
          <a:xfrm>
            <a:off x="228600" y="84108"/>
            <a:ext cx="81381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87" name="Google Shape;587;p113"/>
          <p:cNvSpPr txBox="1">
            <a:spLocks noGrp="1"/>
          </p:cNvSpPr>
          <p:nvPr>
            <p:ph type="body" idx="1"/>
          </p:nvPr>
        </p:nvSpPr>
        <p:spPr>
          <a:xfrm>
            <a:off x="228599" y="4977306"/>
            <a:ext cx="8046600" cy="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800" i="1">
                <a:solidFill>
                  <a:srgbClr val="7F7F7F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88" name="Google Shape;588;p113"/>
          <p:cNvSpPr txBox="1"/>
          <p:nvPr/>
        </p:nvSpPr>
        <p:spPr>
          <a:xfrm>
            <a:off x="8278016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 sz="800" b="0" i="0" u="none" strike="noStrike" cap="non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800" b="0" i="0" u="none" strike="noStrike" cap="non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89" name="Google Shape;589;p113" descr="A green square with white letter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113" descr="A green letters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14"/>
          <p:cNvSpPr/>
          <p:nvPr/>
        </p:nvSpPr>
        <p:spPr>
          <a:xfrm>
            <a:off x="0" y="0"/>
            <a:ext cx="9144000" cy="783590"/>
          </a:xfrm>
          <a:custGeom>
            <a:avLst/>
            <a:gdLst/>
            <a:ahLst/>
            <a:cxnLst/>
            <a:rect l="l" t="t" r="r" b="b"/>
            <a:pathLst>
              <a:path w="9144000" h="783590" extrusionOk="0">
                <a:moveTo>
                  <a:pt x="9144000" y="0"/>
                </a:moveTo>
                <a:lnTo>
                  <a:pt x="0" y="0"/>
                </a:lnTo>
                <a:lnTo>
                  <a:pt x="0" y="783336"/>
                </a:lnTo>
                <a:lnTo>
                  <a:pt x="9144000" y="783336"/>
                </a:lnTo>
                <a:lnTo>
                  <a:pt x="9144000" y="0"/>
                </a:lnTo>
                <a:close/>
              </a:path>
            </a:pathLst>
          </a:custGeom>
          <a:solidFill>
            <a:srgbClr val="E7E6E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 i="0">
                <a:solidFill>
                  <a:srgbClr val="43495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1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b="0" i="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95" name="Google Shape;595;p11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6" name="Google Shape;596;p11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7" name="Google Shape;597;p1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6355" marR="0" lvl="0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1pPr>
            <a:lvl2pPr marL="46355" marR="0" lvl="1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2pPr>
            <a:lvl3pPr marL="46355" marR="0" lvl="2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3pPr>
            <a:lvl4pPr marL="46355" marR="0" lvl="3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4pPr>
            <a:lvl5pPr marL="46355" marR="0" lvl="4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5pPr>
            <a:lvl6pPr marL="46355" marR="0" lvl="5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6pPr>
            <a:lvl7pPr marL="46355" marR="0" lvl="6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7pPr>
            <a:lvl8pPr marL="46355" marR="0" lvl="7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6355" marR="0" lvl="8" indent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6355" lvl="0" indent="0" algn="r" rtl="0">
              <a:spcBef>
                <a:spcPts val="9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15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00" name="Google Shape;600;p115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601" name="Google Shape;601;p115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602" name="Google Shape;602;p115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603" name="Google Shape;603;p1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15"/>
          <p:cNvSpPr txBox="1">
            <a:spLocks noGrp="1"/>
          </p:cNvSpPr>
          <p:nvPr>
            <p:ph type="title"/>
          </p:nvPr>
        </p:nvSpPr>
        <p:spPr>
          <a:xfrm>
            <a:off x="3810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115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6" name="Google Shape;606;p115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15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16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10" name="Google Shape;610;p116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611" name="Google Shape;611;p116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16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3" name="Google Shape;613;p116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14" name="Google Shape;614;p116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5" name="Google Shape;615;p1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116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7" name="Google Shape;617;p116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 1">
  <p:cSld name="3_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17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20" name="Google Shape;620;p117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621" name="Google Shape;621;p117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622" name="Google Shape;622;p117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623" name="Google Shape;623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17"/>
          <p:cNvSpPr txBox="1">
            <a:spLocks noGrp="1"/>
          </p:cNvSpPr>
          <p:nvPr>
            <p:ph type="title"/>
          </p:nvPr>
        </p:nvSpPr>
        <p:spPr>
          <a:xfrm>
            <a:off x="3810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sz="2200" b="1" i="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17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6" name="Google Shape;626;p117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17"/>
          <p:cNvSpPr txBox="1">
            <a:spLocks noGrp="1"/>
          </p:cNvSpPr>
          <p:nvPr>
            <p:ph type="body" idx="2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730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bg>
      <p:bgPr>
        <a:solidFill>
          <a:srgbClr val="1B3E6D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18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30" name="Google Shape;630;p118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631" name="Google Shape;631;p118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118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3" name="Google Shape;633;p118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e Vietnam Pro SemiBold"/>
              <a:buNone/>
              <a:defRPr sz="2200" b="1" i="0">
                <a:solidFill>
                  <a:schemeClr val="lt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118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5" name="Google Shape;635;p1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18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 1">
  <p:cSld name="2_Blank_1">
    <p:bg>
      <p:bgPr>
        <a:solidFill>
          <a:srgbClr val="1B3E6D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19"/>
          <p:cNvSpPr txBox="1">
            <a:spLocks noGrp="1"/>
          </p:cNvSpPr>
          <p:nvPr>
            <p:ph type="body" idx="1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>
            <a:lvl1pPr marL="457200" marR="0" lvl="0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2921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39" name="Google Shape;639;p119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640" name="Google Shape;640;p119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19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2" name="Google Shape;642;p119"/>
          <p:cNvSpPr txBox="1">
            <a:spLocks noGrp="1"/>
          </p:cNvSpPr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e Vietnam Pro SemiBold"/>
              <a:buNone/>
              <a:defRPr sz="2200" b="1" i="0">
                <a:solidFill>
                  <a:schemeClr val="lt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3" name="Google Shape;643;p119"/>
          <p:cNvSpPr/>
          <p:nvPr/>
        </p:nvSpPr>
        <p:spPr>
          <a:xfrm rot="10800000" flipH="1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4" name="Google Shape;644;p1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19"/>
          <p:cNvSpPr txBox="1">
            <a:spLocks noGrp="1"/>
          </p:cNvSpPr>
          <p:nvPr>
            <p:ph type="sldNum" idx="12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20"/>
          <p:cNvSpPr>
            <a:spLocks noGrp="1"/>
          </p:cNvSpPr>
          <p:nvPr>
            <p:ph type="pic" idx="2"/>
          </p:nvPr>
        </p:nvSpPr>
        <p:spPr>
          <a:xfrm>
            <a:off x="4100165" y="570248"/>
            <a:ext cx="4237200" cy="2001600"/>
          </a:xfrm>
          <a:prstGeom prst="rect">
            <a:avLst/>
          </a:prstGeom>
          <a:noFill/>
          <a:ln>
            <a:noFill/>
          </a:ln>
        </p:spPr>
      </p:sp>
      <p:sp>
        <p:nvSpPr>
          <p:cNvPr id="648" name="Google Shape;648;p120"/>
          <p:cNvSpPr txBox="1">
            <a:spLocks noGrp="1"/>
          </p:cNvSpPr>
          <p:nvPr>
            <p:ph type="sldNum" idx="12"/>
          </p:nvPr>
        </p:nvSpPr>
        <p:spPr>
          <a:xfrm>
            <a:off x="8467986" y="172594"/>
            <a:ext cx="561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sz="8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46.xml"/><Relationship Id="rId3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41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45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2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1" name="Google Shape;491;p9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  <p:sldLayoutId id="2147483753" r:id="rId19"/>
    <p:sldLayoutId id="2147483754" r:id="rId20"/>
    <p:sldLayoutId id="2147483755" r:id="rId21"/>
    <p:sldLayoutId id="2147483756" r:id="rId22"/>
    <p:sldLayoutId id="2147483757" r:id="rId23"/>
    <p:sldLayoutId id="2147483758" r:id="rId24"/>
    <p:sldLayoutId id="2147483759" r:id="rId25"/>
    <p:sldLayoutId id="2147483760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comments" Target="../comments/comment2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4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5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6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7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8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Google Shape;1336;p151"/>
          <p:cNvPicPr preferRelativeResize="0"/>
          <p:nvPr/>
        </p:nvPicPr>
        <p:blipFill rotWithShape="1">
          <a:blip r:embed="rId3">
            <a:alphaModFix/>
          </a:blip>
          <a:srcRect l="333" t="26115" r="25741" b="867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7" name="Google Shape;1337;p1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786E">
              <a:alpha val="4429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8" name="Google Shape;1338;p151" title="white lay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2825" y="1950975"/>
            <a:ext cx="8231173" cy="32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9" name="Google Shape;1339;p151" title="Gemini_Generated_Image_rtvpp5rtvpp5rtvp (1).png"/>
          <p:cNvPicPr preferRelativeResize="0"/>
          <p:nvPr/>
        </p:nvPicPr>
        <p:blipFill rotWithShape="1">
          <a:blip r:embed="rId5">
            <a:alphaModFix amt="85000"/>
          </a:blip>
          <a:srcRect l="862"/>
          <a:stretch/>
        </p:blipFill>
        <p:spPr>
          <a:xfrm>
            <a:off x="0" y="-449800"/>
            <a:ext cx="9144003" cy="5606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0" name="Google Shape;1340;p151"/>
          <p:cNvGrpSpPr/>
          <p:nvPr/>
        </p:nvGrpSpPr>
        <p:grpSpPr>
          <a:xfrm>
            <a:off x="7419773" y="4830726"/>
            <a:ext cx="1610547" cy="312775"/>
            <a:chOff x="7472673" y="4830726"/>
            <a:chExt cx="1610547" cy="312775"/>
          </a:xfrm>
        </p:grpSpPr>
        <p:pic>
          <p:nvPicPr>
            <p:cNvPr id="1341" name="Google Shape;1341;p15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472673" y="4830726"/>
              <a:ext cx="894924" cy="31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2" name="Google Shape;1342;p151" title="CEBA new logo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374923" y="4890787"/>
              <a:ext cx="708296" cy="211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3" name="Google Shape;1343;p151"/>
          <p:cNvSpPr txBox="1"/>
          <p:nvPr/>
        </p:nvSpPr>
        <p:spPr>
          <a:xfrm>
            <a:off x="3222554" y="3289204"/>
            <a:ext cx="5630400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000" b="1">
                <a:solidFill>
                  <a:srgbClr val="035D4E"/>
                </a:solidFill>
                <a:latin typeface="Montserrat"/>
                <a:ea typeface="Montserrat"/>
                <a:cs typeface="Montserrat"/>
                <a:sym typeface="Montserrat"/>
              </a:rPr>
              <a:t>Session 5.1:</a:t>
            </a:r>
            <a:r>
              <a:rPr lang="en" sz="2400" b="1">
                <a:solidFill>
                  <a:srgbClr val="035D4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" sz="2400" b="1">
                <a:solidFill>
                  <a:srgbClr val="035D4E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2400" b="1">
                <a:solidFill>
                  <a:srgbClr val="035D4E"/>
                </a:solidFill>
                <a:latin typeface="Montserrat"/>
                <a:ea typeface="Montserrat"/>
                <a:cs typeface="Montserrat"/>
                <a:sym typeface="Montserrat"/>
              </a:rPr>
              <a:t>Off-Site Solutions Deep Dive</a:t>
            </a:r>
            <a:endParaRPr sz="2400">
              <a:solidFill>
                <a:srgbClr val="035D4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035D4E"/>
                </a:solidFill>
                <a:latin typeface="Montserrat"/>
                <a:ea typeface="Montserrat"/>
                <a:cs typeface="Montserrat"/>
                <a:sym typeface="Montserrat"/>
              </a:rPr>
              <a:t>Understanding DPPA Mechanisms</a:t>
            </a:r>
            <a:endParaRPr sz="2400">
              <a:solidFill>
                <a:srgbClr val="035D4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162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485" name="Google Shape;1485;p162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86" name="Google Shape;1486;p162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7" name="Google Shape;1487;p162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8" name="Google Shape;1488;p162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9" name="Google Shape;1489;p162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0" name="Google Shape;1490;p162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1" name="Google Shape;1491;p162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2" name="Google Shape;1492;p162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3" name="Google Shape;1493;p162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494" name="Google Shape;1494;p162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5" name="Google Shape;1495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6" name="Google Shape;1496;p162"/>
          <p:cNvSpPr/>
          <p:nvPr/>
        </p:nvSpPr>
        <p:spPr>
          <a:xfrm>
            <a:off x="4680138" y="1526813"/>
            <a:ext cx="4305900" cy="2688600"/>
          </a:xfrm>
          <a:prstGeom prst="roundRect">
            <a:avLst>
              <a:gd name="adj" fmla="val 9955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7" name="Google Shape;1497;p162"/>
          <p:cNvSpPr txBox="1"/>
          <p:nvPr/>
        </p:nvSpPr>
        <p:spPr>
          <a:xfrm>
            <a:off x="483525" y="968225"/>
            <a:ext cx="848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Follow the Money: From your EVN Bill to a Bankable DPPA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498" name="Google Shape;1498;p162"/>
          <p:cNvGraphicFramePr/>
          <p:nvPr/>
        </p:nvGraphicFramePr>
        <p:xfrm>
          <a:off x="483533" y="1526817"/>
          <a:ext cx="3952550" cy="272122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51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Module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aseline: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hat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ou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ay EVN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oday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Virtual DPPA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oney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low: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 Five-Line Bill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CfD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echanics: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hat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rives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our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Quoted Price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Developer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conomics and the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hree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ates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Case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tud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ies 5 &amp; 6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Key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ecision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</a:t>
                      </a:r>
                      <a:r>
                        <a:rPr lang="en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oints and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Wrap-up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99" name="Google Shape;1499;p162"/>
          <p:cNvSpPr txBox="1"/>
          <p:nvPr/>
        </p:nvSpPr>
        <p:spPr>
          <a:xfrm>
            <a:off x="4871317" y="1576126"/>
            <a:ext cx="40155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725" tIns="39350" rIns="78725" bIns="393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5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By the end of this session you </a:t>
            </a:r>
            <a:r>
              <a:rPr lang="en" sz="1205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will be able</a:t>
            </a:r>
            <a:r>
              <a:rPr lang="en" sz="1205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20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0" name="Google Shape;1500;p162"/>
          <p:cNvSpPr txBox="1"/>
          <p:nvPr/>
        </p:nvSpPr>
        <p:spPr>
          <a:xfrm>
            <a:off x="4871313" y="1922565"/>
            <a:ext cx="4015500" cy="19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725" tIns="39350" rIns="78725" bIns="3935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19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 </a:t>
            </a:r>
            <a:r>
              <a:rPr lang="en" sz="111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Breakdown</a:t>
            </a:r>
            <a:r>
              <a:rPr lang="en" sz="1119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 virtual DPPA monthly settlement into its five components and compare it to your EVN bill</a:t>
            </a:r>
            <a:endParaRPr sz="120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61"/>
              </a:spcBef>
              <a:spcAft>
                <a:spcPts val="0"/>
              </a:spcAft>
              <a:buNone/>
            </a:pPr>
            <a:r>
              <a:rPr lang="en" sz="1119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 Explain how the CfD strike, market price </a:t>
            </a:r>
            <a:r>
              <a:rPr lang="en" sz="111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(FMP)</a:t>
            </a:r>
            <a:r>
              <a:rPr lang="en" sz="1119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loss factors, and grid fees set your net cost</a:t>
            </a:r>
            <a:endParaRPr sz="120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61"/>
              </a:spcBef>
              <a:spcAft>
                <a:spcPts val="0"/>
              </a:spcAft>
              <a:buNone/>
            </a:pPr>
            <a:r>
              <a:rPr lang="en" sz="1119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 See why buyers, sellers and lenders each have a </a:t>
            </a:r>
            <a:r>
              <a:rPr lang="en" sz="111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lang="en" sz="1119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gate</a:t>
            </a:r>
            <a:r>
              <a:rPr lang="en" sz="111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r>
              <a:rPr lang="en" sz="1119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why a deal must pass all three</a:t>
            </a:r>
            <a:endParaRPr sz="120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61"/>
              </a:spcBef>
              <a:spcAft>
                <a:spcPts val="0"/>
              </a:spcAft>
              <a:buNone/>
            </a:pPr>
            <a:r>
              <a:rPr lang="en" sz="1119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4.  Leave with realistic pricing expectations grounded in a real factory model</a:t>
            </a:r>
            <a:endParaRPr sz="120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1" name="Google Shape;1501;p162"/>
          <p:cNvSpPr txBox="1"/>
          <p:nvPr/>
        </p:nvSpPr>
        <p:spPr>
          <a:xfrm>
            <a:off x="483535" y="4556438"/>
            <a:ext cx="28584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Scope: </a:t>
            </a:r>
            <a:r>
              <a:rPr lang="en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" sz="11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irtual</a:t>
            </a:r>
            <a:r>
              <a:rPr lang="en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1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DPPA </a:t>
            </a:r>
            <a:r>
              <a:rPr lang="en" sz="11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(grid CfD) </a:t>
            </a:r>
            <a:r>
              <a:rPr lang="en" sz="11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only.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2" name="Google Shape;1502;p162"/>
          <p:cNvSpPr txBox="1"/>
          <p:nvPr/>
        </p:nvSpPr>
        <p:spPr>
          <a:xfrm>
            <a:off x="640492" y="281363"/>
            <a:ext cx="825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Session Roadmap</a:t>
            </a:r>
            <a:endParaRPr sz="21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7" name="Google Shape;1507;p163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w="57150" cap="flat" cmpd="sng">
            <a:solidFill>
              <a:srgbClr val="1B786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8" name="Google Shape;1508;p163"/>
          <p:cNvSpPr txBox="1"/>
          <p:nvPr/>
        </p:nvSpPr>
        <p:spPr>
          <a:xfrm>
            <a:off x="4572000" y="1440675"/>
            <a:ext cx="45720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1: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The Baseline: What You Pay EVN Today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09" name="Google Shape;1509;p163"/>
          <p:cNvPicPr preferRelativeResize="0"/>
          <p:nvPr/>
        </p:nvPicPr>
        <p:blipFill rotWithShape="1">
          <a:blip r:embed="rId3">
            <a:alphaModFix/>
          </a:blip>
          <a:srcRect l="6658" t="3134" r="48140" b="13296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0" name="Google Shape;1510;p163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w="9525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1" name="Google Shape;1511;p163" title="CEBA new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2" name="Google Shape;1512;p1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7" name="Google Shape;1517;p164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8" name="Google Shape;1518;p1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9" name="Google Shape;1519;p164"/>
          <p:cNvSpPr/>
          <p:nvPr/>
        </p:nvSpPr>
        <p:spPr>
          <a:xfrm>
            <a:off x="4724550" y="2822025"/>
            <a:ext cx="4214400" cy="1644900"/>
          </a:xfrm>
          <a:prstGeom prst="roundRect">
            <a:avLst>
              <a:gd name="adj" fmla="val 995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83775" tIns="83775" rIns="83775" bIns="83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3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0" name="Google Shape;1520;p164"/>
          <p:cNvSpPr/>
          <p:nvPr/>
        </p:nvSpPr>
        <p:spPr>
          <a:xfrm>
            <a:off x="4724550" y="1041207"/>
            <a:ext cx="4214400" cy="1685700"/>
          </a:xfrm>
          <a:prstGeom prst="roundRect">
            <a:avLst>
              <a:gd name="adj" fmla="val 995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83775" tIns="83775" rIns="83775" bIns="83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3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521" name="Google Shape;1521;p164"/>
          <p:cNvGraphicFramePr/>
          <p:nvPr/>
        </p:nvGraphicFramePr>
        <p:xfrm>
          <a:off x="424258" y="1060382"/>
          <a:ext cx="4147800" cy="1305025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1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Period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Hours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Versus</a:t>
                      </a: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</a:t>
                      </a: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Off-peak 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</a:t>
                      </a: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:00 - 0</a:t>
                      </a:r>
                      <a:r>
                        <a:rPr lang="en" sz="10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:00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~0.52x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Normal 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06:00 - 18:00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1.0x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Peak 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18:00 - 23:00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~1.78x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22" name="Google Shape;1522;p164"/>
          <p:cNvSpPr txBox="1"/>
          <p:nvPr/>
        </p:nvSpPr>
        <p:spPr>
          <a:xfrm>
            <a:off x="424335" y="2473902"/>
            <a:ext cx="39684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Sunday rule: no peak period on Sundays (all hours normal).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523" name="Google Shape;1523;p164"/>
          <p:cNvGraphicFramePr/>
          <p:nvPr/>
        </p:nvGraphicFramePr>
        <p:xfrm>
          <a:off x="424295" y="2923477"/>
          <a:ext cx="4147800" cy="1469375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96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Voltage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Off-peak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Normal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Peak  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&gt;=110kV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0.034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0.065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0.116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22-110kV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0.037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0.070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0.126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6-22kV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0.042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0.079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0.141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&lt;6kV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0.049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0.092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0.164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24" name="Google Shape;1524;p164"/>
          <p:cNvSpPr txBox="1"/>
          <p:nvPr/>
        </p:nvSpPr>
        <p:spPr>
          <a:xfrm>
            <a:off x="4782490" y="1092421"/>
            <a:ext cx="2856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Why this matters for DPPA</a:t>
            </a:r>
            <a:endParaRPr sz="10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5" name="Google Shape;1525;p164"/>
          <p:cNvSpPr txBox="1"/>
          <p:nvPr/>
        </p:nvSpPr>
        <p:spPr>
          <a:xfrm>
            <a:off x="4824500" y="1425544"/>
            <a:ext cx="4114500" cy="12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000"/>
              <a:buFont typeface="Montserrat"/>
              <a:buChar char="●"/>
            </a:pP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Every DPPA offer is judged against this bill</a:t>
            </a:r>
            <a:r>
              <a:rPr lang="en" sz="10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: “</a:t>
            </a: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business</a:t>
            </a:r>
            <a:r>
              <a:rPr lang="en" sz="10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as-usual</a:t>
            </a:r>
            <a:r>
              <a:rPr lang="en" sz="10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” </a:t>
            </a: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(BAU)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22B33"/>
              </a:buClr>
              <a:buSzPts val="1000"/>
              <a:buFont typeface="Montserrat"/>
              <a:buChar char="●"/>
            </a:pP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Peak hours cost 3.4x off-peak: your load shape decides what "average" means for you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222B33"/>
              </a:buClr>
              <a:buSzPts val="1000"/>
              <a:buFont typeface="Montserrat"/>
              <a:buChar char="●"/>
            </a:pP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Residual energy (load not covered by the DPPA) keeps paying these TOU rates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6" name="Google Shape;1526;p164"/>
          <p:cNvSpPr txBox="1"/>
          <p:nvPr/>
        </p:nvSpPr>
        <p:spPr>
          <a:xfrm>
            <a:off x="4782490" y="2885562"/>
            <a:ext cx="4293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The savings benchmark</a:t>
            </a:r>
            <a:endParaRPr sz="105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7" name="Google Shape;1527;p164"/>
          <p:cNvSpPr txBox="1"/>
          <p:nvPr/>
        </p:nvSpPr>
        <p:spPr>
          <a:xfrm>
            <a:off x="4782500" y="3169357"/>
            <a:ext cx="4114500" cy="12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000"/>
              <a:buFont typeface="Montserrat"/>
              <a:buChar char="●"/>
            </a:pP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BAU = your current EVN bill escalated ~4%/yr (historical trend 2015-2024)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22B33"/>
              </a:buClr>
              <a:buSzPts val="1000"/>
              <a:buFont typeface="Montserrat"/>
              <a:buChar char="●"/>
            </a:pP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 DPPA is evaluated on cumulative cost vs BAU over 10 years and over the project lifetime - not just Year 1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222B33"/>
              </a:buClr>
              <a:buSzPts val="1000"/>
              <a:buFont typeface="Montserrat"/>
              <a:buChar char="●"/>
            </a:pPr>
            <a:r>
              <a:rPr lang="en" sz="10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EVN tariff escalation is the main source of long-term DPPA value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8" name="Google Shape;1528;p164"/>
          <p:cNvSpPr txBox="1"/>
          <p:nvPr/>
        </p:nvSpPr>
        <p:spPr>
          <a:xfrm>
            <a:off x="424250" y="4350167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(USD/kWh approx. 2025)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29" name="Google Shape;1529;p164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530" name="Google Shape;1530;p164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1" name="Google Shape;1531;p164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2" name="Google Shape;1532;p164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3" name="Google Shape;1533;p164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4" name="Google Shape;1534;p164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5" name="Google Shape;1535;p164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6" name="Google Shape;1536;p164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7" name="Google Shape;1537;p164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" name="Google Shape;1538;p164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39" name="Google Shape;1539;p164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1 - The Baseline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What You Pay EVN Today: TOU Is The Reference Price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4" name="Google Shape;1544;p165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w="57150" cap="flat" cmpd="sng">
            <a:solidFill>
              <a:srgbClr val="1B786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45" name="Google Shape;1545;p165"/>
          <p:cNvSpPr txBox="1"/>
          <p:nvPr/>
        </p:nvSpPr>
        <p:spPr>
          <a:xfrm>
            <a:off x="4572000" y="1440675"/>
            <a:ext cx="45720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2: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Virtual DPPA Money Flow: The Five-Line Bill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46" name="Google Shape;1546;p165"/>
          <p:cNvPicPr preferRelativeResize="0"/>
          <p:nvPr/>
        </p:nvPicPr>
        <p:blipFill rotWithShape="1">
          <a:blip r:embed="rId3">
            <a:alphaModFix/>
          </a:blip>
          <a:srcRect l="6658" t="3134" r="48140" b="13296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7" name="Google Shape;1547;p165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w="9525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8" name="Google Shape;1548;p165" title="CEBA new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9" name="Google Shape;1549;p1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4" name="Google Shape;1554;p166"/>
          <p:cNvGrpSpPr/>
          <p:nvPr/>
        </p:nvGrpSpPr>
        <p:grpSpPr>
          <a:xfrm>
            <a:off x="244142" y="63878"/>
            <a:ext cx="8728050" cy="745997"/>
            <a:chOff x="236700" y="63853"/>
            <a:chExt cx="8728050" cy="745997"/>
          </a:xfrm>
        </p:grpSpPr>
        <p:sp>
          <p:nvSpPr>
            <p:cNvPr id="1555" name="Google Shape;1555;p166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56" name="Google Shape;1556;p166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7" name="Google Shape;1557;p166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8" name="Google Shape;1558;p166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9" name="Google Shape;1559;p166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0" name="Google Shape;1560;p166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1" name="Google Shape;1561;p166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62" name="Google Shape;1562;p166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2 - The Five-Line Bill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Virtual DPPA Money Flow: Three Relationships, One Bill</a:t>
              </a:r>
              <a:endParaRPr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563" name="Google Shape;1563;p166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4" name="Google Shape;1564;p166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565" name="Google Shape;1565;p166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6" name="Google Shape;1566;p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166"/>
          <p:cNvSpPr/>
          <p:nvPr/>
        </p:nvSpPr>
        <p:spPr>
          <a:xfrm>
            <a:off x="248613" y="1595970"/>
            <a:ext cx="1962000" cy="1115100"/>
          </a:xfrm>
          <a:prstGeom prst="roundRect">
            <a:avLst>
              <a:gd name="adj" fmla="val 16667"/>
            </a:avLst>
          </a:prstGeom>
          <a:solidFill>
            <a:srgbClr val="127A7A"/>
          </a:solidFill>
          <a:ln>
            <a:noFill/>
          </a:ln>
          <a:effectLst>
            <a:outerShdw blurRad="32999" dist="1897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0325" tIns="37675" rIns="60325" bIns="3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 GENERATOR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sells 100% of output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the spot market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8" name="Google Shape;1568;p166"/>
          <p:cNvSpPr/>
          <p:nvPr/>
        </p:nvSpPr>
        <p:spPr>
          <a:xfrm>
            <a:off x="3590999" y="1105277"/>
            <a:ext cx="1962000" cy="981300"/>
          </a:xfrm>
          <a:prstGeom prst="roundRect">
            <a:avLst>
              <a:gd name="adj" fmla="val 16667"/>
            </a:avLst>
          </a:prstGeom>
          <a:solidFill>
            <a:srgbClr val="0F293D"/>
          </a:solidFill>
          <a:ln>
            <a:noFill/>
          </a:ln>
          <a:effectLst>
            <a:outerShdw blurRad="32999" dist="1897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0325" tIns="37675" rIns="60325" bIns="3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VWEM SPOT MARKET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pays generator FMP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 kWh generated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9" name="Google Shape;1569;p166"/>
          <p:cNvSpPr/>
          <p:nvPr/>
        </p:nvSpPr>
        <p:spPr>
          <a:xfrm>
            <a:off x="3590999" y="2532747"/>
            <a:ext cx="1962000" cy="981300"/>
          </a:xfrm>
          <a:prstGeom prst="roundRect">
            <a:avLst>
              <a:gd name="adj" fmla="val 16667"/>
            </a:avLst>
          </a:prstGeom>
          <a:solidFill>
            <a:srgbClr val="0F293D"/>
          </a:solidFill>
          <a:ln>
            <a:noFill/>
          </a:ln>
          <a:effectLst>
            <a:outerShdw blurRad="32999" dist="1897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0325" tIns="37675" rIns="60325" bIns="3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EVN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meters, wheels, &amp; bills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DPPA customer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0" name="Google Shape;1570;p166"/>
          <p:cNvSpPr/>
          <p:nvPr/>
        </p:nvSpPr>
        <p:spPr>
          <a:xfrm>
            <a:off x="6933386" y="1595970"/>
            <a:ext cx="1962000" cy="1115100"/>
          </a:xfrm>
          <a:prstGeom prst="roundRect">
            <a:avLst>
              <a:gd name="adj" fmla="val 16667"/>
            </a:avLst>
          </a:prstGeom>
          <a:solidFill>
            <a:srgbClr val="2E9E5B"/>
          </a:solidFill>
          <a:ln>
            <a:noFill/>
          </a:ln>
          <a:effectLst>
            <a:outerShdw blurRad="32999" dist="1897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0325" tIns="37675" rIns="60325" bIns="3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FA</a:t>
            </a:r>
            <a:r>
              <a:rPr lang="en" sz="1155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CTORY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pays EVN the DPPA bill;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settles CfD with generator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71" name="Google Shape;1571;p166"/>
          <p:cNvCxnSpPr/>
          <p:nvPr/>
        </p:nvCxnSpPr>
        <p:spPr>
          <a:xfrm rot="10800000" flipH="1">
            <a:off x="2210448" y="1551620"/>
            <a:ext cx="1380600" cy="312000"/>
          </a:xfrm>
          <a:prstGeom prst="bentConnector3">
            <a:avLst>
              <a:gd name="adj1" fmla="val 50000"/>
            </a:avLst>
          </a:prstGeom>
          <a:noFill/>
          <a:ln w="20975" cap="flat" cmpd="sng">
            <a:solidFill>
              <a:srgbClr val="5A6670"/>
            </a:solidFill>
            <a:prstDash val="solid"/>
            <a:round/>
            <a:headEnd type="none" w="sm" len="sm"/>
            <a:tailEnd type="none" w="sm" len="sm"/>
          </a:ln>
          <a:effectLst>
            <a:outerShdw blurRad="32999" dist="16499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572" name="Google Shape;1572;p166"/>
          <p:cNvSpPr txBox="1"/>
          <p:nvPr/>
        </p:nvSpPr>
        <p:spPr>
          <a:xfrm>
            <a:off x="2137621" y="1221760"/>
            <a:ext cx="1453500" cy="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37675" rIns="75425" bIns="37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energy -&gt; market (FMP)</a:t>
            </a:r>
            <a:endParaRPr sz="115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73" name="Google Shape;1573;p166"/>
          <p:cNvCxnSpPr/>
          <p:nvPr/>
        </p:nvCxnSpPr>
        <p:spPr>
          <a:xfrm rot="10800000" flipH="1">
            <a:off x="5552835" y="2488240"/>
            <a:ext cx="1380600" cy="535200"/>
          </a:xfrm>
          <a:prstGeom prst="bentConnector3">
            <a:avLst>
              <a:gd name="adj1" fmla="val 50000"/>
            </a:avLst>
          </a:prstGeom>
          <a:noFill/>
          <a:ln w="20975" cap="flat" cmpd="sng">
            <a:solidFill>
              <a:srgbClr val="5A6670"/>
            </a:solidFill>
            <a:prstDash val="solid"/>
            <a:round/>
            <a:headEnd type="none" w="sm" len="sm"/>
            <a:tailEnd type="none" w="sm" len="sm"/>
          </a:ln>
          <a:effectLst>
            <a:outerShdw blurRad="32999" dist="16499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574" name="Google Shape;1574;p166"/>
          <p:cNvSpPr txBox="1"/>
          <p:nvPr/>
        </p:nvSpPr>
        <p:spPr>
          <a:xfrm>
            <a:off x="5516505" y="3068048"/>
            <a:ext cx="1525800" cy="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37675" rIns="75425" bIns="37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DPPA bill (5 lines)</a:t>
            </a:r>
            <a:endParaRPr sz="115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75" name="Google Shape;1575;p166"/>
          <p:cNvCxnSpPr/>
          <p:nvPr/>
        </p:nvCxnSpPr>
        <p:spPr>
          <a:xfrm>
            <a:off x="2210448" y="2398922"/>
            <a:ext cx="4722900" cy="600"/>
          </a:xfrm>
          <a:prstGeom prst="bentConnector3">
            <a:avLst>
              <a:gd name="adj1" fmla="val 50000"/>
            </a:avLst>
          </a:prstGeom>
          <a:noFill/>
          <a:ln w="20975" cap="flat" cmpd="sng">
            <a:solidFill>
              <a:srgbClr val="E09A2B"/>
            </a:solidFill>
            <a:prstDash val="dash"/>
            <a:round/>
            <a:headEnd type="none" w="sm" len="sm"/>
            <a:tailEnd type="none" w="sm" len="sm"/>
          </a:ln>
          <a:effectLst>
            <a:outerShdw blurRad="32999" dist="16499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576" name="Google Shape;1576;p166"/>
          <p:cNvSpPr txBox="1"/>
          <p:nvPr/>
        </p:nvSpPr>
        <p:spPr>
          <a:xfrm>
            <a:off x="3808981" y="2086663"/>
            <a:ext cx="1598400" cy="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37675" rIns="75425" bIns="37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6" b="0" i="0" u="none" strike="noStrike" cap="none">
                <a:solidFill>
                  <a:srgbClr val="E09A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CfD settlement (two-way)</a:t>
            </a:r>
            <a:endParaRPr sz="1155"/>
          </a:p>
        </p:txBody>
      </p:sp>
      <p:sp>
        <p:nvSpPr>
          <p:cNvPr id="1577" name="Google Shape;1577;p166"/>
          <p:cNvSpPr txBox="1"/>
          <p:nvPr/>
        </p:nvSpPr>
        <p:spPr>
          <a:xfrm>
            <a:off x="393875" y="3788371"/>
            <a:ext cx="85098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000" tIns="36475" rIns="73000" bIns="36475" anchor="t" anchorCtr="0">
            <a:spAutoFit/>
          </a:bodyPr>
          <a:lstStyle/>
          <a:p>
            <a:pPr marL="457200" marR="0" lvl="0" indent="-309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8"/>
              <a:buFont typeface="Montserrat"/>
              <a:buChar char="●"/>
            </a:pPr>
            <a:r>
              <a:rPr lang="en" sz="1278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Physical electrons flow through the national grid as usual </a:t>
            </a:r>
            <a:r>
              <a:rPr lang="en" sz="127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1278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DPPA is a financial overlay</a:t>
            </a:r>
            <a:endParaRPr sz="1318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9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78"/>
              <a:buFont typeface="Montserrat"/>
              <a:buChar char="●"/>
            </a:pPr>
            <a:r>
              <a:rPr lang="en" sz="1278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generator's revenue = spot sales at FMP + CfD settlement with you</a:t>
            </a:r>
            <a:r>
              <a:rPr lang="en" sz="127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 factory</a:t>
            </a:r>
            <a:endParaRPr sz="1318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9750" algn="l" rtl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278"/>
              <a:buFont typeface="Montserrat"/>
              <a:buChar char="●"/>
            </a:pPr>
            <a:r>
              <a:rPr lang="en" sz="127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factory </a:t>
            </a:r>
            <a:r>
              <a:rPr lang="en" sz="1278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cost = the five-line EVN bill + the CfD settlement</a:t>
            </a:r>
            <a:endParaRPr sz="1318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2" name="Google Shape;1582;p167"/>
          <p:cNvGrpSpPr/>
          <p:nvPr/>
        </p:nvGrpSpPr>
        <p:grpSpPr>
          <a:xfrm>
            <a:off x="244142" y="63878"/>
            <a:ext cx="8728050" cy="745997"/>
            <a:chOff x="236700" y="63853"/>
            <a:chExt cx="8728050" cy="745997"/>
          </a:xfrm>
        </p:grpSpPr>
        <p:sp>
          <p:nvSpPr>
            <p:cNvPr id="1583" name="Google Shape;1583;p167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84" name="Google Shape;1584;p167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167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167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7" name="Google Shape;1587;p167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8" name="Google Shape;1588;p167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9" name="Google Shape;1589;p167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90" name="Google Shape;1590;p167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2 - The Five-Line Bill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Virtual DPPA Money Flow: Three Relationships, One Bill</a:t>
              </a:r>
              <a:endParaRPr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591" name="Google Shape;1591;p167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2" name="Google Shape;1592;p167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593" name="Google Shape;1593;p167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1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167"/>
          <p:cNvSpPr/>
          <p:nvPr/>
        </p:nvSpPr>
        <p:spPr>
          <a:xfrm>
            <a:off x="248613" y="1595970"/>
            <a:ext cx="1962000" cy="1115100"/>
          </a:xfrm>
          <a:prstGeom prst="roundRect">
            <a:avLst>
              <a:gd name="adj" fmla="val 16667"/>
            </a:avLst>
          </a:prstGeom>
          <a:solidFill>
            <a:srgbClr val="127A7A"/>
          </a:solidFill>
          <a:ln>
            <a:noFill/>
          </a:ln>
          <a:effectLst>
            <a:outerShdw blurRad="32999" dist="1897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0325" tIns="37675" rIns="60325" bIns="3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 GENERATOR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sells 100% of output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the spot market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6" name="Google Shape;1596;p167"/>
          <p:cNvSpPr/>
          <p:nvPr/>
        </p:nvSpPr>
        <p:spPr>
          <a:xfrm>
            <a:off x="3590999" y="1105277"/>
            <a:ext cx="1962000" cy="981300"/>
          </a:xfrm>
          <a:prstGeom prst="roundRect">
            <a:avLst>
              <a:gd name="adj" fmla="val 16667"/>
            </a:avLst>
          </a:prstGeom>
          <a:solidFill>
            <a:srgbClr val="0F293D"/>
          </a:solidFill>
          <a:ln>
            <a:noFill/>
          </a:ln>
          <a:effectLst>
            <a:outerShdw blurRad="32999" dist="1897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0325" tIns="37675" rIns="60325" bIns="3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VWEM SPOT MARKET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pays generator FMP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 kWh generated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7" name="Google Shape;1597;p167"/>
          <p:cNvSpPr/>
          <p:nvPr/>
        </p:nvSpPr>
        <p:spPr>
          <a:xfrm>
            <a:off x="3590999" y="2532747"/>
            <a:ext cx="1962000" cy="981300"/>
          </a:xfrm>
          <a:prstGeom prst="roundRect">
            <a:avLst>
              <a:gd name="adj" fmla="val 16667"/>
            </a:avLst>
          </a:prstGeom>
          <a:solidFill>
            <a:srgbClr val="0F293D"/>
          </a:solidFill>
          <a:ln>
            <a:noFill/>
          </a:ln>
          <a:effectLst>
            <a:outerShdw blurRad="32999" dist="1897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0325" tIns="37675" rIns="60325" bIns="3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EVN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meters, wheels, &amp; bills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DPPA customer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8" name="Google Shape;1598;p167"/>
          <p:cNvSpPr/>
          <p:nvPr/>
        </p:nvSpPr>
        <p:spPr>
          <a:xfrm>
            <a:off x="6933386" y="1595970"/>
            <a:ext cx="1962000" cy="1115100"/>
          </a:xfrm>
          <a:prstGeom prst="roundRect">
            <a:avLst>
              <a:gd name="adj" fmla="val 16667"/>
            </a:avLst>
          </a:prstGeom>
          <a:solidFill>
            <a:srgbClr val="2E9E5B"/>
          </a:solidFill>
          <a:ln>
            <a:noFill/>
          </a:ln>
          <a:effectLst>
            <a:outerShdw blurRad="32999" dist="1897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0325" tIns="37675" rIns="60325" bIns="37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5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FACTORY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pays EVN the DPPA bill;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3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settles CfD with generator</a:t>
            </a:r>
            <a:endParaRPr sz="115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9" name="Google Shape;1599;p167"/>
          <p:cNvSpPr txBox="1"/>
          <p:nvPr/>
        </p:nvSpPr>
        <p:spPr>
          <a:xfrm>
            <a:off x="1683521" y="1295672"/>
            <a:ext cx="1453500" cy="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37675" rIns="75425" bIns="37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energy -&gt; market (FMP)</a:t>
            </a:r>
            <a:endParaRPr sz="115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0" name="Google Shape;1600;p167"/>
          <p:cNvCxnSpPr>
            <a:endCxn id="1598" idx="2"/>
          </p:cNvCxnSpPr>
          <p:nvPr/>
        </p:nvCxnSpPr>
        <p:spPr>
          <a:xfrm rot="10800000" flipH="1">
            <a:off x="5553086" y="2711070"/>
            <a:ext cx="2361300" cy="694800"/>
          </a:xfrm>
          <a:prstGeom prst="bentConnector2">
            <a:avLst/>
          </a:prstGeom>
          <a:noFill/>
          <a:ln w="19050" cap="flat" cmpd="sng">
            <a:solidFill>
              <a:srgbClr val="B33A3A"/>
            </a:solidFill>
            <a:prstDash val="dot"/>
            <a:round/>
            <a:headEnd type="none" w="sm" len="sm"/>
            <a:tailEnd type="stealth" w="sm" len="sm"/>
          </a:ln>
          <a:effectLst>
            <a:outerShdw blurRad="32999" dist="16499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01" name="Google Shape;1601;p167"/>
          <p:cNvSpPr txBox="1"/>
          <p:nvPr/>
        </p:nvSpPr>
        <p:spPr>
          <a:xfrm rot="-513617">
            <a:off x="5603308" y="2645141"/>
            <a:ext cx="1525697" cy="20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37675" rIns="75425" bIns="37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6" i="0" u="none" strike="noStrike" cap="non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DPPA bill (5 lines)</a:t>
            </a:r>
            <a:endParaRPr sz="1155">
              <a:solidFill>
                <a:srgbClr val="127A7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2" name="Google Shape;1602;p167"/>
          <p:cNvCxnSpPr/>
          <p:nvPr/>
        </p:nvCxnSpPr>
        <p:spPr>
          <a:xfrm>
            <a:off x="2210448" y="2398922"/>
            <a:ext cx="4722900" cy="600"/>
          </a:xfrm>
          <a:prstGeom prst="bentConnector3">
            <a:avLst>
              <a:gd name="adj1" fmla="val 50000"/>
            </a:avLst>
          </a:prstGeom>
          <a:noFill/>
          <a:ln w="20975" cap="flat" cmpd="sng">
            <a:solidFill>
              <a:srgbClr val="E09A2B"/>
            </a:solidFill>
            <a:prstDash val="dash"/>
            <a:round/>
            <a:headEnd type="triangle" w="sm" len="sm"/>
            <a:tailEnd type="triangle" w="sm" len="sm"/>
          </a:ln>
          <a:effectLst>
            <a:outerShdw blurRad="32999" dist="16499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03" name="Google Shape;1603;p167"/>
          <p:cNvSpPr txBox="1"/>
          <p:nvPr/>
        </p:nvSpPr>
        <p:spPr>
          <a:xfrm>
            <a:off x="3808981" y="2086663"/>
            <a:ext cx="1598400" cy="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37675" rIns="75425" bIns="37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6" b="0" i="0" u="none" strike="noStrike" cap="none">
                <a:solidFill>
                  <a:srgbClr val="E09A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CfD settlement (two-way)</a:t>
            </a:r>
            <a:endParaRPr sz="1155"/>
          </a:p>
        </p:txBody>
      </p:sp>
      <p:sp>
        <p:nvSpPr>
          <p:cNvPr id="1604" name="Google Shape;1604;p167"/>
          <p:cNvSpPr txBox="1"/>
          <p:nvPr/>
        </p:nvSpPr>
        <p:spPr>
          <a:xfrm>
            <a:off x="393875" y="3788371"/>
            <a:ext cx="8509800" cy="8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000" tIns="36475" rIns="73000" bIns="36475" anchor="t" anchorCtr="0">
            <a:spAutoFit/>
          </a:bodyPr>
          <a:lstStyle/>
          <a:p>
            <a:pPr marL="457200" marR="0" lvl="0" indent="-309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8"/>
              <a:buFont typeface="Montserrat"/>
              <a:buChar char="●"/>
            </a:pPr>
            <a:r>
              <a:rPr lang="en" sz="1278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Physical electrons flow through the national grid as usual </a:t>
            </a:r>
            <a:r>
              <a:rPr lang="en" sz="127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1278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DPPA is a financial overlay</a:t>
            </a:r>
            <a:endParaRPr sz="1318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9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78"/>
              <a:buFont typeface="Montserrat"/>
              <a:buChar char="●"/>
            </a:pPr>
            <a:r>
              <a:rPr lang="en" sz="1278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generator's revenue = spot sales at FMP + CfD settlement with you</a:t>
            </a:r>
            <a:r>
              <a:rPr lang="en" sz="127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 factory</a:t>
            </a:r>
            <a:endParaRPr sz="1318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9750" algn="l" rtl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278"/>
              <a:buFont typeface="Montserrat"/>
              <a:buChar char="●"/>
            </a:pPr>
            <a:r>
              <a:rPr lang="en" sz="127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factory </a:t>
            </a:r>
            <a:r>
              <a:rPr lang="en" sz="1278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cost = the five-line EVN bill + the CfD settlement</a:t>
            </a:r>
            <a:endParaRPr sz="1318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5" name="Google Shape;1605;p167"/>
          <p:cNvCxnSpPr/>
          <p:nvPr/>
        </p:nvCxnSpPr>
        <p:spPr>
          <a:xfrm rot="10800000" flipH="1">
            <a:off x="569148" y="4987809"/>
            <a:ext cx="1252500" cy="1500"/>
          </a:xfrm>
          <a:prstGeom prst="bentConnector3">
            <a:avLst>
              <a:gd name="adj1" fmla="val 50000"/>
            </a:avLst>
          </a:prstGeom>
          <a:noFill/>
          <a:ln w="20975" cap="flat" cmpd="sng">
            <a:solidFill>
              <a:srgbClr val="E09A2B"/>
            </a:solidFill>
            <a:prstDash val="dash"/>
            <a:round/>
            <a:headEnd type="none" w="sm" len="sm"/>
            <a:tailEnd type="none" w="sm" len="sm"/>
          </a:ln>
          <a:effectLst>
            <a:outerShdw blurRad="32999" dist="16499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06" name="Google Shape;1606;p167"/>
          <p:cNvSpPr txBox="1"/>
          <p:nvPr/>
        </p:nvSpPr>
        <p:spPr>
          <a:xfrm>
            <a:off x="133450" y="4830663"/>
            <a:ext cx="4356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CFD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7" name="Google Shape;1607;p167"/>
          <p:cNvCxnSpPr>
            <a:endCxn id="1597" idx="3"/>
          </p:cNvCxnSpPr>
          <p:nvPr/>
        </p:nvCxnSpPr>
        <p:spPr>
          <a:xfrm flipH="1">
            <a:off x="5552999" y="2705997"/>
            <a:ext cx="2047800" cy="317400"/>
          </a:xfrm>
          <a:prstGeom prst="straightConnector1">
            <a:avLst/>
          </a:prstGeom>
          <a:noFill/>
          <a:ln w="19050" cap="flat" cmpd="sng">
            <a:solidFill>
              <a:srgbClr val="14645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08" name="Google Shape;1608;p167"/>
          <p:cNvSpPr txBox="1"/>
          <p:nvPr/>
        </p:nvSpPr>
        <p:spPr>
          <a:xfrm>
            <a:off x="6197050" y="3405875"/>
            <a:ext cx="15984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B33A3A"/>
                </a:solidFill>
                <a:latin typeface="Montserrat"/>
                <a:ea typeface="Montserrat"/>
                <a:cs typeface="Montserrat"/>
                <a:sym typeface="Montserrat"/>
              </a:rPr>
              <a:t>Electricity Flows</a:t>
            </a:r>
            <a:endParaRPr sz="850">
              <a:solidFill>
                <a:srgbClr val="B33A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9" name="Google Shape;1609;p167"/>
          <p:cNvCxnSpPr>
            <a:stCxn id="1595" idx="2"/>
          </p:cNvCxnSpPr>
          <p:nvPr/>
        </p:nvCxnSpPr>
        <p:spPr>
          <a:xfrm rot="-5400000" flipH="1">
            <a:off x="2084013" y="1856670"/>
            <a:ext cx="652500" cy="2361300"/>
          </a:xfrm>
          <a:prstGeom prst="bentConnector2">
            <a:avLst/>
          </a:prstGeom>
          <a:noFill/>
          <a:ln w="19050" cap="flat" cmpd="sng">
            <a:solidFill>
              <a:srgbClr val="B33A3A"/>
            </a:solidFill>
            <a:prstDash val="dot"/>
            <a:round/>
            <a:headEnd type="none" w="med" len="med"/>
            <a:tailEnd type="stealth" w="med" len="med"/>
          </a:ln>
        </p:spPr>
      </p:cxnSp>
      <p:sp>
        <p:nvSpPr>
          <p:cNvPr id="1610" name="Google Shape;1610;p167"/>
          <p:cNvSpPr txBox="1"/>
          <p:nvPr/>
        </p:nvSpPr>
        <p:spPr>
          <a:xfrm>
            <a:off x="1821650" y="3368063"/>
            <a:ext cx="13803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B33A3A"/>
                </a:solidFill>
                <a:latin typeface="Montserrat"/>
                <a:ea typeface="Montserrat"/>
                <a:cs typeface="Montserrat"/>
                <a:sym typeface="Montserrat"/>
              </a:rPr>
              <a:t>Electricity Flows</a:t>
            </a:r>
            <a:endParaRPr sz="850">
              <a:solidFill>
                <a:srgbClr val="B33A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11" name="Google Shape;1611;p167"/>
          <p:cNvCxnSpPr>
            <a:stCxn id="1595" idx="3"/>
            <a:endCxn id="1596" idx="1"/>
          </p:cNvCxnSpPr>
          <p:nvPr/>
        </p:nvCxnSpPr>
        <p:spPr>
          <a:xfrm rot="10800000" flipH="1">
            <a:off x="2210613" y="1595820"/>
            <a:ext cx="1380300" cy="557700"/>
          </a:xfrm>
          <a:prstGeom prst="straightConnector1">
            <a:avLst/>
          </a:prstGeom>
          <a:noFill/>
          <a:ln w="19050" cap="flat" cmpd="sng">
            <a:solidFill>
              <a:srgbClr val="14645C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12" name="Google Shape;1612;p167"/>
          <p:cNvSpPr txBox="1"/>
          <p:nvPr/>
        </p:nvSpPr>
        <p:spPr>
          <a:xfrm rot="-1274190">
            <a:off x="2246957" y="1847228"/>
            <a:ext cx="1525598" cy="209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425" tIns="37675" rIns="75425" bIns="37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6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Pays FMP per kWh</a:t>
            </a:r>
            <a:endParaRPr sz="1155">
              <a:solidFill>
                <a:srgbClr val="127A7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3" name="Google Shape;1613;p167"/>
          <p:cNvSpPr txBox="1"/>
          <p:nvPr/>
        </p:nvSpPr>
        <p:spPr>
          <a:xfrm>
            <a:off x="2162613" y="4844275"/>
            <a:ext cx="13803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Electricity Flows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14" name="Google Shape;1614;p167"/>
          <p:cNvCxnSpPr/>
          <p:nvPr/>
        </p:nvCxnSpPr>
        <p:spPr>
          <a:xfrm>
            <a:off x="3291438" y="5009500"/>
            <a:ext cx="569400" cy="0"/>
          </a:xfrm>
          <a:prstGeom prst="straightConnector1">
            <a:avLst/>
          </a:prstGeom>
          <a:noFill/>
          <a:ln w="19050" cap="flat" cmpd="sng">
            <a:solidFill>
              <a:srgbClr val="B33A3A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15" name="Google Shape;1615;p167"/>
          <p:cNvSpPr txBox="1"/>
          <p:nvPr/>
        </p:nvSpPr>
        <p:spPr>
          <a:xfrm>
            <a:off x="4130338" y="4844275"/>
            <a:ext cx="13803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Financial Flows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16" name="Google Shape;1616;p167"/>
          <p:cNvCxnSpPr/>
          <p:nvPr/>
        </p:nvCxnSpPr>
        <p:spPr>
          <a:xfrm rot="10800000" flipH="1">
            <a:off x="5195850" y="5009800"/>
            <a:ext cx="638100" cy="9900"/>
          </a:xfrm>
          <a:prstGeom prst="straightConnector1">
            <a:avLst/>
          </a:prstGeom>
          <a:noFill/>
          <a:ln w="19050" cap="flat" cmpd="sng">
            <a:solidFill>
              <a:srgbClr val="1A6B5C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1" name="Google Shape;1621;p168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622" name="Google Shape;1622;p168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23" name="Google Shape;1623;p168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4" name="Google Shape;1624;p168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5" name="Google Shape;1625;p168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6" name="Google Shape;1626;p168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7" name="Google Shape;1627;p168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8" name="Google Shape;1628;p168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29" name="Google Shape;1629;p168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2 - The Five-Line Bill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Monthly DPPA Settlement Has Five Lines</a:t>
              </a:r>
              <a:endParaRPr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630" name="Google Shape;1630;p168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1" name="Google Shape;1631;p168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632" name="Google Shape;1632;p168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1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34" name="Google Shape;1634;p168"/>
          <p:cNvGraphicFramePr/>
          <p:nvPr/>
        </p:nvGraphicFramePr>
        <p:xfrm>
          <a:off x="286486" y="969468"/>
          <a:ext cx="8450050" cy="258170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39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9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Line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Formula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Level (2025 reference)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Market energy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Q_Khc x FMP x k x K_pp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FMP avg ~1,426.6 VND/kWh; k~1.026; K_pp by voltage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DPPA service fee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Q_Khc x C_dppa_dv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360 VND/kWh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Balancing fee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Q_Khc x P_cl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163.3 VND/kWh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Residual purchase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(Load - Q_Khc) x EVN retail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TOU rates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CfD settlement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(Strike - FMP) x min(Q_c, Q_Khc)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</a:t>
                      </a: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wo-way: can be + or -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BE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35" name="Google Shape;1635;p168"/>
          <p:cNvSpPr txBox="1"/>
          <p:nvPr/>
        </p:nvSpPr>
        <p:spPr>
          <a:xfrm>
            <a:off x="147416" y="3670238"/>
            <a:ext cx="8523000" cy="10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200"/>
              <a:buFont typeface="Montserrat"/>
              <a:buChar char="●"/>
            </a:pPr>
            <a:r>
              <a:rPr lang="en" sz="12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Lines 1-4 are billed by EVN. Line 5 settles bilaterally with the generator under CfD contract.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222B33"/>
              </a:buClr>
              <a:buSzPts val="1200"/>
              <a:buFont typeface="Montserrat"/>
              <a:buChar char="●"/>
            </a:pPr>
            <a:r>
              <a:rPr lang="en" sz="12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Q_Khc = the renewable volume actually received and consumed (defined next slide).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222B33"/>
              </a:buClr>
              <a:buSzPts val="1200"/>
              <a:buFont typeface="Montserrat"/>
              <a:buChar char="●"/>
            </a:pPr>
            <a:r>
              <a:rPr lang="en" sz="12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CFMP = FMP x k: k converts the market price to the customer delivery point (price conversion, not a volume loss).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0" name="Google Shape;1640;p169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641" name="Google Shape;1641;p169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42" name="Google Shape;1642;p169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3" name="Google Shape;1643;p169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4" name="Google Shape;1644;p169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5" name="Google Shape;1645;p169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6" name="Google Shape;1646;p169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7" name="Google Shape;1647;p169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48" name="Google Shape;1648;p169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2 - The Five-Line Bill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Contracted Volumes &amp; Actual Electricity Consumption</a:t>
              </a:r>
              <a:endParaRPr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649" name="Google Shape;1649;p169"/>
            <p:cNvCxnSpPr/>
            <p:nvPr/>
          </p:nvCxnSpPr>
          <p:spPr>
            <a:xfrm rot="10800000">
              <a:off x="236700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0" name="Google Shape;1650;p169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51" name="Google Shape;1651;p169"/>
          <p:cNvSpPr/>
          <p:nvPr/>
        </p:nvSpPr>
        <p:spPr>
          <a:xfrm>
            <a:off x="459518" y="1315950"/>
            <a:ext cx="7282200" cy="1695900"/>
          </a:xfrm>
          <a:prstGeom prst="roundRect">
            <a:avLst>
              <a:gd name="adj" fmla="val 16667"/>
            </a:avLst>
          </a:prstGeom>
          <a:solidFill>
            <a:srgbClr val="EEF4F4"/>
          </a:solidFill>
          <a:ln w="12700" cap="flat" cmpd="sng">
            <a:solidFill>
              <a:srgbClr val="127A7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64575" tIns="73150" rIns="164575" bIns="73150" anchor="ctr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Q_adj = Q_meter / K_pp        delivered volume at your meter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Q_Khc = min(Load, Q_adj)      settled volume (lines 1-3)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Q_CfD = min(Q_c, Q_Khc)       CfD settles on received volume</a:t>
            </a:r>
            <a:endParaRPr/>
          </a:p>
        </p:txBody>
      </p:sp>
      <p:sp>
        <p:nvSpPr>
          <p:cNvPr id="1652" name="Google Shape;1652;p169"/>
          <p:cNvSpPr txBox="1"/>
          <p:nvPr/>
        </p:nvSpPr>
        <p:spPr>
          <a:xfrm>
            <a:off x="393875" y="3238525"/>
            <a:ext cx="8685000" cy="15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Grid losses are reflected through coordinated volume and price conversions: </a:t>
            </a:r>
            <a:b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K_pp converts generator-meter output into buyer-side credited volume, while </a:t>
            </a:r>
            <a:b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 and K_pp convert FMP into the corresponding buyer-side market-energy price.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If the plant generates more than you consume in an hour, the excess earns the generator spot revenue only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; </a:t>
            </a:r>
            <a:r>
              <a:rPr lang="en" sz="13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 is NOT billed to you and does NOT earn CfD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300"/>
              <a:buFont typeface="Montserrat"/>
              <a:buChar char="●"/>
            </a:pPr>
            <a:r>
              <a:rPr lang="en" sz="13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Practical consequence: 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130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ontracted volume (Q_c) above your real consumption buys nothing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3" name="Google Shape;1653;p169"/>
          <p:cNvSpPr txBox="1"/>
          <p:nvPr/>
        </p:nvSpPr>
        <p:spPr>
          <a:xfrm>
            <a:off x="363039" y="878250"/>
            <a:ext cx="694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Which volume? You settle only on what you actually consume</a:t>
            </a:r>
            <a:endParaRPr sz="1200" b="1">
              <a:solidFill>
                <a:srgbClr val="127A7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54" name="Google Shape;1654;p169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5" name="Google Shape;1655;p1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0" name="Google Shape;1660;p170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661" name="Google Shape;1661;p170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62" name="Google Shape;1662;p170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3" name="Google Shape;1663;p170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4" name="Google Shape;1664;p170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5" name="Google Shape;1665;p170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6" name="Google Shape;1666;p170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7" name="Google Shape;1667;p170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68" name="Google Shape;1668;p170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2 - The Five-Line Bill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Simulation: Industrial Park Buys 6,000 MWh/month</a:t>
              </a:r>
              <a:endParaRPr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669" name="Google Shape;1669;p170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0" name="Google Shape;1670;p170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1671" name="Google Shape;1671;p170"/>
          <p:cNvGraphicFramePr/>
          <p:nvPr/>
        </p:nvGraphicFramePr>
        <p:xfrm>
          <a:off x="453128" y="984674"/>
          <a:ext cx="4731950" cy="3663625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217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Parameter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Symbol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Value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Consumption = received RE volume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Q_KH = Q_Khc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6,000,000 kWh/mo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Contracted CfD volume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Q_c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6,000,000 kWh/mo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CfD strike price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P_c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1,300 VND/kWh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Market price (monthly avg)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FMP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1,200 VND/kWh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Price conversion factor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1.026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Loss factor (110 kV)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K_pp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1.008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DPPA service fee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C_dppa_dv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360 VND/kWh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Balancing fee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P_cl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163.3 VND/kWh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Avg retail price (residual)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P1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2,204 VND/kWh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72" name="Google Shape;1672;p170"/>
          <p:cNvSpPr txBox="1"/>
          <p:nvPr/>
        </p:nvSpPr>
        <p:spPr>
          <a:xfrm>
            <a:off x="5262110" y="1008155"/>
            <a:ext cx="3638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Scenario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3" name="Google Shape;1673;p170"/>
          <p:cNvSpPr txBox="1"/>
          <p:nvPr/>
        </p:nvSpPr>
        <p:spPr>
          <a:xfrm>
            <a:off x="5166710" y="1345080"/>
            <a:ext cx="3733500" cy="17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 50 MW solar plant contracts its full output to one industrial customer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Consumption exactly equals delivered RE volume - no residual EVN purchase this month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Strike just 100 VND above market - watch what the fees do</a:t>
            </a:r>
            <a:endParaRPr sz="1300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74" name="Google Shape;1674;p170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5" name="Google Shape;1675;p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6" name="Google Shape;1676;p170"/>
          <p:cNvSpPr txBox="1"/>
          <p:nvPr/>
        </p:nvSpPr>
        <p:spPr>
          <a:xfrm>
            <a:off x="504775" y="4659046"/>
            <a:ext cx="200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900" i="1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Source: EAVCED public training</a:t>
            </a:r>
            <a:endParaRPr sz="1000" i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1" name="Google Shape;1681;p171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682" name="Google Shape;1682;p171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83" name="Google Shape;1683;p171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4" name="Google Shape;1684;p171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5" name="Google Shape;1685;p171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6" name="Google Shape;1686;p171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7" name="Google Shape;1687;p171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8" name="Google Shape;1688;p171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89" name="Google Shape;1689;p171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2 - The Five-Line Bill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Five Lines, Computed</a:t>
              </a:r>
              <a:endParaRPr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690" name="Google Shape;1690;p171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1" name="Google Shape;1691;p171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692" name="Google Shape;1692;p171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3" name="Google Shape;1693;p1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4" name="Google Shape;1694;p171"/>
          <p:cNvGraphicFramePr/>
          <p:nvPr/>
        </p:nvGraphicFramePr>
        <p:xfrm>
          <a:off x="454280" y="10760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265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Line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Calculation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VND/month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  Market energy (C_DN)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6,000,000 x 1,200 x 1.026 x 1.008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7,446,297,600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Service fee (C_dppa)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6,000,000 x 360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2,160,000,000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 Balancing fee (C_cl)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6,000,000 x 163.3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979,800,000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 Residual (C_bl)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 kWh x 2,204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 EVN bill (C_EVN)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lines 1 + 2 + 3 + 4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10,586,097,600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 CfD settlement (C_CfD)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(1,300 - 1,200) x 6,000,000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600,000,000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B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 TOTAL (C_KH)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C_EVN + C_CfD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11,186,097,600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95" name="Google Shape;1695;p171"/>
          <p:cNvSpPr txBox="1"/>
          <p:nvPr/>
        </p:nvSpPr>
        <p:spPr>
          <a:xfrm>
            <a:off x="252333" y="3686620"/>
            <a:ext cx="8550900" cy="7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079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Montserrat"/>
              <a:buChar char="●"/>
            </a:pPr>
            <a:r>
              <a:rPr lang="en" sz="12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Effective cost = 11,186,097,600 / 6,000,000 = ~1,864 VND/kWh for fully renewable supply (</a:t>
            </a:r>
            <a:r>
              <a:rPr lang="en" sz="12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versus </a:t>
            </a:r>
            <a:r>
              <a:rPr lang="en" sz="12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~2,204</a:t>
            </a:r>
            <a:r>
              <a:rPr lang="en" sz="12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 </a:t>
            </a:r>
            <a:r>
              <a:rPr lang="en" sz="12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VND avg retail in the example)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7975" algn="l" rtl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250"/>
              <a:buFont typeface="Montserrat"/>
              <a:buChar char="●"/>
            </a:pPr>
            <a:r>
              <a:rPr lang="en" sz="125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Generator side: 6,048,000 kWh x 1,200 (spot) + 600,000,000 (CfD) = 7,857,600,000 VND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72"/>
          <p:cNvSpPr/>
          <p:nvPr/>
        </p:nvSpPr>
        <p:spPr>
          <a:xfrm>
            <a:off x="431323" y="3865058"/>
            <a:ext cx="8459400" cy="830100"/>
          </a:xfrm>
          <a:prstGeom prst="roundRect">
            <a:avLst>
              <a:gd name="adj" fmla="val 16667"/>
            </a:avLst>
          </a:prstGeom>
          <a:solidFill>
            <a:srgbClr val="176B6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Virtual DPPA is rarely a Day-1 discount. Its value</a:t>
            </a:r>
            <a:r>
              <a:rPr lang="en" b="1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 comes from</a:t>
            </a:r>
            <a:r>
              <a:rPr lang="en" sz="14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 price certainty </a:t>
            </a:r>
            <a:r>
              <a:rPr lang="en" b="1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versus </a:t>
            </a:r>
            <a:r>
              <a:rPr lang="en" sz="14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EVN escalation</a:t>
            </a:r>
            <a:r>
              <a:rPr lang="en" b="1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being able to cover 100% of annual electricity demand with contracted renewable generation, and utilizing </a:t>
            </a:r>
            <a:r>
              <a:rPr lang="en" sz="14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credible renewable claims.</a:t>
            </a:r>
            <a:endParaRPr>
              <a:solidFill>
                <a:srgbClr val="E77A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01" name="Google Shape;1701;p172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p1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03" name="Google Shape;1703;p172"/>
          <p:cNvGraphicFramePr/>
          <p:nvPr/>
        </p:nvGraphicFramePr>
        <p:xfrm>
          <a:off x="431317" y="1017908"/>
          <a:ext cx="5287075" cy="2778825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308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Component (per matched kWh)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VND/kWh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USD/kWh (cents)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Market energy at 2025 avg FMP x k x K_pp (22-110kV)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~1,504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~6.0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DPPA service fee (C_dppa_dv)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360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Balancing fee (P_cl)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163.3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Delivered cost before CfD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~2,027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~8.1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04" name="Google Shape;1704;p172"/>
          <p:cNvSpPr txBox="1"/>
          <p:nvPr/>
        </p:nvSpPr>
        <p:spPr>
          <a:xfrm>
            <a:off x="5709486" y="1017895"/>
            <a:ext cx="3181200" cy="24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523 VND/kWh of fixed fees applies to every matched kWh, regardless of your strike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They are set by regulation, not negotiation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Compare ~2,027 VND delivered (pre-CfD) with your own TOU mix - for many factories that is already near or above average grid cost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05" name="Google Shape;1705;p172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706" name="Google Shape;1706;p172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07" name="Google Shape;1707;p172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8" name="Google Shape;1708;p172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9" name="Google Shape;1709;p172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0" name="Google Shape;1710;p172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1" name="Google Shape;1711;p172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2" name="Google Shape;1712;p172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3" name="Google Shape;1713;p172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2 - The Five-Line Bill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Your Monthly Settlement Has Five Lines</a:t>
              </a:r>
              <a:endParaRPr sz="21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714" name="Google Shape;1714;p172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5" name="Google Shape;1715;p172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0" name="Google Shape;1720;p173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w="57150" cap="flat" cmpd="sng">
            <a:solidFill>
              <a:srgbClr val="1B786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21" name="Google Shape;1721;p173"/>
          <p:cNvSpPr txBox="1"/>
          <p:nvPr/>
        </p:nvSpPr>
        <p:spPr>
          <a:xfrm>
            <a:off x="4572000" y="1440675"/>
            <a:ext cx="45720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3: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CfD Mechanics: What Drives Your Quoted Price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22" name="Google Shape;1722;p173"/>
          <p:cNvPicPr preferRelativeResize="0"/>
          <p:nvPr/>
        </p:nvPicPr>
        <p:blipFill rotWithShape="1">
          <a:blip r:embed="rId3">
            <a:alphaModFix/>
          </a:blip>
          <a:srcRect l="6658" t="3134" r="48140" b="13296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173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w="9525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4" name="Google Shape;1724;p173" title="CEBA new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5" name="Google Shape;1725;p1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0" name="Google Shape;1730;p174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731" name="Google Shape;1731;p174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32" name="Google Shape;1732;p174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3" name="Google Shape;1733;p174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4" name="Google Shape;1734;p174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5" name="Google Shape;1735;p174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6" name="Google Shape;1736;p174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7" name="Google Shape;1737;p174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38" name="Google Shape;1738;p174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3 - CfD Mechanics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CfD Is Two-Way: Certainty, Not Automatic Savings</a:t>
              </a:r>
              <a:endParaRPr sz="19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1739" name="Google Shape;1739;p174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0" name="Google Shape;1740;p174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741" name="Google Shape;1741;p174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" name="Google Shape;1742;p1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174"/>
          <p:cNvSpPr/>
          <p:nvPr/>
        </p:nvSpPr>
        <p:spPr>
          <a:xfrm>
            <a:off x="452050" y="1392175"/>
            <a:ext cx="4731600" cy="777300"/>
          </a:xfrm>
          <a:prstGeom prst="roundRect">
            <a:avLst>
              <a:gd name="adj" fmla="val 16667"/>
            </a:avLst>
          </a:prstGeom>
          <a:solidFill>
            <a:srgbClr val="EEF4F4"/>
          </a:solidFill>
          <a:ln w="12700" cap="flat" cmpd="sng">
            <a:solidFill>
              <a:srgbClr val="127A7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64575" tIns="73150" rIns="164575" bIns="73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 i="0" u="none" strike="noStrike" cap="non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CfD cash flow = (Strike - FMP) x Q_CfD</a:t>
            </a:r>
            <a:endParaRPr/>
          </a:p>
        </p:txBody>
      </p:sp>
      <p:graphicFrame>
        <p:nvGraphicFramePr>
          <p:cNvPr id="1744" name="Google Shape;1744;p174"/>
          <p:cNvGraphicFramePr/>
          <p:nvPr/>
        </p:nvGraphicFramePr>
        <p:xfrm>
          <a:off x="452045" y="2489455"/>
          <a:ext cx="4731600" cy="1261875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202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Market condition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Who pays whom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FMP below strike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You top up the generator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FMP above strike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Generator pays you back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45" name="Google Shape;1745;p174"/>
          <p:cNvSpPr txBox="1"/>
          <p:nvPr/>
        </p:nvSpPr>
        <p:spPr>
          <a:xfrm>
            <a:off x="5276250" y="1392175"/>
            <a:ext cx="3691800" cy="27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Net effect: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renewable energy cost is locked near the strike (+ fees), whatever the market does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2025 reference: FMP averaged ~1,427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 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VND/kWh with strong hourly volatility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the CfD removes that volatility from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budget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 strike below expected average FMP would mean expected receipts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but no developer can finance that (Module 4)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0" name="Google Shape;1750;p175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751" name="Google Shape;1751;p175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52" name="Google Shape;1752;p175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3" name="Google Shape;1753;p175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4" name="Google Shape;1754;p175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5" name="Google Shape;1755;p175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6" name="Google Shape;1756;p175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7" name="Google Shape;1757;p175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58" name="Google Shape;1758;p175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3 - CfD Mechanics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Strike Escalation &amp; The Year 1 Reality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759" name="Google Shape;1759;p175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0" name="Google Shape;1760;p175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761" name="Google Shape;1761;p175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2" name="Google Shape;1762;p1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3" name="Google Shape;1763;p175"/>
          <p:cNvSpPr txBox="1"/>
          <p:nvPr/>
        </p:nvSpPr>
        <p:spPr>
          <a:xfrm>
            <a:off x="396013" y="1225275"/>
            <a:ext cx="4090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Strike escalation (e.g., 4%/yr)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4" name="Google Shape;1764;p175"/>
          <p:cNvSpPr txBox="1"/>
          <p:nvPr/>
        </p:nvSpPr>
        <p:spPr>
          <a:xfrm>
            <a:off x="396013" y="1557005"/>
            <a:ext cx="4090800" cy="17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Escalating strikes improve the seller's and lender's lifetime economics...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...but do nothing for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Year 1 cost and compound against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BUYER 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later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Negotiate the escalation index as hard as the starting strike (fixed VND vs CPI vs USD-linked)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5" name="Google Shape;1765;p175"/>
          <p:cNvSpPr txBox="1"/>
          <p:nvPr/>
        </p:nvSpPr>
        <p:spPr>
          <a:xfrm>
            <a:off x="4793688" y="1225275"/>
            <a:ext cx="3954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What Year 1 usually looks like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6" name="Google Shape;1766;p175"/>
          <p:cNvSpPr txBox="1"/>
          <p:nvPr/>
        </p:nvSpPr>
        <p:spPr>
          <a:xfrm>
            <a:off x="4793700" y="1557000"/>
            <a:ext cx="4090800" cy="18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most realistic structures, Year 1 DPPA cost is at or above BAU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Savings build as EVN tariffs escalate (~4%/yr) against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BUYER </a:t>
            </a: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locked strike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Advice: E</a:t>
            </a:r>
            <a:r>
              <a:rPr lang="en" sz="13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valuate on 10-year and lifetime cumulative cost</a:t>
            </a:r>
            <a:r>
              <a:rPr lang="en"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not </a:t>
            </a:r>
            <a:r>
              <a:rPr lang="en" sz="13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Year 1 alone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7" name="Google Shape;1767;p175"/>
          <p:cNvSpPr/>
          <p:nvPr/>
        </p:nvSpPr>
        <p:spPr>
          <a:xfrm>
            <a:off x="395850" y="3609092"/>
            <a:ext cx="8352300" cy="710700"/>
          </a:xfrm>
          <a:prstGeom prst="roundRect">
            <a:avLst>
              <a:gd name="adj" fmla="val 16667"/>
            </a:avLst>
          </a:prstGeom>
          <a:solidFill>
            <a:srgbClr val="176B6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Internal 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Budget 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uestion to Consider: 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we accept a modest Year 1 premium to cap 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15~25 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year exposure?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2" name="Google Shape;1772;p176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773" name="Google Shape;1773;p176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74" name="Google Shape;1774;p176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5" name="Google Shape;1775;p176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6" name="Google Shape;1776;p176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7" name="Google Shape;1777;p176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8" name="Google Shape;1778;p176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9" name="Google Shape;1779;p176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80" name="Google Shape;1780;p176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3 - CfD Mechanics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Contract Volume VS Your Load Shape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781" name="Google Shape;1781;p176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2" name="Google Shape;1782;p176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783" name="Google Shape;1783;p176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4" name="Google Shape;1784;p1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65987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5" name="Google Shape;1785;p176"/>
          <p:cNvSpPr txBox="1"/>
          <p:nvPr/>
        </p:nvSpPr>
        <p:spPr>
          <a:xfrm>
            <a:off x="396525" y="1107850"/>
            <a:ext cx="7911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Solar generat</a:t>
            </a:r>
            <a:r>
              <a:rPr lang="en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ion peaks </a:t>
            </a:r>
            <a:r>
              <a:rPr lang="en" sz="14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midday</a:t>
            </a:r>
            <a:r>
              <a:rPr lang="en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, but the </a:t>
            </a:r>
            <a:r>
              <a:rPr lang="en" sz="14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factory runs its own shape. The overlap</a:t>
            </a:r>
            <a:r>
              <a:rPr lang="en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—</a:t>
            </a:r>
            <a:r>
              <a:rPr lang="en" sz="14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hour by hour</a:t>
            </a:r>
            <a:r>
              <a:rPr lang="en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-</a:t>
            </a:r>
            <a:r>
              <a:rPr lang="en" sz="14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is </a:t>
            </a:r>
            <a:r>
              <a:rPr lang="en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what matters most.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786" name="Google Shape;1786;p176"/>
          <p:cNvGraphicFramePr/>
          <p:nvPr/>
        </p:nvGraphicFramePr>
        <p:xfrm>
          <a:off x="400170" y="1716625"/>
          <a:ext cx="8425150" cy="186560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234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If you...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Then…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 consequence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Over-contract </a:t>
                      </a:r>
                      <a:endParaRPr sz="125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(Q_c &gt; consumption)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CfD caps at consumed volume - excess earns nothing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You paid contract terms for volume you ca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n’t 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settle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Match contract to hourly overlap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Every contracted kWh settles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Efficient</a:t>
                      </a:r>
                      <a:r>
                        <a:rPr lang="en" sz="125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; this is</a:t>
                      </a:r>
                      <a:r>
                        <a:rPr lang="en" sz="125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the target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Under-contract </a:t>
                      </a:r>
                      <a:endParaRPr sz="125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(Q_c &lt; overlap)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More residual purchased from EVN at TOU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Less price certainty, smaller renewable claim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87" name="Google Shape;1787;p176"/>
          <p:cNvSpPr txBox="1"/>
          <p:nvPr/>
        </p:nvSpPr>
        <p:spPr>
          <a:xfrm>
            <a:off x="323025" y="3786200"/>
            <a:ext cx="8562000" cy="8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Ask every developer for an hourly (8760 hour) matching analysis against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</a:t>
            </a: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meter data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not an annual percentage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Batteries can shift the overlap window but add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CAPEX</a:t>
            </a: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tariff must carry (see the case study)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2" name="Google Shape;1792;p177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w="57150" cap="flat" cmpd="sng">
            <a:solidFill>
              <a:srgbClr val="1B786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93" name="Google Shape;1793;p177"/>
          <p:cNvSpPr txBox="1"/>
          <p:nvPr/>
        </p:nvSpPr>
        <p:spPr>
          <a:xfrm>
            <a:off x="4572000" y="1440675"/>
            <a:ext cx="45720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4: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Developer Economics and the Three Gates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94" name="Google Shape;1794;p177"/>
          <p:cNvPicPr preferRelativeResize="0"/>
          <p:nvPr/>
        </p:nvPicPr>
        <p:blipFill rotWithShape="1">
          <a:blip r:embed="rId3">
            <a:alphaModFix/>
          </a:blip>
          <a:srcRect l="6658" t="3134" r="48140" b="13296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177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w="9525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6" name="Google Shape;1796;p177" title="CEBA new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7" name="Google Shape;1797;p1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2" name="Google Shape;1802;p178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803" name="Google Shape;1803;p178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04" name="Google Shape;1804;p178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5" name="Google Shape;1805;p178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6" name="Google Shape;1806;p178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7" name="Google Shape;1807;p178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8" name="Google Shape;1808;p178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9" name="Google Shape;1809;p178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10" name="Google Shape;1810;p178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4 - Developer Economics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Developer’s Perspective on Economics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811" name="Google Shape;1811;p178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2" name="Google Shape;1812;p178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813" name="Google Shape;1813;p178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4" name="Google Shape;1814;p1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Google Shape;1815;p178"/>
          <p:cNvSpPr/>
          <p:nvPr/>
        </p:nvSpPr>
        <p:spPr>
          <a:xfrm>
            <a:off x="454275" y="1039125"/>
            <a:ext cx="5093700" cy="1751700"/>
          </a:xfrm>
          <a:prstGeom prst="roundRect">
            <a:avLst>
              <a:gd name="adj" fmla="val 16667"/>
            </a:avLst>
          </a:prstGeom>
          <a:solidFill>
            <a:srgbClr val="EEF4F4"/>
          </a:solidFill>
          <a:ln w="9375" cap="flat" cmpd="sng">
            <a:solidFill>
              <a:srgbClr val="127A7A"/>
            </a:solidFill>
            <a:prstDash val="solid"/>
            <a:round/>
            <a:headEnd type="none" w="sm" len="sm"/>
            <a:tailEnd type="none" w="sm" len="sm"/>
          </a:ln>
          <a:effectLst>
            <a:outerShdw blurRad="29555" dist="16994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Revenue</a:t>
            </a:r>
            <a:r>
              <a:rPr lang="en" sz="160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Q_meter x FMP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600" i="1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spot sales (volatile)</a:t>
            </a:r>
            <a:br>
              <a:rPr lang="en" sz="1600" i="1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 i="1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 </a:t>
            </a:r>
            <a:endParaRPr sz="1600" i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48"/>
              </a:spcBef>
              <a:spcAft>
                <a:spcPts val="0"/>
              </a:spcAft>
              <a:buNone/>
            </a:pPr>
            <a:r>
              <a:rPr lang="en" sz="160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(Strike - FMP) x Q_CfD  	</a:t>
            </a:r>
            <a:endParaRPr sz="16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828800" marR="0" lvl="0" indent="0" algn="l" rtl="0">
              <a:lnSpc>
                <a:spcPct val="100000"/>
              </a:lnSpc>
              <a:spcBef>
                <a:spcPts val="148"/>
              </a:spcBef>
              <a:spcAft>
                <a:spcPts val="0"/>
              </a:spcAft>
              <a:buNone/>
            </a:pPr>
            <a:r>
              <a:rPr lang="en" sz="1600" i="1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CfD with you</a:t>
            </a:r>
            <a:r>
              <a:rPr lang="en" sz="1600" i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 factory </a:t>
            </a:r>
            <a:r>
              <a:rPr lang="en" sz="1600" i="1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(stabiliser)</a:t>
            </a:r>
            <a:endParaRPr sz="1600" i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6" name="Google Shape;1816;p178"/>
          <p:cNvSpPr txBox="1"/>
          <p:nvPr/>
        </p:nvSpPr>
        <p:spPr>
          <a:xfrm>
            <a:off x="5642025" y="1196161"/>
            <a:ext cx="3165900" cy="16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50" tIns="33775" rIns="67550" bIns="33775" anchor="t" anchorCtr="0">
            <a:spAutoFit/>
          </a:bodyPr>
          <a:lstStyle/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CfD converts volatile spot revenue into a near-fixed price on matched volume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strike IS the developer's bankable revenue line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en" sz="12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Everything the lender checks flows from it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817" name="Google Shape;1817;p178"/>
          <p:cNvGraphicFramePr/>
          <p:nvPr/>
        </p:nvGraphicFramePr>
        <p:xfrm>
          <a:off x="461982" y="2920461"/>
          <a:ext cx="5093750" cy="1988820"/>
        </p:xfrm>
        <a:graphic>
          <a:graphicData uri="http://schemas.openxmlformats.org/drawingml/2006/table">
            <a:tbl>
              <a:tblPr>
                <a:noFill/>
                <a:tableStyleId>{121033D3-121A-4ABF-A30B-B91F07BF1167}</a:tableStyleId>
              </a:tblPr>
              <a:tblGrid>
                <a:gridCol w="21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Capital Structure</a:t>
                      </a:r>
                      <a:endParaRPr sz="11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645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70% Debt / 30% Equity</a:t>
                      </a:r>
                      <a:endParaRPr sz="1100">
                        <a:solidFill>
                          <a:srgbClr val="1F1F1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Debt Term</a:t>
                      </a:r>
                      <a:endParaRPr sz="11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645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~10 years</a:t>
                      </a:r>
                      <a:endParaRPr sz="1100">
                        <a:solidFill>
                          <a:srgbClr val="1F1F1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Debt Interest Rate (VND)</a:t>
                      </a:r>
                      <a:endParaRPr sz="11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645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~8.5% per year</a:t>
                      </a:r>
                      <a:endParaRPr sz="1100">
                        <a:solidFill>
                          <a:srgbClr val="1F1F1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Debt Interest Rate (USD)</a:t>
                      </a:r>
                      <a:endParaRPr sz="11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645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~5% per year (International)</a:t>
                      </a:r>
                      <a:endParaRPr sz="1100">
                        <a:solidFill>
                          <a:srgbClr val="1F1F1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Equity Target Return</a:t>
                      </a:r>
                      <a:endParaRPr sz="11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645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12 - 15%+ IRR</a:t>
                      </a:r>
                      <a:endParaRPr sz="1100">
                        <a:solidFill>
                          <a:srgbClr val="1F1F1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CIT Incentives</a:t>
                      </a:r>
                      <a:endParaRPr sz="1100" b="1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645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 years exempt + 9 years at half rate</a:t>
                      </a:r>
                      <a:endParaRPr sz="1100">
                        <a:solidFill>
                          <a:srgbClr val="1F1F1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14300" marR="114300" marT="76200" marB="76200">
                    <a:lnL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2" name="Google Shape;1822;p179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823" name="Google Shape;1823;p179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24" name="Google Shape;1824;p179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5" name="Google Shape;1825;p179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6" name="Google Shape;1826;p179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7" name="Google Shape;1827;p179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8" name="Google Shape;1828;p179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9" name="Google Shape;1829;p179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30" name="Google Shape;1830;p179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4 - Developer Economics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Deal Must Pass Three Gates to Proceed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831" name="Google Shape;1831;p179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2" name="Google Shape;1832;p179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833" name="Google Shape;1833;p179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4" name="Google Shape;1834;p1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5" name="Google Shape;1835;p179"/>
          <p:cNvGraphicFramePr/>
          <p:nvPr/>
        </p:nvGraphicFramePr>
        <p:xfrm>
          <a:off x="454273" y="1352177"/>
          <a:ext cx="8358325" cy="158123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106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6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6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Gate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2F64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Who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2F64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2F64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Strike pressure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2F64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 Buyer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You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Cumulative cost &lt;= BAU over 10 yr AND lifetime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</a:t>
                      </a: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ushes strike DOWN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Seller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Equity IRR &gt;= 12-15%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</a:t>
                      </a: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ushes strike UP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</a:t>
                      </a: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</a:t>
                      </a: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ender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Bank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Minimum DSCR &gt;= ~1.20x every year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</a:t>
                      </a: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ushes strike UP (hardest gate)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36" name="Google Shape;1836;p179"/>
          <p:cNvSpPr txBox="1"/>
          <p:nvPr/>
        </p:nvSpPr>
        <p:spPr>
          <a:xfrm>
            <a:off x="400125" y="3211875"/>
            <a:ext cx="8358300" cy="9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DSCR = 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				, </a:t>
            </a:r>
            <a: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computed for every year of the loan</a:t>
            </a:r>
            <a:b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One 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CAPEX heavy year (</a:t>
            </a:r>
            <a: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e.g., a battery replacement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can sink the whole financing even if averages look fine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negotiation window is the strike range where all three gates 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pass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”; but </a:t>
            </a:r>
            <a:r>
              <a:rPr lang="en" sz="1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it can be empty (see case study)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7" name="Google Shape;1837;p179"/>
          <p:cNvSpPr/>
          <p:nvPr/>
        </p:nvSpPr>
        <p:spPr>
          <a:xfrm>
            <a:off x="454275" y="4308376"/>
            <a:ext cx="7913400" cy="442200"/>
          </a:xfrm>
          <a:prstGeom prst="roundRect">
            <a:avLst>
              <a:gd name="adj" fmla="val 16667"/>
            </a:avLst>
          </a:prstGeom>
          <a:solidFill>
            <a:srgbClr val="176B6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strike below the developer's bankability floor does not mean a cheap deal</a:t>
            </a:r>
            <a:r>
              <a:rPr lang="en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; </a:t>
            </a:r>
            <a:endParaRPr sz="13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u="none" strike="noStrike" cap="none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it means no project.</a:t>
            </a:r>
            <a:endParaRPr sz="13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8" name="Google Shape;1838;p179"/>
          <p:cNvSpPr txBox="1"/>
          <p:nvPr/>
        </p:nvSpPr>
        <p:spPr>
          <a:xfrm>
            <a:off x="400125" y="942563"/>
            <a:ext cx="555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THREE GATES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9" name="Google Shape;1839;p179"/>
          <p:cNvSpPr txBox="1"/>
          <p:nvPr/>
        </p:nvSpPr>
        <p:spPr>
          <a:xfrm>
            <a:off x="1517725" y="3344975"/>
            <a:ext cx="21462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Debt Service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40" name="Google Shape;1840;p179"/>
          <p:cNvCxnSpPr/>
          <p:nvPr/>
        </p:nvCxnSpPr>
        <p:spPr>
          <a:xfrm>
            <a:off x="1517725" y="3344975"/>
            <a:ext cx="214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1" name="Google Shape;1841;p179"/>
          <p:cNvSpPr txBox="1"/>
          <p:nvPr/>
        </p:nvSpPr>
        <p:spPr>
          <a:xfrm>
            <a:off x="1517725" y="3125125"/>
            <a:ext cx="21462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Cash available for Debt service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6" name="Google Shape;1846;p180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847" name="Google Shape;1847;p180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48" name="Google Shape;1848;p180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9" name="Google Shape;1849;p180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0" name="Google Shape;1850;p180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1" name="Google Shape;1851;p180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2" name="Google Shape;1852;p180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3" name="Google Shape;1853;p180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54" name="Google Shape;1854;p180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4 - Developer Economics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Key Lifecycle Items The Tariff Must Contain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855" name="Google Shape;1855;p180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6" name="Google Shape;1856;p180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857" name="Google Shape;1857;p180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8" name="Google Shape;1858;p1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59" name="Google Shape;1859;p180"/>
          <p:cNvGraphicFramePr/>
          <p:nvPr/>
        </p:nvGraphicFramePr>
        <p:xfrm>
          <a:off x="453115" y="1110455"/>
          <a:ext cx="8385775" cy="257200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164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Item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Typical assumption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Implication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PV degradation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~0.5%/yr output decline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Matched volume shrinks; lost kWh repurchased from EVN at TOU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Battery replacement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Large capex every 8-10 years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 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highly impact 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DSCR in that 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replacement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year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CIT holiday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 yr exempt + 9 yr half rate (RE projects)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Improves developer economics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FX exposure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VND strike vs USD capex/debt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USD-linked terms shift FX 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risks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; price it consciously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60" name="Google Shape;1860;p180"/>
          <p:cNvSpPr txBox="1"/>
          <p:nvPr/>
        </p:nvSpPr>
        <p:spPr>
          <a:xfrm>
            <a:off x="283125" y="3983065"/>
            <a:ext cx="83859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The above terms are key components of the tariff and are included even when they are absent from the term sheet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300"/>
              <a:buFont typeface="Montserrat"/>
              <a:buChar char="●"/>
            </a:pPr>
            <a:r>
              <a:rPr lang="en" sz="1300" i="0" u="none" strike="noStrike" cap="none">
                <a:latin typeface="Montserrat"/>
                <a:ea typeface="Montserrat"/>
                <a:cs typeface="Montserrat"/>
                <a:sym typeface="Montserrat"/>
              </a:rPr>
              <a:t>These rarely appear in headline term sheets, but each one moves the bankable strike floor and therefore your price.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5" name="Google Shape;1865;p181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w="57150" cap="flat" cmpd="sng">
            <a:solidFill>
              <a:srgbClr val="1B786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66" name="Google Shape;1866;p181"/>
          <p:cNvSpPr txBox="1"/>
          <p:nvPr/>
        </p:nvSpPr>
        <p:spPr>
          <a:xfrm>
            <a:off x="4572000" y="1440675"/>
            <a:ext cx="45720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5: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Case Studies 5 &amp; 6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67" name="Google Shape;1867;p181"/>
          <p:cNvPicPr preferRelativeResize="0"/>
          <p:nvPr/>
        </p:nvPicPr>
        <p:blipFill rotWithShape="1">
          <a:blip r:embed="rId3">
            <a:alphaModFix/>
          </a:blip>
          <a:srcRect l="6658" t="3134" r="48140" b="13296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8" name="Google Shape;1868;p181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w="9525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9" name="Google Shape;1869;p181" title="CEBA new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0" name="Google Shape;1870;p1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5" name="Google Shape;1875;p182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876" name="Google Shape;1876;p182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77" name="Google Shape;1877;p182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8" name="Google Shape;1878;p182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9" name="Google Shape;1879;p182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0" name="Google Shape;1880;p182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1" name="Google Shape;1881;p182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2" name="Google Shape;1882;p182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83" name="Google Shape;1883;p182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5 - Case Study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Same Factory As Yesterday - Now Procuring Offsite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884" name="Google Shape;1884;p182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5" name="Google Shape;1885;p182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886" name="Google Shape;1886;p182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7" name="Google Shape;1887;p1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8" name="Google Shape;1888;p182"/>
          <p:cNvSpPr txBox="1"/>
          <p:nvPr/>
        </p:nvSpPr>
        <p:spPr>
          <a:xfrm>
            <a:off x="457950" y="1022675"/>
            <a:ext cx="8228100" cy="13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i="1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Yesterday</a:t>
            </a:r>
            <a:r>
              <a:rPr lang="en" sz="1350" i="1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’s </a:t>
            </a:r>
            <a:r>
              <a:rPr lang="en" sz="1350" i="1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On-Site </a:t>
            </a:r>
            <a:r>
              <a:rPr lang="en" sz="1350" i="1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" sz="1350" i="1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ession: Cases 1-4 explored rooftop solar + BESS behind the meter. </a:t>
            </a:r>
            <a:endParaRPr sz="1350" i="1" u="none" strike="noStrike" cap="none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50" b="1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Today:</a:t>
            </a:r>
            <a:r>
              <a:rPr lang="en" sz="1350" b="1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35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" sz="135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he same southern</a:t>
            </a:r>
            <a:r>
              <a:rPr lang="en" sz="135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35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Vietnam manufacturing facility (22-110kV) signs a </a:t>
            </a:r>
            <a:r>
              <a:rPr lang="en" sz="1350" b="1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virtual DPPA</a:t>
            </a:r>
            <a:r>
              <a:rPr lang="en" sz="135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with a dedicated solar + storage project.</a:t>
            </a:r>
            <a:endParaRPr sz="1350" i="0" u="none" strike="noStrike" cap="none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4325" algn="l" rtl="0">
              <a:spcBef>
                <a:spcPts val="400"/>
              </a:spcBef>
              <a:spcAft>
                <a:spcPts val="0"/>
              </a:spcAft>
              <a:buClr>
                <a:srgbClr val="222B33"/>
              </a:buClr>
              <a:buSzPts val="1350"/>
              <a:buFont typeface="Montserrat"/>
              <a:buChar char="●"/>
            </a:pPr>
            <a:r>
              <a:rPr lang="en" sz="1300" b="1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Case 5: Solar + Large BESS</a:t>
            </a:r>
            <a:endParaRPr sz="1300" b="1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350"/>
              <a:buFont typeface="Montserrat"/>
              <a:buChar char="●"/>
            </a:pPr>
            <a:r>
              <a:rPr lang="en" sz="1300" b="1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Case 6: Solar + Minimum BESS</a:t>
            </a:r>
            <a:endParaRPr sz="1350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889" name="Google Shape;1889;p182"/>
          <p:cNvGraphicFramePr/>
          <p:nvPr/>
        </p:nvGraphicFramePr>
        <p:xfrm>
          <a:off x="455701" y="2568688"/>
          <a:ext cx="8012900" cy="216369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264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7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Deal frame (both cases)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Value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DPPA type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Virtual (grid CfD) under Decree 57/2025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Strike price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2,000 VND/kWh, escalating 4%/yr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Tenor / analysis period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 years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Financing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70% debt, 8.5% VND, 10-yr term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Method</a:t>
                      </a:r>
                      <a:endParaRPr sz="1300" u="none" strike="noStrike" cap="none">
                        <a:solidFill>
                          <a:srgbClr val="222B3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Full 8760-hour settlement simulation (ND57 formulas, hourly FMP/CFMP series) + 25-year project cash-flow model with the three gates.</a:t>
                      </a:r>
                      <a:endParaRPr sz="1300" u="none" strike="noStrike" cap="none">
                        <a:solidFill>
                          <a:srgbClr val="222B33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4" name="Google Shape;1894;p183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895" name="Google Shape;1895;p183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96" name="Google Shape;1896;p183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7" name="Google Shape;1897;p183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8" name="Google Shape;1898;p183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9" name="Google Shape;1899;p183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0" name="Google Shape;1900;p183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1" name="Google Shape;1901;p183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2" name="Google Shape;1902;p183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3" name="Google Shape;1903;p183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904" name="Google Shape;1904;p183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5" name="Google Shape;1905;p1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6" name="Google Shape;1906;p183"/>
          <p:cNvGraphicFramePr/>
          <p:nvPr/>
        </p:nvGraphicFramePr>
        <p:xfrm>
          <a:off x="463533" y="1174100"/>
          <a:ext cx="4926850" cy="249345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277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Metric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Seller equity IRR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16.9%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 IRR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13.5%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Developer NPV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$1.52M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Minimum DSCR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1.14x  (replacement year)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Payback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9.1 yr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vs BAU - Year 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-8.7%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vs BAU - 10-yr cumulative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-8.9%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vs BAU - lifetime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-9.3%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07" name="Google Shape;1907;p183"/>
          <p:cNvSpPr txBox="1"/>
          <p:nvPr/>
        </p:nvSpPr>
        <p:spPr>
          <a:xfrm>
            <a:off x="5488338" y="1340501"/>
            <a:ext cx="34377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 strike 2,000 the buyer pays ~9% MORE than BAU on every horizon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oversized battery adds a ~$1.2M replacement around year 11 that the tariff must recover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Even so, lender comfort is thin (min DSCR 1.14x &lt; 1.20x)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8" name="Google Shape;1908;p183"/>
          <p:cNvSpPr/>
          <p:nvPr/>
        </p:nvSpPr>
        <p:spPr>
          <a:xfrm>
            <a:off x="463525" y="3965638"/>
            <a:ext cx="8224200" cy="650700"/>
          </a:xfrm>
          <a:prstGeom prst="roundRect">
            <a:avLst>
              <a:gd name="adj" fmla="val 16667"/>
            </a:avLst>
          </a:prstGeom>
          <a:solidFill>
            <a:srgbClr val="B33A3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Lesson 1: 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 oversized battery cannot carry its own replacement cost through the tariff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everyone loses.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9" name="Google Shape;1909;p183"/>
          <p:cNvSpPr txBox="1"/>
          <p:nvPr/>
        </p:nvSpPr>
        <p:spPr>
          <a:xfrm>
            <a:off x="374425" y="857152"/>
            <a:ext cx="6228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B33A3A"/>
                </a:solidFill>
                <a:latin typeface="Montserrat"/>
                <a:ea typeface="Montserrat"/>
                <a:cs typeface="Montserrat"/>
                <a:sym typeface="Montserrat"/>
              </a:rPr>
              <a:t>BATTERY EATS THE DEAL</a:t>
            </a:r>
            <a:endParaRPr sz="1200" b="1">
              <a:solidFill>
                <a:srgbClr val="B33A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0" name="Google Shape;1910;p183"/>
          <p:cNvSpPr txBox="1"/>
          <p:nvPr/>
        </p:nvSpPr>
        <p:spPr>
          <a:xfrm>
            <a:off x="672542" y="205988"/>
            <a:ext cx="825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Module 5 - Case Study</a:t>
            </a:r>
            <a:endParaRPr sz="1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Case Study 5: Solar + Large BESS</a:t>
            </a:r>
            <a:endParaRPr sz="2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5" name="Google Shape;1915;p184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7423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6" name="Google Shape;1916;p1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2498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7" name="Google Shape;1917;p184"/>
          <p:cNvGraphicFramePr/>
          <p:nvPr/>
        </p:nvGraphicFramePr>
        <p:xfrm>
          <a:off x="444696" y="1324825"/>
          <a:ext cx="4847825" cy="2075675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252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Metric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Seller equity IRR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E9E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26.9%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 IRR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18.2%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Developer NPV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$2.54M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Minimum DSCR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E9E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1.50x  (comfortably &gt; 1.20x)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Payback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4.7 yr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vs BAU - all horizons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-14.4%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18" name="Google Shape;1918;p184"/>
          <p:cNvSpPr txBox="1"/>
          <p:nvPr/>
        </p:nvSpPr>
        <p:spPr>
          <a:xfrm>
            <a:off x="5341875" y="1414299"/>
            <a:ext cx="3464100" cy="22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Lean sizing: seller and lender are now comfortable - returns strong, DSCR 1.50x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But at strike 2,000 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VND/kWh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buyer is ~14% worse than BAU: the seller's headroom IS the negotiation space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Therefore, </a:t>
            </a:r>
            <a:r>
              <a:rPr lang="en" sz="13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sweep the strike down and see where the gates cross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9" name="Google Shape;1919;p184"/>
          <p:cNvSpPr/>
          <p:nvPr/>
        </p:nvSpPr>
        <p:spPr>
          <a:xfrm>
            <a:off x="444700" y="3920100"/>
            <a:ext cx="8361300" cy="691200"/>
          </a:xfrm>
          <a:prstGeom prst="roundRect">
            <a:avLst>
              <a:gd name="adj" fmla="val 16667"/>
            </a:avLst>
          </a:prstGeom>
          <a:solidFill>
            <a:srgbClr val="01A86F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Lesson 2: 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ight-sized 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BESS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makes the project financeable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" sz="1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hen, the entire negotiation is the strike price.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0" name="Google Shape;1920;p184"/>
          <p:cNvSpPr txBox="1"/>
          <p:nvPr/>
        </p:nvSpPr>
        <p:spPr>
          <a:xfrm>
            <a:off x="414251" y="928899"/>
            <a:ext cx="717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1A86F"/>
                </a:solidFill>
                <a:latin typeface="Montserrat"/>
                <a:ea typeface="Montserrat"/>
                <a:cs typeface="Montserrat"/>
                <a:sym typeface="Montserrat"/>
              </a:rPr>
              <a:t>CHALLENGING, YET BANKABLE</a:t>
            </a:r>
            <a:endParaRPr sz="1200" b="1">
              <a:solidFill>
                <a:srgbClr val="01A8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21" name="Google Shape;1921;p184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922" name="Google Shape;1922;p184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23" name="Google Shape;1923;p184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4" name="Google Shape;1924;p184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5" name="Google Shape;1925;p184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6" name="Google Shape;1926;p184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7" name="Google Shape;1927;p184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8" name="Google Shape;1928;p184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9" name="Google Shape;1929;p184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0" name="Google Shape;1930;p184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31" name="Google Shape;1931;p184"/>
          <p:cNvSpPr txBox="1"/>
          <p:nvPr/>
        </p:nvSpPr>
        <p:spPr>
          <a:xfrm>
            <a:off x="672542" y="205988"/>
            <a:ext cx="825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Module 5 - Case Study</a:t>
            </a:r>
            <a:br>
              <a:rPr lang="en"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en"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Case Study 6: Solar + Minimum BESS</a:t>
            </a:r>
            <a:endParaRPr sz="2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6" name="Google Shape;1936;p185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937" name="Google Shape;1937;p185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38" name="Google Shape;1938;p185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9" name="Google Shape;1939;p185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0" name="Google Shape;1940;p185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1" name="Google Shape;1941;p185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2" name="Google Shape;1942;p185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3" name="Google Shape;1943;p185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44" name="Google Shape;1944;p185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5 - Case Study</a:t>
              </a:r>
              <a:br>
                <a:rPr lang="en" sz="21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</a:b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Sweeping The Strike On Case Study 6: Empty Window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945" name="Google Shape;1945;p185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6" name="Google Shape;1946;p185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947" name="Google Shape;1947;p185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8" name="Google Shape;1948;p1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9" name="Google Shape;1949;p185"/>
          <p:cNvSpPr txBox="1"/>
          <p:nvPr/>
        </p:nvSpPr>
        <p:spPr>
          <a:xfrm>
            <a:off x="374425" y="952825"/>
            <a:ext cx="8538900" cy="7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56 scenarios anal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yzed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12 strike prices ranging from 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1,200-2,200 VND/kWh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and 4 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contract volume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s ranging from </a:t>
            </a:r>
            <a:r>
              <a:rPr lang="en" sz="1300" i="0" u="none" strike="noStrike" cap="non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70-100%. </a:t>
            </a:r>
            <a:endParaRPr sz="1300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300" b="1" i="0" u="none" strike="noStrike" cap="non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rPr>
              <a:t>Gate results:</a:t>
            </a:r>
            <a:endParaRPr b="1">
              <a:solidFill>
                <a:srgbClr val="E77A1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950" name="Google Shape;1950;p185"/>
          <p:cNvGraphicFramePr/>
          <p:nvPr/>
        </p:nvGraphicFramePr>
        <p:xfrm>
          <a:off x="454270" y="1665232"/>
          <a:ext cx="8459025" cy="1765840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181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7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Strike level </a:t>
                      </a:r>
                      <a:r>
                        <a:rPr lang="en" sz="11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(VND/kWh)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gate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Seller gate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Lender gate (&gt;=1.20x)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Balanced?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~2,000 (offer)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FAIL  -14%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1.50x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~1,400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FAIL  -1.4%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19%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1.19-1.5x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~1,300 x 70% vol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E9E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+0.5% lifetime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17.9%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FAIL  1.14x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~1,200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E9E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+2.9%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FAIL  &lt;1.20x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51" name="Google Shape;1951;p185"/>
          <p:cNvSpPr txBox="1"/>
          <p:nvPr/>
        </p:nvSpPr>
        <p:spPr>
          <a:xfrm>
            <a:off x="374425" y="3513200"/>
            <a:ext cx="8356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The buyer turns positive just as the lender drops out: </a:t>
            </a:r>
            <a:r>
              <a:rPr lang="en" sz="1350" b="1" u="sng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n" sz="1350" b="1" i="0" u="none" strike="noStrike" cap="non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 of 56 scenarios pass all three gates at current market prices and fee levels.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2" name="Google Shape;1952;p185"/>
          <p:cNvSpPr/>
          <p:nvPr/>
        </p:nvSpPr>
        <p:spPr>
          <a:xfrm>
            <a:off x="454275" y="4120225"/>
            <a:ext cx="8418000" cy="657000"/>
          </a:xfrm>
          <a:prstGeom prst="roundRect">
            <a:avLst>
              <a:gd name="adj" fmla="val 16667"/>
            </a:avLst>
          </a:prstGeom>
          <a:solidFill>
            <a:srgbClr val="E77A10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Pricing alone cannot balance this deal</a:t>
            </a:r>
            <a:r>
              <a:rPr lang="en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BUT there</a:t>
            </a:r>
            <a:r>
              <a:rPr lang="en" sz="13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</a:t>
            </a:r>
            <a:r>
              <a:rPr lang="en" sz="13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 “</a:t>
            </a:r>
            <a:r>
              <a:rPr lang="en" sz="13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levers” that can: lower leverage, debt sculpting, USD-denominated debt (~5%), fee relief, longer tenor.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7" name="Google Shape;1957;p186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958" name="Google Shape;1958;p186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59" name="Google Shape;1959;p186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0" name="Google Shape;1960;p186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1" name="Google Shape;1961;p186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2" name="Google Shape;1962;p186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3" name="Google Shape;1963;p186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4" name="Google Shape;1964;p186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65" name="Google Shape;1965;p186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5 - Case Study</a:t>
              </a:r>
              <a:br>
                <a:rPr lang="en" sz="21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</a:b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What This Means And Expectations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966" name="Google Shape;1966;p186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7" name="Google Shape;1967;p186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968" name="Google Shape;1968;p186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9" name="Google Shape;1969;p1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0" name="Google Shape;1970;p186"/>
          <p:cNvSpPr txBox="1"/>
          <p:nvPr/>
        </p:nvSpPr>
        <p:spPr>
          <a:xfrm>
            <a:off x="466200" y="1316375"/>
            <a:ext cx="8069700" cy="30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Expect low single-digit lifetime savings at best</a:t>
            </a:r>
            <a:r>
              <a:rPr lang="en" sz="1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"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 product you are buying i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 10-</a:t>
            </a:r>
            <a:r>
              <a:rPr lang="en"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25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year price certaint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y, meet up to 100% of annual electricity demand with contracted renewable generation, and</a:t>
            </a:r>
            <a:r>
              <a:rPr lang="en"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utilize </a:t>
            </a:r>
            <a:r>
              <a:rPr lang="en"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credible renewable claims, but 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 at a price premium.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Expect Year 1 to cost more than BAU</a:t>
            </a:r>
            <a:r>
              <a:rPr lang="en" sz="1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lan the internal approval around cumulative horizons.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Strike offers near 2,000 VND/kWh leave the buyer deeply negative</a:t>
            </a:r>
            <a:r>
              <a:rPr lang="en" sz="1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"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ealistic buyer-positive territory starts near ~1,300 VND, which today fails the lender.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" sz="1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Deal feasibility is decided by financing structure as much as by price.</a:t>
            </a:r>
            <a:r>
              <a:rPr lang="en" sz="1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" sz="1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</a:t>
            </a:r>
            <a:r>
              <a:rPr lang="en"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 developers HOW their project is financed, not just what they charge.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5" name="Google Shape;1975;p187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w="57150" cap="flat" cmpd="sng">
            <a:solidFill>
              <a:srgbClr val="1B786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76" name="Google Shape;1976;p187"/>
          <p:cNvSpPr txBox="1"/>
          <p:nvPr/>
        </p:nvSpPr>
        <p:spPr>
          <a:xfrm>
            <a:off x="4572000" y="1440675"/>
            <a:ext cx="45720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6: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b="1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Key Decision Points and Wrap-up</a:t>
            </a:r>
            <a:endParaRPr sz="2800" b="1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77" name="Google Shape;1977;p187"/>
          <p:cNvPicPr preferRelativeResize="0"/>
          <p:nvPr/>
        </p:nvPicPr>
        <p:blipFill rotWithShape="1">
          <a:blip r:embed="rId3">
            <a:alphaModFix/>
          </a:blip>
          <a:srcRect l="6658" t="3134" r="48140" b="13296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78" name="Google Shape;1978;p187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w="9525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9" name="Google Shape;1979;p187" title="CEBA new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0" name="Google Shape;1980;p1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5" name="Google Shape;1985;p188"/>
          <p:cNvGrpSpPr/>
          <p:nvPr/>
        </p:nvGrpSpPr>
        <p:grpSpPr>
          <a:xfrm>
            <a:off x="239992" y="63853"/>
            <a:ext cx="8728050" cy="745997"/>
            <a:chOff x="236700" y="63853"/>
            <a:chExt cx="8728050" cy="745997"/>
          </a:xfrm>
        </p:grpSpPr>
        <p:sp>
          <p:nvSpPr>
            <p:cNvPr id="1986" name="Google Shape;1986;p188"/>
            <p:cNvSpPr/>
            <p:nvPr/>
          </p:nvSpPr>
          <p:spPr>
            <a:xfrm>
              <a:off x="458250" y="141150"/>
              <a:ext cx="8506500" cy="668700"/>
            </a:xfrm>
            <a:prstGeom prst="homePlate">
              <a:avLst>
                <a:gd name="adj" fmla="val 50000"/>
              </a:avLst>
            </a:prstGeom>
            <a:solidFill>
              <a:srgbClr val="176B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87" name="Google Shape;1987;p188"/>
            <p:cNvCxnSpPr/>
            <p:nvPr/>
          </p:nvCxnSpPr>
          <p:spPr>
            <a:xfrm>
              <a:off x="308388" y="496283"/>
              <a:ext cx="0" cy="216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8" name="Google Shape;1988;p188"/>
            <p:cNvCxnSpPr/>
            <p:nvPr/>
          </p:nvCxnSpPr>
          <p:spPr>
            <a:xfrm rot="10800000">
              <a:off x="300375" y="712275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9" name="Google Shape;1989;p188"/>
            <p:cNvCxnSpPr/>
            <p:nvPr/>
          </p:nvCxnSpPr>
          <p:spPr>
            <a:xfrm>
              <a:off x="242375" y="450675"/>
              <a:ext cx="243900" cy="1410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0" name="Google Shape;1990;p188"/>
            <p:cNvCxnSpPr/>
            <p:nvPr/>
          </p:nvCxnSpPr>
          <p:spPr>
            <a:xfrm rot="10800000">
              <a:off x="246162" y="75156"/>
              <a:ext cx="0" cy="3822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1" name="Google Shape;1991;p188"/>
            <p:cNvCxnSpPr/>
            <p:nvPr/>
          </p:nvCxnSpPr>
          <p:spPr>
            <a:xfrm rot="10800000">
              <a:off x="236700" y="66250"/>
              <a:ext cx="2423100" cy="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2" name="Google Shape;1992;p188"/>
            <p:cNvCxnSpPr/>
            <p:nvPr/>
          </p:nvCxnSpPr>
          <p:spPr>
            <a:xfrm>
              <a:off x="2652343" y="63853"/>
              <a:ext cx="191400" cy="191400"/>
            </a:xfrm>
            <a:prstGeom prst="straightConnector1">
              <a:avLst/>
            </a:prstGeom>
            <a:noFill/>
            <a:ln w="19050" cap="flat" cmpd="sng">
              <a:solidFill>
                <a:srgbClr val="1B3E6D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93" name="Google Shape;1993;p188"/>
            <p:cNvSpPr txBox="1"/>
            <p:nvPr/>
          </p:nvSpPr>
          <p:spPr>
            <a:xfrm>
              <a:off x="669250" y="205988"/>
              <a:ext cx="8255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Module 6 - Decision Points</a:t>
              </a:r>
              <a:endParaRPr sz="1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Five Questions That Change The Term Sheet</a:t>
              </a:r>
              <a:endParaRPr sz="2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994" name="Google Shape;1994;p188"/>
            <p:cNvCxnSpPr/>
            <p:nvPr/>
          </p:nvCxnSpPr>
          <p:spPr>
            <a:xfrm rot="10800000">
              <a:off x="458250" y="707800"/>
              <a:ext cx="36474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5" name="Google Shape;1995;p188"/>
            <p:cNvCxnSpPr/>
            <p:nvPr/>
          </p:nvCxnSpPr>
          <p:spPr>
            <a:xfrm>
              <a:off x="2731248" y="141150"/>
              <a:ext cx="112500" cy="1125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996" name="Google Shape;1996;p188" title="CEBA 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7598" y="4881212"/>
            <a:ext cx="708296" cy="2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7" name="Google Shape;1997;p1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98" name="Google Shape;1998;p188"/>
          <p:cNvGraphicFramePr/>
          <p:nvPr/>
        </p:nvGraphicFramePr>
        <p:xfrm>
          <a:off x="454270" y="1280800"/>
          <a:ext cx="8216225" cy="2748875"/>
        </p:xfrm>
        <a:graphic>
          <a:graphicData uri="http://schemas.openxmlformats.org/drawingml/2006/table">
            <a:tbl>
              <a:tblPr firstRow="1" bandRow="1">
                <a:noFill/>
                <a:tableStyleId>{CE8BD2AF-5D0D-4EDC-AE96-A30A7DA1AF2F}</a:tableStyleId>
              </a:tblPr>
              <a:tblGrid>
                <a:gridCol w="40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Decision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What to check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176B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Strike level &amp; escalation/indexation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Fixed VND vs 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escalating/deescalating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vs USD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linked; model 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these 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vs BAU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Contract volume vs load shape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8760 hourly matching vs meter data; CfD caps at consumed volume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Tenor &amp; termination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Developer wants 15-25 yr; match to your lease / order book; exit terms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Voltage eligibility &amp; K_pp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&gt;=22kV only today; which K_pp applies decides your loss adjustment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Risk allocation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FMP volatility, curtailment, negative</a:t>
                      </a:r>
                      <a:r>
                        <a:rPr lang="en" sz="125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" sz="125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CfD months, change-in-law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25400" marB="254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99" name="Google Shape;1999;p188"/>
          <p:cNvSpPr txBox="1"/>
          <p:nvPr/>
        </p:nvSpPr>
        <p:spPr>
          <a:xfrm>
            <a:off x="387798" y="4236473"/>
            <a:ext cx="6478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0" u="none" strike="noStrike" cap="non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Items 1-4 are quantifiable before negotiation</a:t>
            </a:r>
            <a:r>
              <a:rPr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r>
              <a:rPr lang="en" sz="1200" i="0" u="none" strike="noStrike" cap="non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 run them against load data first.</a:t>
            </a:r>
            <a:endParaRPr sz="1200">
              <a:solidFill>
                <a:srgbClr val="127A7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3118</Words>
  <Application>Microsoft Office PowerPoint</Application>
  <PresentationFormat>On-screen Show (16:9)</PresentationFormat>
  <Paragraphs>479</Paragraphs>
  <Slides>28</Slides>
  <Notes>28</Notes>
  <HiddenSlides>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Be Vietnam Pro SemiBold</vt:lpstr>
      <vt:lpstr>Quattrocento Sans</vt:lpstr>
      <vt:lpstr>Arial</vt:lpstr>
      <vt:lpstr>Roboto</vt:lpstr>
      <vt:lpstr>Montserrat ExtraBold</vt:lpstr>
      <vt:lpstr>Montserrat</vt:lpstr>
      <vt:lpstr>Consolas</vt:lpstr>
      <vt:lpstr>Geo</vt:lpstr>
      <vt:lpstr>Calibri</vt:lpstr>
      <vt:lpstr>Raleway</vt:lpstr>
      <vt:lpstr>Be Vietnam Pro</vt:lpstr>
      <vt:lpstr>Lato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Tung Ho</cp:lastModifiedBy>
  <cp:revision>3</cp:revision>
  <dcterms:modified xsi:type="dcterms:W3CDTF">2026-06-25T14:23:51Z</dcterms:modified>
</cp:coreProperties>
</file>