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eo"/>
      <p:regular r:id="rId21"/>
      <p: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Cabin"/>
      <p:regular r:id="rId31"/>
      <p:bold r:id="rId32"/>
      <p:italic r:id="rId33"/>
      <p:boldItalic r:id="rId34"/>
    </p:embeddedFont>
    <p:embeddedFont>
      <p:font typeface="Be Vietnam Pro SemiBold"/>
      <p:regular r:id="rId35"/>
      <p:bold r:id="rId36"/>
      <p:italic r:id="rId37"/>
      <p:boldItalic r:id="rId38"/>
    </p:embeddedFont>
    <p:embeddedFont>
      <p:font typeface="Be Vietnam Pro"/>
      <p:regular r:id="rId39"/>
      <p:bold r:id="rId40"/>
      <p:italic r:id="rId41"/>
      <p:boldItalic r:id="rId42"/>
    </p:embeddedFont>
    <p:embeddedFont>
      <p:font typeface="Montserrat ExtraBold"/>
      <p:bold r:id="rId43"/>
      <p:boldItalic r:id="rId44"/>
    </p:embeddedFont>
    <p:embeddedFont>
      <p:font typeface="Gill San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Geo-regular.fntdata"/><Relationship Id="rId22" Type="http://schemas.openxmlformats.org/officeDocument/2006/relationships/font" Target="fonts/Geo-italic.fntdata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Montserrat-regular.fntdata"/><Relationship Id="rId28" Type="http://schemas.openxmlformats.org/officeDocument/2006/relationships/font" Target="fonts/Montserrat-bold.fntdata"/><Relationship Id="rId29" Type="http://schemas.openxmlformats.org/officeDocument/2006/relationships/font" Target="fonts/Montserrat-italic.fntdata"/><Relationship Id="rId30" Type="http://schemas.openxmlformats.org/officeDocument/2006/relationships/font" Target="fonts/Montserrat-boldItalic.fntdata"/><Relationship Id="rId31" Type="http://schemas.openxmlformats.org/officeDocument/2006/relationships/font" Target="fonts/Cabin-regular.fntdata"/><Relationship Id="rId32" Type="http://schemas.openxmlformats.org/officeDocument/2006/relationships/font" Target="fonts/Cabin-bold.fntdata"/><Relationship Id="rId33" Type="http://schemas.openxmlformats.org/officeDocument/2006/relationships/font" Target="fonts/Cabin-italic.fntdata"/><Relationship Id="rId34" Type="http://schemas.openxmlformats.org/officeDocument/2006/relationships/font" Target="fonts/Cabin-boldItalic.fntdata"/><Relationship Id="rId35" Type="http://schemas.openxmlformats.org/officeDocument/2006/relationships/font" Target="fonts/BeVietnamProSemiBold-regular.fntdata"/><Relationship Id="rId36" Type="http://schemas.openxmlformats.org/officeDocument/2006/relationships/font" Target="fonts/BeVietnamProSemiBold-bold.fntdata"/><Relationship Id="rId37" Type="http://schemas.openxmlformats.org/officeDocument/2006/relationships/font" Target="fonts/BeVietnamProSemiBold-italic.fntdata"/><Relationship Id="rId38" Type="http://schemas.openxmlformats.org/officeDocument/2006/relationships/font" Target="fonts/BeVietnamProSemiBold-boldItalic.fntdata"/><Relationship Id="rId39" Type="http://schemas.openxmlformats.org/officeDocument/2006/relationships/font" Target="fonts/BeVietnamPro-regular.fntdata"/><Relationship Id="rId40" Type="http://schemas.openxmlformats.org/officeDocument/2006/relationships/font" Target="fonts/BeVietnamPro-bold.fntdata"/><Relationship Id="rId41" Type="http://schemas.openxmlformats.org/officeDocument/2006/relationships/font" Target="fonts/BeVietnamPro-italic.fntdata"/><Relationship Id="rId42" Type="http://schemas.openxmlformats.org/officeDocument/2006/relationships/font" Target="fonts/BeVietnamPro-boldItalic.fntdata"/><Relationship Id="rId43" Type="http://schemas.openxmlformats.org/officeDocument/2006/relationships/font" Target="fonts/MontserratExtraBold-bold.fntdata"/><Relationship Id="rId44" Type="http://schemas.openxmlformats.org/officeDocument/2006/relationships/font" Target="fonts/MontserratExtraBold-boldItalic.fntdata"/><Relationship Id="rId45" Type="http://schemas.openxmlformats.org/officeDocument/2006/relationships/font" Target="fonts/GillSans-regular.fntdata"/><Relationship Id="rId46" Type="http://schemas.openxmlformats.org/officeDocument/2006/relationships/font" Target="fonts/GillSans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07cdfbb72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07cdfbb72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07cdfbb72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c07cdfbb72_0_7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07cdfbb72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07cdfbb72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07cdfbb72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07cdfbb72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07cdfbb72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c07cdfbb72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07cdfbb72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07cdfbb72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ADVANTAGES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1" marL="285750" marR="66618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✓"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6618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6618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DISADVANTAGES: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6618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07cdfbb72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07cdfbb72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07cdfbb72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07cdfbb72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07cdfbb7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07cdfbb7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07cdfbb72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07cdfbb72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07cdfbb72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07cdfbb72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07cdfbb7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07cdfbb7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07cdfbb72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c07cdfbb72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07cdfbb72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c07cdfbb72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07cdfbb72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c07cdfbb72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>
            <p:ph idx="2" type="pic"/>
          </p:nvPr>
        </p:nvSpPr>
        <p:spPr>
          <a:xfrm>
            <a:off x="5900738" y="0"/>
            <a:ext cx="3243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>
            <p:ph idx="2" type="pic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>
            <p:ph idx="2" type="pic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65" name="Google Shape;6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/>
          <p:nvPr>
            <p:ph type="ctrTitle"/>
          </p:nvPr>
        </p:nvSpPr>
        <p:spPr>
          <a:xfrm>
            <a:off x="395536" y="2139704"/>
            <a:ext cx="77724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subTitle"/>
          </p:nvPr>
        </p:nvSpPr>
        <p:spPr>
          <a:xfrm>
            <a:off x="395536" y="3676253"/>
            <a:ext cx="77769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800"/>
              <a:buNone/>
              <a:defRPr>
                <a:solidFill>
                  <a:srgbClr val="888D9E"/>
                </a:solidFill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400"/>
              <a:buNone/>
              <a:defRPr>
                <a:solidFill>
                  <a:srgbClr val="888D9E"/>
                </a:solidFill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395536" y="396652"/>
            <a:ext cx="28083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descr="A picture containing graphical user interface&#10;&#10;Description automatically generated" id="69" name="Google Shape;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475" y="249829"/>
            <a:ext cx="2827622" cy="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Slide">
  <p:cSld name="1_Blank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SP\SP Group_Templates\ImageSlide_PPT.png" id="71" name="Google Shape;7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9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1" cy="51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8" name="Google Shape;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3543" y="110775"/>
            <a:ext cx="1587022" cy="44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0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Slide 1">
  <p:cSld name="1_Blank Slide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SP\SP Group_Templates\ImageSlide_PPT.png" id="80" name="Google Shape;8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21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">
  <p:cSld name="Brand">
    <p:bg>
      <p:bgPr>
        <a:gradFill>
          <a:gsLst>
            <a:gs pos="0">
              <a:srgbClr val="144B79"/>
            </a:gs>
            <a:gs pos="3000">
              <a:srgbClr val="144B79"/>
            </a:gs>
            <a:gs pos="96000">
              <a:srgbClr val="64CDCE"/>
            </a:gs>
            <a:gs pos="100000">
              <a:srgbClr val="64CDCE"/>
            </a:gs>
          </a:gsLst>
          <a:lin ang="7799903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white text&#10;&#10;Description automatically generated" id="86" name="Google Shape;8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5059" y="1640495"/>
            <a:ext cx="4733883" cy="1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85750" lvl="1" marL="914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8575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89" name="Google Shape;89;p23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90" name="Google Shape;90;p23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91" name="Google Shape;91;p23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92" name="Google Shape;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/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b="1" i="0" sz="220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3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3"/>
          <p:cNvSpPr txBox="1"/>
          <p:nvPr>
            <p:ph idx="2" type="body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7305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7305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7305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730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8575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8575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99" name="Google Shape;99;p24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00" name="Google Shape;100;p24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4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4"/>
          <p:cNvSpPr txBox="1"/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b="1" i="0" sz="220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3" name="Google Shape;103;p24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4"/>
          <p:cNvSpPr txBox="1"/>
          <p:nvPr>
            <p:ph idx="2" type="body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7305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7305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7305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730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solidFill>
          <a:srgbClr val="1B3E6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92100" lvl="0" marL="4572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92100" lvl="1" marL="9144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92100" lvl="2" marL="13716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92100" lvl="3" marL="18288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92100" lvl="4" marL="22860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09" name="Google Shape;109;p2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10" name="Google Shape;110;p2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b="1" i="0" sz="220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3" name="Google Shape;113;p25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31.jp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image" Target="../media/image2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0"/>
            <a:ext cx="24955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6"/>
          <p:cNvPicPr preferRelativeResize="0"/>
          <p:nvPr/>
        </p:nvPicPr>
        <p:blipFill rotWithShape="1">
          <a:blip r:embed="rId4">
            <a:alphaModFix/>
          </a:blip>
          <a:srcRect b="3448" l="20160" r="0" t="3103"/>
          <a:stretch/>
        </p:blipFill>
        <p:spPr>
          <a:xfrm>
            <a:off x="0" y="-9475"/>
            <a:ext cx="66484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3187" y="4888133"/>
            <a:ext cx="690801" cy="24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6"/>
          <p:cNvSpPr/>
          <p:nvPr/>
        </p:nvSpPr>
        <p:spPr>
          <a:xfrm>
            <a:off x="7785000" y="1384625"/>
            <a:ext cx="1359000" cy="2355300"/>
          </a:xfrm>
          <a:prstGeom prst="rect">
            <a:avLst/>
          </a:prstGeom>
          <a:solidFill>
            <a:srgbClr val="1B786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6"/>
          <p:cNvSpPr/>
          <p:nvPr/>
        </p:nvSpPr>
        <p:spPr>
          <a:xfrm>
            <a:off x="2419499" y="1738325"/>
            <a:ext cx="6724500" cy="1647900"/>
          </a:xfrm>
          <a:prstGeom prst="rect">
            <a:avLst/>
          </a:prstGeom>
          <a:solidFill>
            <a:srgbClr val="2E3A4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2815950" y="2053625"/>
            <a:ext cx="59316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2500" b="1">
                <a:solidFill>
                  <a:srgbClr val="FFFFFF"/>
                </a:solidFill>
                <a:latin typeface="Cabin"/>
              </a:rPr>
              <a:t>Samsung SEVT × TTC Duc Hue 2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buNone/>
            </a:pPr>
            <a:r>
              <a:rPr sz="1400" b="0">
                <a:solidFill>
                  <a:srgbClr val="EAF3F1"/>
                </a:solidFill>
                <a:latin typeface="Cabin"/>
              </a:rPr>
              <a:t>Vietnam's First Grid-Connected DPPA — Directional Economics</a:t>
            </a:r>
          </a:p>
        </p:txBody>
      </p:sp>
      <p:sp>
        <p:nvSpPr>
          <p:cNvPr id="126" name="Google Shape;126;p26"/>
          <p:cNvSpPr/>
          <p:nvPr/>
        </p:nvSpPr>
        <p:spPr>
          <a:xfrm>
            <a:off x="2152475" y="1738325"/>
            <a:ext cx="72300" cy="16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979325" y="132684"/>
            <a:ext cx="8400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Off-Site Solutions: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"/>
                <a:ea typeface="Montserrat"/>
                <a:cs typeface="Montserrat"/>
                <a:sym typeface="Montserrat"/>
              </a:rPr>
              <a:t>Models </a:t>
            </a:r>
            <a:r>
              <a:rPr lang="en" sz="2400">
                <a:solidFill>
                  <a:srgbClr val="2E3A49"/>
                </a:solidFill>
                <a:latin typeface="Montserrat"/>
                <a:ea typeface="Montserrat"/>
                <a:cs typeface="Montserrat"/>
                <a:sym typeface="Montserrat"/>
              </a:rPr>
              <a:t>Emerging</a:t>
            </a:r>
            <a:r>
              <a:rPr lang="en" sz="2400">
                <a:solidFill>
                  <a:srgbClr val="2E3A49"/>
                </a:solidFill>
                <a:latin typeface="Montserrat"/>
                <a:ea typeface="Montserrat"/>
                <a:cs typeface="Montserrat"/>
                <a:sym typeface="Montserrat"/>
              </a:rPr>
              <a:t> in Vietnam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0" y="990025"/>
            <a:ext cx="5714400" cy="879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1583075" y="2296125"/>
            <a:ext cx="2371200" cy="900300"/>
          </a:xfrm>
          <a:prstGeom prst="roundRect">
            <a:avLst>
              <a:gd fmla="val 16667" name="adj"/>
            </a:avLst>
          </a:prstGeom>
          <a:solidFill>
            <a:srgbClr val="2D3A4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5770500" y="2296125"/>
            <a:ext cx="2371200" cy="900300"/>
          </a:xfrm>
          <a:prstGeom prst="roundRect">
            <a:avLst>
              <a:gd fmla="val 16667" name="adj"/>
            </a:avLst>
          </a:prstGeom>
          <a:solidFill>
            <a:srgbClr val="2D3A4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3615000" y="1226750"/>
            <a:ext cx="2371200" cy="900300"/>
          </a:xfrm>
          <a:prstGeom prst="roundRect">
            <a:avLst>
              <a:gd fmla="val 16667" name="adj"/>
            </a:avLst>
          </a:prstGeom>
          <a:solidFill>
            <a:srgbClr val="2D3A4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C&amp;I Electricity Users’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Off-Site Clean Energy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Options in Vietnam</a:t>
            </a:r>
            <a:r>
              <a:rPr lang="en" sz="1200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1346247" y="1889658"/>
            <a:ext cx="772200" cy="734700"/>
          </a:xfrm>
          <a:prstGeom prst="ellipse">
            <a:avLst/>
          </a:prstGeom>
          <a:solidFill>
            <a:srgbClr val="DEDEDE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1647723" y="2434583"/>
            <a:ext cx="2371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Physical </a:t>
            </a:r>
            <a:endParaRPr b="1"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Direct Power Purchase Agreements</a:t>
            </a:r>
            <a:endParaRPr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5742450" y="2460300"/>
            <a:ext cx="2427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Synthetic </a:t>
            </a:r>
            <a:endParaRPr b="1"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Direct Power Purchase Agreements</a:t>
            </a:r>
            <a:endParaRPr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7660675" y="1945423"/>
            <a:ext cx="701400" cy="678900"/>
          </a:xfrm>
          <a:prstGeom prst="ellipse">
            <a:avLst/>
          </a:prstGeom>
          <a:solidFill>
            <a:srgbClr val="DEDEDE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27"/>
          <p:cNvCxnSpPr>
            <a:stCxn id="137" idx="1"/>
            <a:endCxn id="135" idx="0"/>
          </p:cNvCxnSpPr>
          <p:nvPr/>
        </p:nvCxnSpPr>
        <p:spPr>
          <a:xfrm flipH="1">
            <a:off x="2768700" y="1676900"/>
            <a:ext cx="846300" cy="619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7"/>
          <p:cNvCxnSpPr>
            <a:stCxn id="137" idx="3"/>
            <a:endCxn id="136" idx="0"/>
          </p:cNvCxnSpPr>
          <p:nvPr/>
        </p:nvCxnSpPr>
        <p:spPr>
          <a:xfrm>
            <a:off x="5986200" y="1676900"/>
            <a:ext cx="969900" cy="619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4" name="Google Shape;144;p27"/>
          <p:cNvGrpSpPr/>
          <p:nvPr/>
        </p:nvGrpSpPr>
        <p:grpSpPr>
          <a:xfrm>
            <a:off x="7808101" y="2112271"/>
            <a:ext cx="398092" cy="374081"/>
            <a:chOff x="8216107" y="2577307"/>
            <a:chExt cx="464355" cy="464350"/>
          </a:xfrm>
        </p:grpSpPr>
        <p:sp>
          <p:nvSpPr>
            <p:cNvPr id="145" name="Google Shape;145;p27"/>
            <p:cNvSpPr/>
            <p:nvPr/>
          </p:nvSpPr>
          <p:spPr>
            <a:xfrm>
              <a:off x="8216107" y="2577307"/>
              <a:ext cx="464355" cy="464350"/>
            </a:xfrm>
            <a:custGeom>
              <a:rect b="b" l="l" r="r" t="t"/>
              <a:pathLst>
                <a:path extrusionOk="0" h="21453" w="21426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8390732" y="2736850"/>
              <a:ext cx="125413" cy="130172"/>
            </a:xfrm>
            <a:custGeom>
              <a:rect b="b" l="l" r="r" t="t"/>
              <a:pathLst>
                <a:path extrusionOk="0" h="21516" w="21484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8375650" y="2896394"/>
              <a:ext cx="70662" cy="73839"/>
            </a:xfrm>
            <a:custGeom>
              <a:rect b="b" l="l" r="r" t="t"/>
              <a:pathLst>
                <a:path extrusionOk="0" h="21203" w="21188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8448675" y="2649538"/>
              <a:ext cx="71430" cy="74610"/>
            </a:xfrm>
            <a:custGeom>
              <a:rect b="b" l="l" r="r" t="t"/>
              <a:pathLst>
                <a:path extrusionOk="0" h="21196" w="21180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49" name="Google Shape;149;p27"/>
          <p:cNvSpPr/>
          <p:nvPr/>
        </p:nvSpPr>
        <p:spPr>
          <a:xfrm>
            <a:off x="1559387" y="2102110"/>
            <a:ext cx="345924" cy="346194"/>
          </a:xfrm>
          <a:custGeom>
            <a:rect b="b" l="l" r="r" t="t"/>
            <a:pathLst>
              <a:path extrusionOk="0" h="21600" w="21600">
                <a:moveTo>
                  <a:pt x="6382" y="15119"/>
                </a:moveTo>
                <a:cubicBezTo>
                  <a:pt x="7195" y="15119"/>
                  <a:pt x="7855" y="14395"/>
                  <a:pt x="7855" y="13499"/>
                </a:cubicBezTo>
                <a:cubicBezTo>
                  <a:pt x="7855" y="12605"/>
                  <a:pt x="7195" y="11879"/>
                  <a:pt x="6382" y="11879"/>
                </a:cubicBezTo>
                <a:cubicBezTo>
                  <a:pt x="5568" y="11879"/>
                  <a:pt x="4909" y="12605"/>
                  <a:pt x="4909" y="13499"/>
                </a:cubicBezTo>
                <a:cubicBezTo>
                  <a:pt x="4909" y="14395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8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8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499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499"/>
                </a:cubicBezTo>
                <a:cubicBezTo>
                  <a:pt x="3927" y="13499"/>
                  <a:pt x="3927" y="8100"/>
                  <a:pt x="3927" y="8100"/>
                </a:cubicBezTo>
                <a:close/>
                <a:moveTo>
                  <a:pt x="2945" y="13499"/>
                </a:moveTo>
                <a:cubicBezTo>
                  <a:pt x="2945" y="15588"/>
                  <a:pt x="4484" y="17279"/>
                  <a:pt x="6382" y="17279"/>
                </a:cubicBezTo>
                <a:cubicBezTo>
                  <a:pt x="8280" y="17279"/>
                  <a:pt x="9818" y="15588"/>
                  <a:pt x="9818" y="13499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499"/>
                  <a:pt x="2945" y="13499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2"/>
                  <a:pt x="2725" y="18359"/>
                  <a:pt x="2455" y="18359"/>
                </a:cubicBezTo>
                <a:cubicBezTo>
                  <a:pt x="2184" y="18359"/>
                  <a:pt x="1964" y="18602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8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8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499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499"/>
                </a:cubicBezTo>
                <a:cubicBezTo>
                  <a:pt x="12764" y="13499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8"/>
                  <a:pt x="18655" y="13499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499"/>
                </a:lnTo>
                <a:cubicBezTo>
                  <a:pt x="11782" y="15588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5"/>
                  <a:pt x="16032" y="6480"/>
                  <a:pt x="15218" y="6480"/>
                </a:cubicBezTo>
                <a:cubicBezTo>
                  <a:pt x="14405" y="6480"/>
                  <a:pt x="13745" y="7205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2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2"/>
                  <a:pt x="19416" y="18359"/>
                  <a:pt x="19145" y="18359"/>
                </a:cubicBez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1160079" y="3585675"/>
            <a:ext cx="2192100" cy="942300"/>
          </a:xfrm>
          <a:prstGeom prst="roundRect">
            <a:avLst>
              <a:gd fmla="val 16667" name="adj"/>
            </a:avLst>
          </a:prstGeom>
          <a:solidFill>
            <a:srgbClr val="1C7E7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EEEE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3750330" y="3602725"/>
            <a:ext cx="2275500" cy="914700"/>
          </a:xfrm>
          <a:prstGeom prst="roundRect">
            <a:avLst>
              <a:gd fmla="val 16667" name="adj"/>
            </a:avLst>
          </a:prstGeom>
          <a:solidFill>
            <a:srgbClr val="1C7E7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6252930" y="3568600"/>
            <a:ext cx="2537700" cy="942300"/>
          </a:xfrm>
          <a:prstGeom prst="roundRect">
            <a:avLst>
              <a:gd fmla="val 16667" name="adj"/>
            </a:avLst>
          </a:prstGeom>
          <a:solidFill>
            <a:srgbClr val="1C7E7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1307603" y="3650948"/>
            <a:ext cx="20997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First grid-connected DPPA now live (Samsung–TTC, Jun 2026); broader rollout still early</a:t>
            </a:r>
            <a:endParaRPr b="1"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6451735" y="3633753"/>
            <a:ext cx="21384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Customers have to factor in transmission and distribution </a:t>
            </a:r>
            <a:r>
              <a:rPr b="1" lang="en" sz="1050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costs and risks</a:t>
            </a:r>
            <a:endParaRPr b="1" sz="1050">
              <a:solidFill>
                <a:srgbClr val="EEEE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3951821" y="3650087"/>
            <a:ext cx="21384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First tangible project example now operating, reducing cost-saving uncertainty</a:t>
            </a:r>
            <a:br>
              <a:rPr b="1" lang="en" sz="1050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1005531" y="3448975"/>
            <a:ext cx="398100" cy="374100"/>
          </a:xfrm>
          <a:prstGeom prst="ellipse">
            <a:avLst/>
          </a:prstGeom>
          <a:solidFill>
            <a:srgbClr val="DEDEDE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568" y="3532013"/>
            <a:ext cx="208026" cy="2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/>
          <p:nvPr/>
        </p:nvSpPr>
        <p:spPr>
          <a:xfrm>
            <a:off x="3569206" y="3448975"/>
            <a:ext cx="398100" cy="374100"/>
          </a:xfrm>
          <a:prstGeom prst="ellipse">
            <a:avLst/>
          </a:prstGeom>
          <a:solidFill>
            <a:srgbClr val="DEDEDE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243" y="3532013"/>
            <a:ext cx="208026" cy="2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/>
          <p:nvPr/>
        </p:nvSpPr>
        <p:spPr>
          <a:xfrm>
            <a:off x="6148231" y="3448975"/>
            <a:ext cx="398100" cy="374100"/>
          </a:xfrm>
          <a:prstGeom prst="ellipse">
            <a:avLst/>
          </a:prstGeom>
          <a:solidFill>
            <a:srgbClr val="DEDEDE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268" y="3532013"/>
            <a:ext cx="208026" cy="20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944850" y="141225"/>
            <a:ext cx="71844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is a DPPA? 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0" y="756075"/>
            <a:ext cx="57579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700" y="2313269"/>
            <a:ext cx="5968800" cy="250690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/>
          <p:nvPr/>
        </p:nvSpPr>
        <p:spPr>
          <a:xfrm>
            <a:off x="1958700" y="1098350"/>
            <a:ext cx="5968800" cy="1550400"/>
          </a:xfrm>
          <a:prstGeom prst="roundRect">
            <a:avLst>
              <a:gd fmla="val 16667" name="adj"/>
            </a:avLst>
          </a:prstGeom>
          <a:solidFill>
            <a:srgbClr val="2D3A4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365760" rtl="0" algn="l"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Direct Power Purchase Agreement (DPPA) is a contractual agreement between an RE generator and a customer that enables the customer to procure clean electricity from off-site sources, including utility-scale solar and wind installations. 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5003600" y="4054675"/>
            <a:ext cx="123900" cy="12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6525" y="4495900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6525" y="4563775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050" y="4570925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4375" y="4576875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050" y="4503050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4375" y="4519700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6525" y="4428025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050" y="4435175"/>
            <a:ext cx="76100" cy="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425" y="4451825"/>
            <a:ext cx="76100" cy="6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4911325" y="4431600"/>
            <a:ext cx="69900" cy="7800"/>
          </a:xfrm>
          <a:prstGeom prst="ellipse">
            <a:avLst/>
          </a:prstGeom>
          <a:solidFill>
            <a:srgbClr val="FFC7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4964525" y="4448275"/>
            <a:ext cx="69900" cy="7800"/>
          </a:xfrm>
          <a:prstGeom prst="ellipse">
            <a:avLst/>
          </a:prstGeom>
          <a:solidFill>
            <a:srgbClr val="FFC7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8"/>
          <p:cNvSpPr/>
          <p:nvPr/>
        </p:nvSpPr>
        <p:spPr>
          <a:xfrm>
            <a:off x="4849625" y="4383375"/>
            <a:ext cx="69900" cy="7800"/>
          </a:xfrm>
          <a:prstGeom prst="ellipse">
            <a:avLst/>
          </a:prstGeom>
          <a:solidFill>
            <a:srgbClr val="FFC7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/>
          <p:nvPr/>
        </p:nvSpPr>
        <p:spPr>
          <a:xfrm>
            <a:off x="1132200" y="1289425"/>
            <a:ext cx="3929700" cy="3334800"/>
          </a:xfrm>
          <a:prstGeom prst="roundRect">
            <a:avLst>
              <a:gd fmla="val 16667" name="adj"/>
            </a:avLst>
          </a:prstGeom>
          <a:solidFill>
            <a:srgbClr val="2D3A4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D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780475" y="57876"/>
            <a:ext cx="71844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Off-Site DPPA: 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"/>
                <a:ea typeface="Montserrat"/>
                <a:cs typeface="Montserrat"/>
                <a:sym typeface="Montserrat"/>
              </a:rPr>
              <a:t>Physical Model</a:t>
            </a:r>
            <a:endParaRPr sz="2400">
              <a:solidFill>
                <a:srgbClr val="2E3A4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1132200" y="1449399"/>
            <a:ext cx="392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Physical DPPA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0" y="856300"/>
            <a:ext cx="57579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1282900" y="1915775"/>
            <a:ext cx="35958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Enables direct electricity trading between a renewable generator and an energy customer 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1282625" y="2846125"/>
            <a:ext cx="3557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Energy customer and renewable generator sign a power purchase agreement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Energy customers bear the costs of developing a private wire connection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Renewable generator transfers electricity and environmental attributes to the customer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99" name="Google Shape;199;p29"/>
          <p:cNvCxnSpPr>
            <a:stCxn id="200" idx="3"/>
            <a:endCxn id="201" idx="3"/>
          </p:cNvCxnSpPr>
          <p:nvPr/>
        </p:nvCxnSpPr>
        <p:spPr>
          <a:xfrm>
            <a:off x="7964869" y="1428671"/>
            <a:ext cx="541800" cy="1832700"/>
          </a:xfrm>
          <a:prstGeom prst="bentConnector4">
            <a:avLst>
              <a:gd fmla="val 102041" name="adj1"/>
              <a:gd fmla="val 9934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9"/>
          <p:cNvSpPr/>
          <p:nvPr/>
        </p:nvSpPr>
        <p:spPr>
          <a:xfrm>
            <a:off x="6701219" y="3422436"/>
            <a:ext cx="153036" cy="280584"/>
          </a:xfrm>
          <a:custGeom>
            <a:rect b="b" l="l" r="r" t="t"/>
            <a:pathLst>
              <a:path extrusionOk="0" h="21600" w="21600">
                <a:moveTo>
                  <a:pt x="9507" y="18652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8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2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2"/>
                  <a:pt x="9507" y="18652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6"/>
                  <a:pt x="18000" y="491"/>
                </a:cubicBezTo>
                <a:cubicBezTo>
                  <a:pt x="18000" y="221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8"/>
                </a:cubicBezTo>
                <a:lnTo>
                  <a:pt x="7246" y="336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9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5"/>
                  <a:pt x="7200" y="21091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2"/>
                </a:lnTo>
                <a:lnTo>
                  <a:pt x="21513" y="8551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7180138" y="3422437"/>
            <a:ext cx="229554" cy="280584"/>
          </a:xfrm>
          <a:custGeom>
            <a:rect b="b" l="l" r="r" t="t"/>
            <a:pathLst>
              <a:path extrusionOk="0" h="21600" w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29"/>
          <p:cNvGrpSpPr/>
          <p:nvPr/>
        </p:nvGrpSpPr>
        <p:grpSpPr>
          <a:xfrm>
            <a:off x="6069650" y="1099350"/>
            <a:ext cx="1895219" cy="3714946"/>
            <a:chOff x="7985605" y="1274987"/>
            <a:chExt cx="2364000" cy="3868124"/>
          </a:xfrm>
        </p:grpSpPr>
        <p:sp>
          <p:nvSpPr>
            <p:cNvPr id="200" name="Google Shape;200;p29"/>
            <p:cNvSpPr/>
            <p:nvPr/>
          </p:nvSpPr>
          <p:spPr>
            <a:xfrm>
              <a:off x="7985605" y="1274987"/>
              <a:ext cx="2364000" cy="685800"/>
            </a:xfrm>
            <a:prstGeom prst="rect">
              <a:avLst/>
            </a:prstGeom>
            <a:solidFill>
              <a:srgbClr val="2E3A49"/>
            </a:solidFill>
            <a:ln cap="flat" cmpd="sng" w="9525">
              <a:solidFill>
                <a:srgbClr val="5353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91425" spcFirstLastPara="1" rIns="91425" wrap="square" tIns="90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600"/>
                <a:buFont typeface="Calibri"/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Company</a:t>
              </a:r>
              <a:endPara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5" name="Google Shape;205;p29"/>
            <p:cNvSpPr/>
            <p:nvPr/>
          </p:nvSpPr>
          <p:spPr>
            <a:xfrm>
              <a:off x="8000668" y="4298311"/>
              <a:ext cx="2333700" cy="844800"/>
            </a:xfrm>
            <a:prstGeom prst="rect">
              <a:avLst/>
            </a:prstGeom>
            <a:solidFill>
              <a:srgbClr val="2D3A49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 Generator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6" name="Google Shape;206;p29"/>
          <p:cNvGrpSpPr/>
          <p:nvPr/>
        </p:nvGrpSpPr>
        <p:grpSpPr>
          <a:xfrm rot="2700000">
            <a:off x="8350364" y="2721112"/>
            <a:ext cx="342533" cy="342530"/>
            <a:chOff x="8216107" y="2577307"/>
            <a:chExt cx="464355" cy="464350"/>
          </a:xfrm>
        </p:grpSpPr>
        <p:sp>
          <p:nvSpPr>
            <p:cNvPr id="207" name="Google Shape;207;p29"/>
            <p:cNvSpPr/>
            <p:nvPr/>
          </p:nvSpPr>
          <p:spPr>
            <a:xfrm>
              <a:off x="8216107" y="2577307"/>
              <a:ext cx="464355" cy="464350"/>
            </a:xfrm>
            <a:custGeom>
              <a:rect b="b" l="l" r="r" t="t"/>
              <a:pathLst>
                <a:path extrusionOk="0" h="21453" w="21426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8390732" y="2736850"/>
              <a:ext cx="125413" cy="130172"/>
            </a:xfrm>
            <a:custGeom>
              <a:rect b="b" l="l" r="r" t="t"/>
              <a:pathLst>
                <a:path extrusionOk="0" h="21516" w="21484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8375650" y="2896394"/>
              <a:ext cx="70662" cy="73839"/>
            </a:xfrm>
            <a:custGeom>
              <a:rect b="b" l="l" r="r" t="t"/>
              <a:pathLst>
                <a:path extrusionOk="0" h="21203" w="21188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8448675" y="2649538"/>
              <a:ext cx="71430" cy="74610"/>
            </a:xfrm>
            <a:custGeom>
              <a:rect b="b" l="l" r="r" t="t"/>
              <a:pathLst>
                <a:path extrusionOk="0" h="21196" w="21180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01" name="Google Shape;201;p29"/>
          <p:cNvSpPr/>
          <p:nvPr/>
        </p:nvSpPr>
        <p:spPr>
          <a:xfrm rot="5400000">
            <a:off x="8456475" y="3140600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6069641" y="2489716"/>
            <a:ext cx="1895100" cy="671100"/>
          </a:xfrm>
          <a:prstGeom prst="rect">
            <a:avLst/>
          </a:prstGeom>
          <a:solidFill>
            <a:srgbClr val="CCCDCB"/>
          </a:solidFill>
          <a:ln cap="flat" cmpd="sng" w="9525">
            <a:solidFill>
              <a:srgbClr val="CCCDC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libri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Private Wire Connection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2" name="Google Shape;212;p29"/>
          <p:cNvCxnSpPr>
            <a:stCxn id="205" idx="0"/>
            <a:endCxn id="211" idx="2"/>
          </p:cNvCxnSpPr>
          <p:nvPr/>
        </p:nvCxnSpPr>
        <p:spPr>
          <a:xfrm rot="10800000">
            <a:off x="7017190" y="3160850"/>
            <a:ext cx="0" cy="8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9"/>
          <p:cNvCxnSpPr>
            <a:stCxn id="211" idx="0"/>
            <a:endCxn id="200" idx="2"/>
          </p:cNvCxnSpPr>
          <p:nvPr/>
        </p:nvCxnSpPr>
        <p:spPr>
          <a:xfrm rot="10800000">
            <a:off x="7017191" y="1758016"/>
            <a:ext cx="0" cy="7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9"/>
          <p:cNvSpPr/>
          <p:nvPr/>
        </p:nvSpPr>
        <p:spPr>
          <a:xfrm rot="-5400000">
            <a:off x="6966950" y="3492225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 rot="-5400000">
            <a:off x="6966950" y="1985100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16" name="Google Shape;216;p29"/>
          <p:cNvGrpSpPr/>
          <p:nvPr/>
        </p:nvGrpSpPr>
        <p:grpSpPr>
          <a:xfrm>
            <a:off x="7612400" y="11788"/>
            <a:ext cx="1770600" cy="925817"/>
            <a:chOff x="7015025" y="2"/>
            <a:chExt cx="1770600" cy="1071300"/>
          </a:xfrm>
        </p:grpSpPr>
        <p:sp>
          <p:nvSpPr>
            <p:cNvPr id="217" name="Google Shape;217;p29"/>
            <p:cNvSpPr/>
            <p:nvPr/>
          </p:nvSpPr>
          <p:spPr>
            <a:xfrm>
              <a:off x="7015025" y="2"/>
              <a:ext cx="1770600" cy="10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 Electricity</a:t>
              </a:r>
              <a:endParaRPr b="1" sz="1000">
                <a:solidFill>
                  <a:schemeClr val="dk1"/>
                </a:solidFill>
                <a:highlight>
                  <a:srgbClr val="000000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 EACs/RECs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 Financing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8" name="Google Shape;218;p29"/>
            <p:cNvSpPr/>
            <p:nvPr/>
          </p:nvSpPr>
          <p:spPr>
            <a:xfrm>
              <a:off x="7336122" y="189400"/>
              <a:ext cx="85968" cy="211032"/>
            </a:xfrm>
            <a:custGeom>
              <a:rect b="b" l="l" r="r" t="t"/>
              <a:pathLst>
                <a:path extrusionOk="0" h="21600" w="21600">
                  <a:moveTo>
                    <a:pt x="9507" y="18652"/>
                  </a:moveTo>
                  <a:lnTo>
                    <a:pt x="10795" y="12327"/>
                  </a:lnTo>
                  <a:lnTo>
                    <a:pt x="10781" y="12326"/>
                  </a:lnTo>
                  <a:cubicBezTo>
                    <a:pt x="10785" y="12308"/>
                    <a:pt x="10800" y="12292"/>
                    <a:pt x="10800" y="12273"/>
                  </a:cubicBezTo>
                  <a:cubicBezTo>
                    <a:pt x="10800" y="12001"/>
                    <a:pt x="10398" y="11782"/>
                    <a:pt x="9900" y="11782"/>
                  </a:cubicBezTo>
                  <a:lnTo>
                    <a:pt x="2149" y="11782"/>
                  </a:lnTo>
                  <a:lnTo>
                    <a:pt x="8749" y="982"/>
                  </a:lnTo>
                  <a:lnTo>
                    <a:pt x="15850" y="982"/>
                  </a:lnTo>
                  <a:lnTo>
                    <a:pt x="11436" y="8190"/>
                  </a:lnTo>
                  <a:lnTo>
                    <a:pt x="11447" y="8192"/>
                  </a:lnTo>
                  <a:cubicBezTo>
                    <a:pt x="11417" y="8241"/>
                    <a:pt x="11391" y="8292"/>
                    <a:pt x="11391" y="8345"/>
                  </a:cubicBezTo>
                  <a:cubicBezTo>
                    <a:pt x="11391" y="8617"/>
                    <a:pt x="11794" y="8836"/>
                    <a:pt x="12291" y="8836"/>
                  </a:cubicBezTo>
                  <a:lnTo>
                    <a:pt x="19195" y="8836"/>
                  </a:lnTo>
                  <a:cubicBezTo>
                    <a:pt x="19195" y="8836"/>
                    <a:pt x="9507" y="18652"/>
                    <a:pt x="9507" y="18652"/>
                  </a:cubicBezTo>
                  <a:close/>
                  <a:moveTo>
                    <a:pt x="21600" y="8345"/>
                  </a:moveTo>
                  <a:cubicBezTo>
                    <a:pt x="21600" y="8074"/>
                    <a:pt x="21197" y="7855"/>
                    <a:pt x="20700" y="7855"/>
                  </a:cubicBezTo>
                  <a:lnTo>
                    <a:pt x="13541" y="7855"/>
                  </a:lnTo>
                  <a:lnTo>
                    <a:pt x="17954" y="646"/>
                  </a:lnTo>
                  <a:lnTo>
                    <a:pt x="17944" y="644"/>
                  </a:lnTo>
                  <a:cubicBezTo>
                    <a:pt x="17974" y="595"/>
                    <a:pt x="18000" y="546"/>
                    <a:pt x="18000" y="491"/>
                  </a:cubicBezTo>
                  <a:cubicBezTo>
                    <a:pt x="18000" y="221"/>
                    <a:pt x="17598" y="0"/>
                    <a:pt x="17100" y="0"/>
                  </a:cubicBezTo>
                  <a:lnTo>
                    <a:pt x="8101" y="0"/>
                  </a:lnTo>
                  <a:cubicBezTo>
                    <a:pt x="7703" y="0"/>
                    <a:pt x="7376" y="143"/>
                    <a:pt x="7257" y="338"/>
                  </a:cubicBezTo>
                  <a:lnTo>
                    <a:pt x="7246" y="336"/>
                  </a:lnTo>
                  <a:lnTo>
                    <a:pt x="47" y="12117"/>
                  </a:lnTo>
                  <a:lnTo>
                    <a:pt x="57" y="12120"/>
                  </a:lnTo>
                  <a:cubicBezTo>
                    <a:pt x="27" y="12168"/>
                    <a:pt x="0" y="12219"/>
                    <a:pt x="0" y="12273"/>
                  </a:cubicBezTo>
                  <a:cubicBezTo>
                    <a:pt x="0" y="12544"/>
                    <a:pt x="403" y="12764"/>
                    <a:pt x="900" y="12764"/>
                  </a:cubicBezTo>
                  <a:lnTo>
                    <a:pt x="8895" y="12764"/>
                  </a:lnTo>
                  <a:lnTo>
                    <a:pt x="7206" y="21055"/>
                  </a:lnTo>
                  <a:lnTo>
                    <a:pt x="7220" y="21056"/>
                  </a:lnTo>
                  <a:cubicBezTo>
                    <a:pt x="7216" y="21075"/>
                    <a:pt x="7200" y="21091"/>
                    <a:pt x="7200" y="21109"/>
                  </a:cubicBezTo>
                  <a:cubicBezTo>
                    <a:pt x="7200" y="21380"/>
                    <a:pt x="7603" y="21600"/>
                    <a:pt x="8101" y="21600"/>
                  </a:cubicBezTo>
                  <a:cubicBezTo>
                    <a:pt x="8464" y="21600"/>
                    <a:pt x="8761" y="21480"/>
                    <a:pt x="8900" y="21310"/>
                  </a:cubicBezTo>
                  <a:lnTo>
                    <a:pt x="8918" y="21315"/>
                  </a:lnTo>
                  <a:lnTo>
                    <a:pt x="21517" y="8552"/>
                  </a:lnTo>
                  <a:lnTo>
                    <a:pt x="21513" y="8551"/>
                  </a:lnTo>
                  <a:cubicBezTo>
                    <a:pt x="21567" y="8487"/>
                    <a:pt x="21600" y="8419"/>
                    <a:pt x="21600" y="83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7314622" y="457436"/>
              <a:ext cx="128952" cy="211032"/>
            </a:xfrm>
            <a:custGeom>
              <a:rect b="b" l="l" r="r" t="t"/>
              <a:pathLst>
                <a:path extrusionOk="0" h="21600" w="21600">
                  <a:moveTo>
                    <a:pt x="14400" y="5891"/>
                  </a:moveTo>
                  <a:lnTo>
                    <a:pt x="14400" y="982"/>
                  </a:lnTo>
                  <a:lnTo>
                    <a:pt x="15000" y="982"/>
                  </a:lnTo>
                  <a:lnTo>
                    <a:pt x="20400" y="5891"/>
                  </a:lnTo>
                  <a:cubicBezTo>
                    <a:pt x="20400" y="5891"/>
                    <a:pt x="14400" y="5891"/>
                    <a:pt x="14400" y="5891"/>
                  </a:cubicBezTo>
                  <a:close/>
                  <a:moveTo>
                    <a:pt x="20400" y="19636"/>
                  </a:moveTo>
                  <a:cubicBezTo>
                    <a:pt x="20400" y="20179"/>
                    <a:pt x="19862" y="20618"/>
                    <a:pt x="19200" y="20618"/>
                  </a:cubicBezTo>
                  <a:lnTo>
                    <a:pt x="2400" y="20618"/>
                  </a:lnTo>
                  <a:cubicBezTo>
                    <a:pt x="1737" y="20618"/>
                    <a:pt x="1200" y="20179"/>
                    <a:pt x="1200" y="19636"/>
                  </a:cubicBezTo>
                  <a:lnTo>
                    <a:pt x="1200" y="1964"/>
                  </a:lnTo>
                  <a:cubicBezTo>
                    <a:pt x="1200" y="1422"/>
                    <a:pt x="1737" y="982"/>
                    <a:pt x="2400" y="982"/>
                  </a:cubicBezTo>
                  <a:lnTo>
                    <a:pt x="13200" y="982"/>
                  </a:lnTo>
                  <a:lnTo>
                    <a:pt x="13200" y="5891"/>
                  </a:lnTo>
                  <a:cubicBezTo>
                    <a:pt x="13200" y="6433"/>
                    <a:pt x="13738" y="6873"/>
                    <a:pt x="14400" y="6873"/>
                  </a:cubicBezTo>
                  <a:lnTo>
                    <a:pt x="20400" y="6873"/>
                  </a:lnTo>
                  <a:cubicBezTo>
                    <a:pt x="20400" y="6873"/>
                    <a:pt x="20400" y="19636"/>
                    <a:pt x="20400" y="19636"/>
                  </a:cubicBezTo>
                  <a:close/>
                  <a:moveTo>
                    <a:pt x="15600" y="0"/>
                  </a:moveTo>
                  <a:lnTo>
                    <a:pt x="2400" y="0"/>
                  </a:lnTo>
                  <a:cubicBezTo>
                    <a:pt x="1075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1075" y="21600"/>
                    <a:pt x="2400" y="21600"/>
                  </a:cubicBezTo>
                  <a:lnTo>
                    <a:pt x="19200" y="21600"/>
                  </a:lnTo>
                  <a:cubicBezTo>
                    <a:pt x="20525" y="21600"/>
                    <a:pt x="21600" y="20721"/>
                    <a:pt x="21600" y="19636"/>
                  </a:cubicBezTo>
                  <a:lnTo>
                    <a:pt x="21600" y="5400"/>
                  </a:lnTo>
                  <a:cubicBezTo>
                    <a:pt x="21600" y="5400"/>
                    <a:pt x="15600" y="0"/>
                    <a:pt x="15600" y="0"/>
                  </a:cubicBezTo>
                  <a:close/>
                  <a:moveTo>
                    <a:pt x="4800" y="8836"/>
                  </a:moveTo>
                  <a:cubicBezTo>
                    <a:pt x="4800" y="9108"/>
                    <a:pt x="5068" y="9327"/>
                    <a:pt x="5400" y="9327"/>
                  </a:cubicBezTo>
                  <a:lnTo>
                    <a:pt x="16200" y="9327"/>
                  </a:lnTo>
                  <a:cubicBezTo>
                    <a:pt x="16532" y="9327"/>
                    <a:pt x="16800" y="9108"/>
                    <a:pt x="16800" y="8836"/>
                  </a:cubicBezTo>
                  <a:cubicBezTo>
                    <a:pt x="16800" y="8566"/>
                    <a:pt x="16532" y="8345"/>
                    <a:pt x="16200" y="8345"/>
                  </a:cubicBezTo>
                  <a:lnTo>
                    <a:pt x="5400" y="8345"/>
                  </a:lnTo>
                  <a:cubicBezTo>
                    <a:pt x="5068" y="8345"/>
                    <a:pt x="4800" y="8566"/>
                    <a:pt x="4800" y="8836"/>
                  </a:cubicBezTo>
                  <a:moveTo>
                    <a:pt x="16200" y="12273"/>
                  </a:moveTo>
                  <a:lnTo>
                    <a:pt x="5400" y="12273"/>
                  </a:lnTo>
                  <a:cubicBezTo>
                    <a:pt x="5068" y="12273"/>
                    <a:pt x="4800" y="12493"/>
                    <a:pt x="4800" y="12764"/>
                  </a:cubicBezTo>
                  <a:cubicBezTo>
                    <a:pt x="4800" y="13035"/>
                    <a:pt x="5068" y="13255"/>
                    <a:pt x="5400" y="13255"/>
                  </a:cubicBezTo>
                  <a:lnTo>
                    <a:pt x="16200" y="13255"/>
                  </a:lnTo>
                  <a:cubicBezTo>
                    <a:pt x="16532" y="13255"/>
                    <a:pt x="16800" y="13035"/>
                    <a:pt x="16800" y="12764"/>
                  </a:cubicBezTo>
                  <a:cubicBezTo>
                    <a:pt x="16800" y="12493"/>
                    <a:pt x="16532" y="12273"/>
                    <a:pt x="16200" y="12273"/>
                  </a:cubicBezTo>
                  <a:moveTo>
                    <a:pt x="5400" y="5400"/>
                  </a:moveTo>
                  <a:lnTo>
                    <a:pt x="8400" y="5400"/>
                  </a:lnTo>
                  <a:cubicBezTo>
                    <a:pt x="8732" y="5400"/>
                    <a:pt x="9000" y="5181"/>
                    <a:pt x="9000" y="4909"/>
                  </a:cubicBezTo>
                  <a:cubicBezTo>
                    <a:pt x="9000" y="4638"/>
                    <a:pt x="8732" y="4418"/>
                    <a:pt x="8400" y="4418"/>
                  </a:cubicBezTo>
                  <a:lnTo>
                    <a:pt x="5400" y="4418"/>
                  </a:lnTo>
                  <a:cubicBezTo>
                    <a:pt x="5068" y="4418"/>
                    <a:pt x="4800" y="4638"/>
                    <a:pt x="4800" y="4909"/>
                  </a:cubicBezTo>
                  <a:cubicBezTo>
                    <a:pt x="4800" y="5181"/>
                    <a:pt x="5068" y="5400"/>
                    <a:pt x="5400" y="5400"/>
                  </a:cubicBezTo>
                  <a:moveTo>
                    <a:pt x="12600" y="16200"/>
                  </a:moveTo>
                  <a:lnTo>
                    <a:pt x="5400" y="16200"/>
                  </a:lnTo>
                  <a:cubicBezTo>
                    <a:pt x="5068" y="16200"/>
                    <a:pt x="4800" y="16420"/>
                    <a:pt x="4800" y="16691"/>
                  </a:cubicBezTo>
                  <a:cubicBezTo>
                    <a:pt x="4800" y="16962"/>
                    <a:pt x="5068" y="17182"/>
                    <a:pt x="5400" y="17182"/>
                  </a:cubicBezTo>
                  <a:lnTo>
                    <a:pt x="12600" y="17182"/>
                  </a:lnTo>
                  <a:cubicBezTo>
                    <a:pt x="12932" y="17182"/>
                    <a:pt x="13200" y="16962"/>
                    <a:pt x="13200" y="16691"/>
                  </a:cubicBezTo>
                  <a:cubicBezTo>
                    <a:pt x="13200" y="16420"/>
                    <a:pt x="12932" y="16200"/>
                    <a:pt x="12600" y="162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" name="Google Shape;220;p29"/>
            <p:cNvGrpSpPr/>
            <p:nvPr/>
          </p:nvGrpSpPr>
          <p:grpSpPr>
            <a:xfrm rot="3194266">
              <a:off x="7265207" y="698549"/>
              <a:ext cx="227330" cy="227328"/>
              <a:chOff x="8216107" y="2577307"/>
              <a:chExt cx="464355" cy="464350"/>
            </a:xfrm>
          </p:grpSpPr>
          <p:sp>
            <p:nvSpPr>
              <p:cNvPr id="221" name="Google Shape;221;p29"/>
              <p:cNvSpPr/>
              <p:nvPr/>
            </p:nvSpPr>
            <p:spPr>
              <a:xfrm>
                <a:off x="8216107" y="2577307"/>
                <a:ext cx="464355" cy="464350"/>
              </a:xfrm>
              <a:custGeom>
                <a:rect b="b" l="l" r="r" t="t"/>
                <a:pathLst>
                  <a:path extrusionOk="0" h="21453" w="21426">
                    <a:moveTo>
                      <a:pt x="8034" y="20112"/>
                    </a:moveTo>
                    <a:cubicBezTo>
                      <a:pt x="5816" y="17892"/>
                      <a:pt x="3556" y="15628"/>
                      <a:pt x="1338" y="13408"/>
                    </a:cubicBezTo>
                    <a:cubicBezTo>
                      <a:pt x="3241" y="7240"/>
                      <a:pt x="11488" y="7509"/>
                      <a:pt x="13391" y="1341"/>
                    </a:cubicBezTo>
                    <a:cubicBezTo>
                      <a:pt x="15609" y="3560"/>
                      <a:pt x="17869" y="5825"/>
                      <a:pt x="20087" y="8045"/>
                    </a:cubicBezTo>
                    <a:cubicBezTo>
                      <a:pt x="18184" y="14212"/>
                      <a:pt x="9937" y="13944"/>
                      <a:pt x="8034" y="20112"/>
                    </a:cubicBezTo>
                    <a:moveTo>
                      <a:pt x="21034" y="7097"/>
                    </a:moveTo>
                    <a:lnTo>
                      <a:pt x="14338" y="393"/>
                    </a:lnTo>
                    <a:cubicBezTo>
                      <a:pt x="14006" y="60"/>
                      <a:pt x="13525" y="-73"/>
                      <a:pt x="13069" y="39"/>
                    </a:cubicBezTo>
                    <a:cubicBezTo>
                      <a:pt x="12828" y="98"/>
                      <a:pt x="12614" y="222"/>
                      <a:pt x="12444" y="393"/>
                    </a:cubicBezTo>
                    <a:cubicBezTo>
                      <a:pt x="12292" y="545"/>
                      <a:pt x="12177" y="733"/>
                      <a:pt x="12112" y="944"/>
                    </a:cubicBezTo>
                    <a:cubicBezTo>
                      <a:pt x="11808" y="1929"/>
                      <a:pt x="11283" y="2785"/>
                      <a:pt x="10507" y="3562"/>
                    </a:cubicBezTo>
                    <a:cubicBezTo>
                      <a:pt x="9471" y="4598"/>
                      <a:pt x="8121" y="5384"/>
                      <a:pt x="6693" y="6214"/>
                    </a:cubicBezTo>
                    <a:cubicBezTo>
                      <a:pt x="5177" y="7094"/>
                      <a:pt x="3611" y="8006"/>
                      <a:pt x="2328" y="9290"/>
                    </a:cubicBezTo>
                    <a:cubicBezTo>
                      <a:pt x="1237" y="10383"/>
                      <a:pt x="493" y="11600"/>
                      <a:pt x="59" y="13011"/>
                    </a:cubicBezTo>
                    <a:cubicBezTo>
                      <a:pt x="-87" y="13488"/>
                      <a:pt x="40" y="14004"/>
                      <a:pt x="391" y="14356"/>
                    </a:cubicBezTo>
                    <a:lnTo>
                      <a:pt x="7087" y="21060"/>
                    </a:lnTo>
                    <a:cubicBezTo>
                      <a:pt x="7419" y="21393"/>
                      <a:pt x="7900" y="21526"/>
                      <a:pt x="8356" y="21414"/>
                    </a:cubicBezTo>
                    <a:cubicBezTo>
                      <a:pt x="8597" y="21354"/>
                      <a:pt x="8811" y="21231"/>
                      <a:pt x="8981" y="21060"/>
                    </a:cubicBezTo>
                    <a:cubicBezTo>
                      <a:pt x="9133" y="20908"/>
                      <a:pt x="9248" y="20720"/>
                      <a:pt x="9314" y="20508"/>
                    </a:cubicBezTo>
                    <a:cubicBezTo>
                      <a:pt x="9617" y="19523"/>
                      <a:pt x="10142" y="18667"/>
                      <a:pt x="10918" y="17890"/>
                    </a:cubicBezTo>
                    <a:cubicBezTo>
                      <a:pt x="11954" y="16853"/>
                      <a:pt x="13304" y="16069"/>
                      <a:pt x="14733" y="15239"/>
                    </a:cubicBezTo>
                    <a:cubicBezTo>
                      <a:pt x="16248" y="14357"/>
                      <a:pt x="17814" y="13446"/>
                      <a:pt x="19097" y="12162"/>
                    </a:cubicBezTo>
                    <a:cubicBezTo>
                      <a:pt x="20188" y="11070"/>
                      <a:pt x="20932" y="9852"/>
                      <a:pt x="21366" y="8440"/>
                    </a:cubicBezTo>
                    <a:cubicBezTo>
                      <a:pt x="21512" y="7965"/>
                      <a:pt x="21385" y="7448"/>
                      <a:pt x="21034" y="70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2" name="Google Shape;222;p29"/>
              <p:cNvSpPr/>
              <p:nvPr/>
            </p:nvSpPr>
            <p:spPr>
              <a:xfrm>
                <a:off x="8390732" y="2736850"/>
                <a:ext cx="125413" cy="130172"/>
              </a:xfrm>
              <a:custGeom>
                <a:rect b="b" l="l" r="r" t="t"/>
                <a:pathLst>
                  <a:path extrusionOk="0" h="21516" w="21484">
                    <a:moveTo>
                      <a:pt x="17511" y="14987"/>
                    </a:moveTo>
                    <a:cubicBezTo>
                      <a:pt x="17287" y="15384"/>
                      <a:pt x="17032" y="15740"/>
                      <a:pt x="16731" y="16049"/>
                    </a:cubicBezTo>
                    <a:cubicBezTo>
                      <a:pt x="15340" y="14692"/>
                      <a:pt x="13947" y="13205"/>
                      <a:pt x="12559" y="11675"/>
                    </a:cubicBezTo>
                    <a:cubicBezTo>
                      <a:pt x="12912" y="11521"/>
                      <a:pt x="13287" y="11362"/>
                      <a:pt x="13689" y="11198"/>
                    </a:cubicBezTo>
                    <a:cubicBezTo>
                      <a:pt x="14092" y="11034"/>
                      <a:pt x="14494" y="10927"/>
                      <a:pt x="14895" y="10861"/>
                    </a:cubicBezTo>
                    <a:cubicBezTo>
                      <a:pt x="15308" y="10801"/>
                      <a:pt x="15715" y="10819"/>
                      <a:pt x="16122" y="10913"/>
                    </a:cubicBezTo>
                    <a:cubicBezTo>
                      <a:pt x="16527" y="11011"/>
                      <a:pt x="16909" y="11222"/>
                      <a:pt x="17262" y="11554"/>
                    </a:cubicBezTo>
                    <a:cubicBezTo>
                      <a:pt x="17612" y="11890"/>
                      <a:pt x="17835" y="12244"/>
                      <a:pt x="17923" y="12620"/>
                    </a:cubicBezTo>
                    <a:cubicBezTo>
                      <a:pt x="18020" y="13004"/>
                      <a:pt x="18025" y="13392"/>
                      <a:pt x="17958" y="13789"/>
                    </a:cubicBezTo>
                    <a:cubicBezTo>
                      <a:pt x="17883" y="14187"/>
                      <a:pt x="17738" y="14585"/>
                      <a:pt x="17511" y="14987"/>
                    </a:cubicBezTo>
                    <a:moveTo>
                      <a:pt x="5799" y="10193"/>
                    </a:moveTo>
                    <a:cubicBezTo>
                      <a:pt x="5096" y="10221"/>
                      <a:pt x="4482" y="9996"/>
                      <a:pt x="3946" y="9496"/>
                    </a:cubicBezTo>
                    <a:cubicBezTo>
                      <a:pt x="3717" y="9285"/>
                      <a:pt x="3558" y="9028"/>
                      <a:pt x="3461" y="8724"/>
                    </a:cubicBezTo>
                    <a:cubicBezTo>
                      <a:pt x="3359" y="8420"/>
                      <a:pt x="3326" y="8088"/>
                      <a:pt x="3366" y="7723"/>
                    </a:cubicBezTo>
                    <a:cubicBezTo>
                      <a:pt x="3397" y="7363"/>
                      <a:pt x="3509" y="6989"/>
                      <a:pt x="3703" y="6610"/>
                    </a:cubicBezTo>
                    <a:cubicBezTo>
                      <a:pt x="3889" y="6231"/>
                      <a:pt x="4160" y="5852"/>
                      <a:pt x="4510" y="5487"/>
                    </a:cubicBezTo>
                    <a:cubicBezTo>
                      <a:pt x="5768" y="6694"/>
                      <a:pt x="7022" y="8018"/>
                      <a:pt x="8282" y="9388"/>
                    </a:cubicBezTo>
                    <a:cubicBezTo>
                      <a:pt x="7330" y="9893"/>
                      <a:pt x="6501" y="10164"/>
                      <a:pt x="5799" y="10193"/>
                    </a:cubicBezTo>
                    <a:moveTo>
                      <a:pt x="19678" y="8570"/>
                    </a:moveTo>
                    <a:cubicBezTo>
                      <a:pt x="18868" y="7915"/>
                      <a:pt x="18055" y="7470"/>
                      <a:pt x="17235" y="7250"/>
                    </a:cubicBezTo>
                    <a:cubicBezTo>
                      <a:pt x="16421" y="7031"/>
                      <a:pt x="15603" y="6942"/>
                      <a:pt x="14779" y="6998"/>
                    </a:cubicBezTo>
                    <a:cubicBezTo>
                      <a:pt x="13964" y="7059"/>
                      <a:pt x="13130" y="7236"/>
                      <a:pt x="12296" y="7545"/>
                    </a:cubicBezTo>
                    <a:cubicBezTo>
                      <a:pt x="11462" y="7859"/>
                      <a:pt x="10625" y="8200"/>
                      <a:pt x="9782" y="8593"/>
                    </a:cubicBezTo>
                    <a:cubicBezTo>
                      <a:pt x="8448" y="7115"/>
                      <a:pt x="7114" y="5658"/>
                      <a:pt x="5778" y="4299"/>
                    </a:cubicBezTo>
                    <a:cubicBezTo>
                      <a:pt x="6382" y="3775"/>
                      <a:pt x="6963" y="3509"/>
                      <a:pt x="7526" y="3490"/>
                    </a:cubicBezTo>
                    <a:cubicBezTo>
                      <a:pt x="8088" y="3467"/>
                      <a:pt x="8631" y="3523"/>
                      <a:pt x="9145" y="3649"/>
                    </a:cubicBezTo>
                    <a:cubicBezTo>
                      <a:pt x="9669" y="3775"/>
                      <a:pt x="10149" y="3883"/>
                      <a:pt x="10590" y="3967"/>
                    </a:cubicBezTo>
                    <a:cubicBezTo>
                      <a:pt x="11038" y="4051"/>
                      <a:pt x="11424" y="3958"/>
                      <a:pt x="11765" y="3682"/>
                    </a:cubicBezTo>
                    <a:cubicBezTo>
                      <a:pt x="12123" y="3382"/>
                      <a:pt x="12321" y="2994"/>
                      <a:pt x="12351" y="2526"/>
                    </a:cubicBezTo>
                    <a:cubicBezTo>
                      <a:pt x="12376" y="2054"/>
                      <a:pt x="12189" y="1596"/>
                      <a:pt x="11782" y="1147"/>
                    </a:cubicBezTo>
                    <a:cubicBezTo>
                      <a:pt x="11258" y="569"/>
                      <a:pt x="10630" y="216"/>
                      <a:pt x="9872" y="85"/>
                    </a:cubicBezTo>
                    <a:cubicBezTo>
                      <a:pt x="9126" y="-41"/>
                      <a:pt x="8358" y="-30"/>
                      <a:pt x="7564" y="136"/>
                    </a:cubicBezTo>
                    <a:cubicBezTo>
                      <a:pt x="6780" y="309"/>
                      <a:pt x="6032" y="595"/>
                      <a:pt x="5324" y="997"/>
                    </a:cubicBezTo>
                    <a:cubicBezTo>
                      <a:pt x="4617" y="1399"/>
                      <a:pt x="4048" y="1811"/>
                      <a:pt x="3626" y="2213"/>
                    </a:cubicBezTo>
                    <a:cubicBezTo>
                      <a:pt x="3464" y="2066"/>
                      <a:pt x="3302" y="1918"/>
                      <a:pt x="3141" y="1773"/>
                    </a:cubicBezTo>
                    <a:cubicBezTo>
                      <a:pt x="2963" y="1614"/>
                      <a:pt x="2739" y="1530"/>
                      <a:pt x="2471" y="1535"/>
                    </a:cubicBezTo>
                    <a:cubicBezTo>
                      <a:pt x="2200" y="1535"/>
                      <a:pt x="1977" y="1647"/>
                      <a:pt x="1793" y="1853"/>
                    </a:cubicBezTo>
                    <a:cubicBezTo>
                      <a:pt x="1615" y="2054"/>
                      <a:pt x="1530" y="2288"/>
                      <a:pt x="1565" y="2536"/>
                    </a:cubicBezTo>
                    <a:cubicBezTo>
                      <a:pt x="1589" y="2793"/>
                      <a:pt x="1696" y="2989"/>
                      <a:pt x="1880" y="3139"/>
                    </a:cubicBezTo>
                    <a:cubicBezTo>
                      <a:pt x="2044" y="3270"/>
                      <a:pt x="2203" y="3401"/>
                      <a:pt x="2364" y="3537"/>
                    </a:cubicBezTo>
                    <a:cubicBezTo>
                      <a:pt x="1731" y="4276"/>
                      <a:pt x="1207" y="5094"/>
                      <a:pt x="795" y="5957"/>
                    </a:cubicBezTo>
                    <a:cubicBezTo>
                      <a:pt x="378" y="6820"/>
                      <a:pt x="130" y="7676"/>
                      <a:pt x="37" y="8509"/>
                    </a:cubicBezTo>
                    <a:cubicBezTo>
                      <a:pt x="-59" y="9346"/>
                      <a:pt x="33" y="10113"/>
                      <a:pt x="298" y="10824"/>
                    </a:cubicBezTo>
                    <a:cubicBezTo>
                      <a:pt x="566" y="11540"/>
                      <a:pt x="1056" y="12148"/>
                      <a:pt x="1774" y="12723"/>
                    </a:cubicBezTo>
                    <a:cubicBezTo>
                      <a:pt x="2942" y="13658"/>
                      <a:pt x="4321" y="14056"/>
                      <a:pt x="5915" y="13967"/>
                    </a:cubicBezTo>
                    <a:cubicBezTo>
                      <a:pt x="7507" y="13874"/>
                      <a:pt x="9223" y="13415"/>
                      <a:pt x="11064" y="12461"/>
                    </a:cubicBezTo>
                    <a:cubicBezTo>
                      <a:pt x="12532" y="14093"/>
                      <a:pt x="14002" y="15716"/>
                      <a:pt x="15470" y="17223"/>
                    </a:cubicBezTo>
                    <a:cubicBezTo>
                      <a:pt x="14849" y="17728"/>
                      <a:pt x="14305" y="18018"/>
                      <a:pt x="13826" y="18111"/>
                    </a:cubicBezTo>
                    <a:cubicBezTo>
                      <a:pt x="13344" y="18210"/>
                      <a:pt x="12917" y="18200"/>
                      <a:pt x="12530" y="18088"/>
                    </a:cubicBezTo>
                    <a:cubicBezTo>
                      <a:pt x="12142" y="17971"/>
                      <a:pt x="11782" y="17803"/>
                      <a:pt x="11455" y="17587"/>
                    </a:cubicBezTo>
                    <a:cubicBezTo>
                      <a:pt x="11125" y="17368"/>
                      <a:pt x="10799" y="17181"/>
                      <a:pt x="10474" y="17026"/>
                    </a:cubicBezTo>
                    <a:cubicBezTo>
                      <a:pt x="10154" y="16872"/>
                      <a:pt x="9823" y="16788"/>
                      <a:pt x="9486" y="16783"/>
                    </a:cubicBezTo>
                    <a:cubicBezTo>
                      <a:pt x="9145" y="16778"/>
                      <a:pt x="8785" y="16937"/>
                      <a:pt x="8388" y="17265"/>
                    </a:cubicBezTo>
                    <a:cubicBezTo>
                      <a:pt x="7981" y="17606"/>
                      <a:pt x="7777" y="18004"/>
                      <a:pt x="7777" y="18453"/>
                    </a:cubicBezTo>
                    <a:cubicBezTo>
                      <a:pt x="7777" y="18897"/>
                      <a:pt x="7991" y="19351"/>
                      <a:pt x="8408" y="19809"/>
                    </a:cubicBezTo>
                    <a:cubicBezTo>
                      <a:pt x="8830" y="20268"/>
                      <a:pt x="9379" y="20651"/>
                      <a:pt x="10042" y="20955"/>
                    </a:cubicBezTo>
                    <a:cubicBezTo>
                      <a:pt x="10708" y="21259"/>
                      <a:pt x="11455" y="21451"/>
                      <a:pt x="12279" y="21502"/>
                    </a:cubicBezTo>
                    <a:cubicBezTo>
                      <a:pt x="13103" y="21559"/>
                      <a:pt x="13970" y="21437"/>
                      <a:pt x="14886" y="21109"/>
                    </a:cubicBezTo>
                    <a:cubicBezTo>
                      <a:pt x="15807" y="20787"/>
                      <a:pt x="16721" y="20202"/>
                      <a:pt x="17617" y="19332"/>
                    </a:cubicBezTo>
                    <a:cubicBezTo>
                      <a:pt x="18051" y="19739"/>
                      <a:pt x="18489" y="20127"/>
                      <a:pt x="18921" y="20501"/>
                    </a:cubicBezTo>
                    <a:cubicBezTo>
                      <a:pt x="19107" y="20656"/>
                      <a:pt x="19328" y="20731"/>
                      <a:pt x="19601" y="20712"/>
                    </a:cubicBezTo>
                    <a:cubicBezTo>
                      <a:pt x="19861" y="20703"/>
                      <a:pt x="20090" y="20586"/>
                      <a:pt x="20269" y="20375"/>
                    </a:cubicBezTo>
                    <a:cubicBezTo>
                      <a:pt x="20455" y="20160"/>
                      <a:pt x="20532" y="19921"/>
                      <a:pt x="20503" y="19674"/>
                    </a:cubicBezTo>
                    <a:cubicBezTo>
                      <a:pt x="20477" y="19421"/>
                      <a:pt x="20371" y="19229"/>
                      <a:pt x="20192" y="19089"/>
                    </a:cubicBezTo>
                    <a:cubicBezTo>
                      <a:pt x="19755" y="18752"/>
                      <a:pt x="19321" y="18397"/>
                      <a:pt x="18884" y="18022"/>
                    </a:cubicBezTo>
                    <a:cubicBezTo>
                      <a:pt x="19626" y="17143"/>
                      <a:pt x="20221" y="16217"/>
                      <a:pt x="20664" y="15300"/>
                    </a:cubicBezTo>
                    <a:cubicBezTo>
                      <a:pt x="21103" y="14379"/>
                      <a:pt x="21367" y="13490"/>
                      <a:pt x="21453" y="12667"/>
                    </a:cubicBezTo>
                    <a:cubicBezTo>
                      <a:pt x="21540" y="11839"/>
                      <a:pt x="21439" y="11091"/>
                      <a:pt x="21159" y="10412"/>
                    </a:cubicBezTo>
                    <a:cubicBezTo>
                      <a:pt x="20880" y="9725"/>
                      <a:pt x="20386" y="9135"/>
                      <a:pt x="19678" y="85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3" name="Google Shape;223;p29"/>
              <p:cNvSpPr/>
              <p:nvPr/>
            </p:nvSpPr>
            <p:spPr>
              <a:xfrm>
                <a:off x="8375650" y="2896394"/>
                <a:ext cx="70662" cy="73839"/>
              </a:xfrm>
              <a:custGeom>
                <a:rect b="b" l="l" r="r" t="t"/>
                <a:pathLst>
                  <a:path extrusionOk="0" h="21203" w="21188">
                    <a:moveTo>
                      <a:pt x="17615" y="468"/>
                    </a:moveTo>
                    <a:lnTo>
                      <a:pt x="17606" y="468"/>
                    </a:lnTo>
                    <a:cubicBezTo>
                      <a:pt x="14870" y="2476"/>
                      <a:pt x="12200" y="4590"/>
                      <a:pt x="9727" y="6958"/>
                    </a:cubicBezTo>
                    <a:cubicBezTo>
                      <a:pt x="7348" y="9227"/>
                      <a:pt x="5200" y="11619"/>
                      <a:pt x="3329" y="14060"/>
                    </a:cubicBezTo>
                    <a:lnTo>
                      <a:pt x="341" y="17962"/>
                    </a:lnTo>
                    <a:lnTo>
                      <a:pt x="350" y="17970"/>
                    </a:lnTo>
                    <a:cubicBezTo>
                      <a:pt x="-197" y="18786"/>
                      <a:pt x="-106" y="19880"/>
                      <a:pt x="638" y="20590"/>
                    </a:cubicBezTo>
                    <a:cubicBezTo>
                      <a:pt x="1491" y="21407"/>
                      <a:pt x="2889" y="21407"/>
                      <a:pt x="3746" y="20590"/>
                    </a:cubicBezTo>
                    <a:cubicBezTo>
                      <a:pt x="3877" y="20460"/>
                      <a:pt x="3984" y="20321"/>
                      <a:pt x="4069" y="20174"/>
                    </a:cubicBezTo>
                    <a:lnTo>
                      <a:pt x="6867" y="16517"/>
                    </a:lnTo>
                    <a:cubicBezTo>
                      <a:pt x="8601" y="14255"/>
                      <a:pt x="10606" y="12027"/>
                      <a:pt x="12824" y="9913"/>
                    </a:cubicBezTo>
                    <a:cubicBezTo>
                      <a:pt x="15281" y="7570"/>
                      <a:pt x="17557" y="5758"/>
                      <a:pt x="20329" y="3749"/>
                    </a:cubicBezTo>
                    <a:lnTo>
                      <a:pt x="20321" y="3741"/>
                    </a:lnTo>
                    <a:cubicBezTo>
                      <a:pt x="20400" y="3684"/>
                      <a:pt x="20473" y="3635"/>
                      <a:pt x="20543" y="3570"/>
                    </a:cubicBezTo>
                    <a:cubicBezTo>
                      <a:pt x="21402" y="2753"/>
                      <a:pt x="21402" y="1427"/>
                      <a:pt x="20543" y="606"/>
                    </a:cubicBezTo>
                    <a:cubicBezTo>
                      <a:pt x="19742" y="-161"/>
                      <a:pt x="18472" y="-193"/>
                      <a:pt x="17615" y="4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24" name="Google Shape;224;p29"/>
              <p:cNvSpPr/>
              <p:nvPr/>
            </p:nvSpPr>
            <p:spPr>
              <a:xfrm>
                <a:off x="8448675" y="2649538"/>
                <a:ext cx="71430" cy="74610"/>
              </a:xfrm>
              <a:custGeom>
                <a:rect b="b" l="l" r="r" t="t"/>
                <a:pathLst>
                  <a:path extrusionOk="0" h="21196" w="21180">
                    <a:moveTo>
                      <a:pt x="8372" y="11356"/>
                    </a:moveTo>
                    <a:cubicBezTo>
                      <a:pt x="6122" y="13508"/>
                      <a:pt x="3675" y="15444"/>
                      <a:pt x="1144" y="17292"/>
                    </a:cubicBezTo>
                    <a:cubicBezTo>
                      <a:pt x="963" y="17388"/>
                      <a:pt x="786" y="17493"/>
                      <a:pt x="637" y="17645"/>
                    </a:cubicBezTo>
                    <a:cubicBezTo>
                      <a:pt x="-213" y="18457"/>
                      <a:pt x="-213" y="19774"/>
                      <a:pt x="637" y="20585"/>
                    </a:cubicBezTo>
                    <a:cubicBezTo>
                      <a:pt x="1464" y="21380"/>
                      <a:pt x="2796" y="21397"/>
                      <a:pt x="3652" y="20641"/>
                    </a:cubicBezTo>
                    <a:lnTo>
                      <a:pt x="3665" y="20649"/>
                    </a:lnTo>
                    <a:cubicBezTo>
                      <a:pt x="6364" y="18673"/>
                      <a:pt x="8988" y="16581"/>
                      <a:pt x="11419" y="14263"/>
                    </a:cubicBezTo>
                    <a:cubicBezTo>
                      <a:pt x="13759" y="12030"/>
                      <a:pt x="15873" y="9685"/>
                      <a:pt x="17715" y="7283"/>
                    </a:cubicBezTo>
                    <a:lnTo>
                      <a:pt x="20663" y="3427"/>
                    </a:lnTo>
                    <a:lnTo>
                      <a:pt x="20654" y="3419"/>
                    </a:lnTo>
                    <a:cubicBezTo>
                      <a:pt x="21386" y="2600"/>
                      <a:pt x="21357" y="1379"/>
                      <a:pt x="20541" y="608"/>
                    </a:cubicBezTo>
                    <a:cubicBezTo>
                      <a:pt x="19697" y="-203"/>
                      <a:pt x="18323" y="-203"/>
                      <a:pt x="17468" y="608"/>
                    </a:cubicBezTo>
                    <a:cubicBezTo>
                      <a:pt x="17313" y="760"/>
                      <a:pt x="17197" y="937"/>
                      <a:pt x="17094" y="1114"/>
                    </a:cubicBezTo>
                    <a:lnTo>
                      <a:pt x="14228" y="4857"/>
                    </a:lnTo>
                    <a:cubicBezTo>
                      <a:pt x="12526" y="7090"/>
                      <a:pt x="10552" y="9275"/>
                      <a:pt x="8372" y="113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cxnSp>
        <p:nvCxnSpPr>
          <p:cNvPr id="225" name="Google Shape;225;p29"/>
          <p:cNvCxnSpPr>
            <a:stCxn id="205" idx="3"/>
            <a:endCxn id="201" idx="3"/>
          </p:cNvCxnSpPr>
          <p:nvPr/>
        </p:nvCxnSpPr>
        <p:spPr>
          <a:xfrm flipH="1" rot="10800000">
            <a:off x="7952653" y="3261423"/>
            <a:ext cx="554100" cy="114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>
            <a:off x="970075" y="1271900"/>
            <a:ext cx="4064100" cy="3577200"/>
          </a:xfrm>
          <a:prstGeom prst="roundRect">
            <a:avLst>
              <a:gd fmla="val 16667" name="adj"/>
            </a:avLst>
          </a:prstGeom>
          <a:solidFill>
            <a:srgbClr val="2D3A4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D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832125" y="72450"/>
            <a:ext cx="71844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Off-Site DPPA: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"/>
                <a:ea typeface="Montserrat"/>
                <a:cs typeface="Montserrat"/>
                <a:sym typeface="Montserrat"/>
              </a:rPr>
              <a:t>Synthetic Model</a:t>
            </a:r>
            <a:endParaRPr sz="2400">
              <a:solidFill>
                <a:srgbClr val="2E3A4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832113" y="1386038"/>
            <a:ext cx="420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Synthetic DPPA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0" y="864525"/>
            <a:ext cx="57579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1097000" y="2699875"/>
            <a:ext cx="3892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Energy customer finalizes a PPA with a project developer for a strike price per kWh.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EVN provides corporate buyer with all electricity needs at the retail tariff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 a monthly basis, the energy customer settles the financial payment with the RE developer equal to the difference between the spot market price (FMP) and the strike price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1112800" y="1902025"/>
            <a:ext cx="3892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Enables electricity trading between a renewable generator and an energy customer through national power grid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239" name="Google Shape;239;p30"/>
          <p:cNvCxnSpPr>
            <a:stCxn id="240" idx="3"/>
            <a:endCxn id="241" idx="3"/>
          </p:cNvCxnSpPr>
          <p:nvPr/>
        </p:nvCxnSpPr>
        <p:spPr>
          <a:xfrm flipH="1">
            <a:off x="7556148" y="1517035"/>
            <a:ext cx="12300" cy="2841000"/>
          </a:xfrm>
          <a:prstGeom prst="bentConnector3">
            <a:avLst>
              <a:gd fmla="val -193597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0"/>
          <p:cNvSpPr/>
          <p:nvPr/>
        </p:nvSpPr>
        <p:spPr>
          <a:xfrm>
            <a:off x="6304819" y="3526111"/>
            <a:ext cx="153036" cy="280584"/>
          </a:xfrm>
          <a:custGeom>
            <a:rect b="b" l="l" r="r" t="t"/>
            <a:pathLst>
              <a:path extrusionOk="0" h="21600" w="21600">
                <a:moveTo>
                  <a:pt x="9507" y="18652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8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2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2"/>
                  <a:pt x="9507" y="18652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6"/>
                  <a:pt x="18000" y="491"/>
                </a:cubicBezTo>
                <a:cubicBezTo>
                  <a:pt x="18000" y="221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8"/>
                </a:cubicBezTo>
                <a:lnTo>
                  <a:pt x="7246" y="336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9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5"/>
                  <a:pt x="7200" y="21091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2"/>
                </a:lnTo>
                <a:lnTo>
                  <a:pt x="21513" y="8551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8101238" y="2797237"/>
            <a:ext cx="229554" cy="280584"/>
          </a:xfrm>
          <a:custGeom>
            <a:rect b="b" l="l" r="r" t="t"/>
            <a:pathLst>
              <a:path extrusionOk="0" h="21600" w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30"/>
          <p:cNvGrpSpPr/>
          <p:nvPr/>
        </p:nvGrpSpPr>
        <p:grpSpPr>
          <a:xfrm>
            <a:off x="5673229" y="1203076"/>
            <a:ext cx="1895219" cy="3541654"/>
            <a:chOff x="7985605" y="1274987"/>
            <a:chExt cx="2364000" cy="3868124"/>
          </a:xfrm>
        </p:grpSpPr>
        <p:sp>
          <p:nvSpPr>
            <p:cNvPr id="240" name="Google Shape;240;p30"/>
            <p:cNvSpPr/>
            <p:nvPr/>
          </p:nvSpPr>
          <p:spPr>
            <a:xfrm>
              <a:off x="7985605" y="1274987"/>
              <a:ext cx="2364000" cy="685800"/>
            </a:xfrm>
            <a:prstGeom prst="rect">
              <a:avLst/>
            </a:prstGeom>
            <a:solidFill>
              <a:srgbClr val="2E3A49"/>
            </a:solidFill>
            <a:ln cap="flat" cmpd="sng" w="9525">
              <a:solidFill>
                <a:srgbClr val="5353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91425" spcFirstLastPara="1" rIns="91425" wrap="square" tIns="90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600"/>
                <a:buFont typeface="Calibri"/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Company</a:t>
              </a:r>
              <a:endPara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8000668" y="4298311"/>
              <a:ext cx="2333700" cy="844800"/>
            </a:xfrm>
            <a:prstGeom prst="rect">
              <a:avLst/>
            </a:prstGeom>
            <a:solidFill>
              <a:srgbClr val="2D3A49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 Generator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5" name="Google Shape;245;p30"/>
          <p:cNvGrpSpPr/>
          <p:nvPr/>
        </p:nvGrpSpPr>
        <p:grpSpPr>
          <a:xfrm rot="2700000">
            <a:off x="7627734" y="2757680"/>
            <a:ext cx="342533" cy="342530"/>
            <a:chOff x="8216107" y="2577307"/>
            <a:chExt cx="464355" cy="464350"/>
          </a:xfrm>
        </p:grpSpPr>
        <p:sp>
          <p:nvSpPr>
            <p:cNvPr id="246" name="Google Shape;246;p30"/>
            <p:cNvSpPr/>
            <p:nvPr/>
          </p:nvSpPr>
          <p:spPr>
            <a:xfrm>
              <a:off x="8216107" y="2577307"/>
              <a:ext cx="464355" cy="464350"/>
            </a:xfrm>
            <a:custGeom>
              <a:rect b="b" l="l" r="r" t="t"/>
              <a:pathLst>
                <a:path extrusionOk="0" h="21453" w="21426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8390732" y="2736850"/>
              <a:ext cx="125413" cy="130172"/>
            </a:xfrm>
            <a:custGeom>
              <a:rect b="b" l="l" r="r" t="t"/>
              <a:pathLst>
                <a:path extrusionOk="0" h="21516" w="21484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8375650" y="2896394"/>
              <a:ext cx="70662" cy="73839"/>
            </a:xfrm>
            <a:custGeom>
              <a:rect b="b" l="l" r="r" t="t"/>
              <a:pathLst>
                <a:path extrusionOk="0" h="21203" w="21188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8448675" y="2649538"/>
              <a:ext cx="71430" cy="74610"/>
            </a:xfrm>
            <a:custGeom>
              <a:rect b="b" l="l" r="r" t="t"/>
              <a:pathLst>
                <a:path extrusionOk="0" h="21196" w="21180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50" name="Google Shape;250;p30"/>
          <p:cNvSpPr/>
          <p:nvPr/>
        </p:nvSpPr>
        <p:spPr>
          <a:xfrm rot="5400000">
            <a:off x="7748750" y="3362025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5673241" y="2593391"/>
            <a:ext cx="1895100" cy="671100"/>
          </a:xfrm>
          <a:prstGeom prst="rect">
            <a:avLst/>
          </a:prstGeom>
          <a:solidFill>
            <a:srgbClr val="CCCDCB"/>
          </a:solidFill>
          <a:ln cap="flat" cmpd="sng" w="9525">
            <a:solidFill>
              <a:srgbClr val="CCCDC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libri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EVN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2" name="Google Shape;252;p30"/>
          <p:cNvCxnSpPr>
            <a:stCxn id="241" idx="0"/>
            <a:endCxn id="251" idx="2"/>
          </p:cNvCxnSpPr>
          <p:nvPr/>
        </p:nvCxnSpPr>
        <p:spPr>
          <a:xfrm rot="10800000">
            <a:off x="6620769" y="3264431"/>
            <a:ext cx="0" cy="70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0"/>
          <p:cNvCxnSpPr>
            <a:stCxn id="251" idx="0"/>
            <a:endCxn id="240" idx="2"/>
          </p:cNvCxnSpPr>
          <p:nvPr/>
        </p:nvCxnSpPr>
        <p:spPr>
          <a:xfrm rot="10800000">
            <a:off x="6620791" y="1831091"/>
            <a:ext cx="0" cy="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30"/>
          <p:cNvSpPr/>
          <p:nvPr/>
        </p:nvSpPr>
        <p:spPr>
          <a:xfrm rot="-5400000">
            <a:off x="6570550" y="3595900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 rot="-5400000">
            <a:off x="6570550" y="2088775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256" name="Google Shape;256;p30"/>
          <p:cNvCxnSpPr>
            <a:stCxn id="240" idx="1"/>
            <a:endCxn id="251" idx="1"/>
          </p:cNvCxnSpPr>
          <p:nvPr/>
        </p:nvCxnSpPr>
        <p:spPr>
          <a:xfrm>
            <a:off x="5673229" y="1517035"/>
            <a:ext cx="600" cy="1411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0"/>
          <p:cNvSpPr/>
          <p:nvPr/>
        </p:nvSpPr>
        <p:spPr>
          <a:xfrm rot="-5400000">
            <a:off x="7746275" y="2354875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58" name="Google Shape;258;p30"/>
          <p:cNvGrpSpPr/>
          <p:nvPr/>
        </p:nvGrpSpPr>
        <p:grpSpPr>
          <a:xfrm rot="2700000">
            <a:off x="5271959" y="1932630"/>
            <a:ext cx="342533" cy="342530"/>
            <a:chOff x="8216107" y="2577307"/>
            <a:chExt cx="464355" cy="464350"/>
          </a:xfrm>
        </p:grpSpPr>
        <p:sp>
          <p:nvSpPr>
            <p:cNvPr id="259" name="Google Shape;259;p30"/>
            <p:cNvSpPr/>
            <p:nvPr/>
          </p:nvSpPr>
          <p:spPr>
            <a:xfrm>
              <a:off x="8216107" y="2577307"/>
              <a:ext cx="464355" cy="464350"/>
            </a:xfrm>
            <a:custGeom>
              <a:rect b="b" l="l" r="r" t="t"/>
              <a:pathLst>
                <a:path extrusionOk="0" h="21453" w="21426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8390732" y="2736850"/>
              <a:ext cx="125413" cy="130172"/>
            </a:xfrm>
            <a:custGeom>
              <a:rect b="b" l="l" r="r" t="t"/>
              <a:pathLst>
                <a:path extrusionOk="0" h="21516" w="21484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8375650" y="2896394"/>
              <a:ext cx="70662" cy="73839"/>
            </a:xfrm>
            <a:custGeom>
              <a:rect b="b" l="l" r="r" t="t"/>
              <a:pathLst>
                <a:path extrusionOk="0" h="21203" w="21188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8448675" y="2649538"/>
              <a:ext cx="71430" cy="74610"/>
            </a:xfrm>
            <a:custGeom>
              <a:rect b="b" l="l" r="r" t="t"/>
              <a:pathLst>
                <a:path extrusionOk="0" h="21196" w="21180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63" name="Google Shape;263;p30"/>
          <p:cNvSpPr/>
          <p:nvPr/>
        </p:nvSpPr>
        <p:spPr>
          <a:xfrm flipH="1" rot="-5400000">
            <a:off x="5394950" y="2325850"/>
            <a:ext cx="100500" cy="141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64" name="Google Shape;264;p30"/>
          <p:cNvGrpSpPr/>
          <p:nvPr/>
        </p:nvGrpSpPr>
        <p:grpSpPr>
          <a:xfrm>
            <a:off x="7612400" y="-12"/>
            <a:ext cx="1770600" cy="925817"/>
            <a:chOff x="7015025" y="2"/>
            <a:chExt cx="1770600" cy="1071300"/>
          </a:xfrm>
        </p:grpSpPr>
        <p:sp>
          <p:nvSpPr>
            <p:cNvPr id="265" name="Google Shape;265;p30"/>
            <p:cNvSpPr/>
            <p:nvPr/>
          </p:nvSpPr>
          <p:spPr>
            <a:xfrm>
              <a:off x="7015025" y="2"/>
              <a:ext cx="1770600" cy="10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 Electricity</a:t>
              </a:r>
              <a:endParaRPr b="1" sz="1000">
                <a:solidFill>
                  <a:schemeClr val="dk1"/>
                </a:solidFill>
                <a:highlight>
                  <a:srgbClr val="000000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 EACs/RECs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Calibri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 Financing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7336122" y="189400"/>
              <a:ext cx="85968" cy="211032"/>
            </a:xfrm>
            <a:custGeom>
              <a:rect b="b" l="l" r="r" t="t"/>
              <a:pathLst>
                <a:path extrusionOk="0" h="21600" w="21600">
                  <a:moveTo>
                    <a:pt x="9507" y="18652"/>
                  </a:moveTo>
                  <a:lnTo>
                    <a:pt x="10795" y="12327"/>
                  </a:lnTo>
                  <a:lnTo>
                    <a:pt x="10781" y="12326"/>
                  </a:lnTo>
                  <a:cubicBezTo>
                    <a:pt x="10785" y="12308"/>
                    <a:pt x="10800" y="12292"/>
                    <a:pt x="10800" y="12273"/>
                  </a:cubicBezTo>
                  <a:cubicBezTo>
                    <a:pt x="10800" y="12001"/>
                    <a:pt x="10398" y="11782"/>
                    <a:pt x="9900" y="11782"/>
                  </a:cubicBezTo>
                  <a:lnTo>
                    <a:pt x="2149" y="11782"/>
                  </a:lnTo>
                  <a:lnTo>
                    <a:pt x="8749" y="982"/>
                  </a:lnTo>
                  <a:lnTo>
                    <a:pt x="15850" y="982"/>
                  </a:lnTo>
                  <a:lnTo>
                    <a:pt x="11436" y="8190"/>
                  </a:lnTo>
                  <a:lnTo>
                    <a:pt x="11447" y="8192"/>
                  </a:lnTo>
                  <a:cubicBezTo>
                    <a:pt x="11417" y="8241"/>
                    <a:pt x="11391" y="8292"/>
                    <a:pt x="11391" y="8345"/>
                  </a:cubicBezTo>
                  <a:cubicBezTo>
                    <a:pt x="11391" y="8617"/>
                    <a:pt x="11794" y="8836"/>
                    <a:pt x="12291" y="8836"/>
                  </a:cubicBezTo>
                  <a:lnTo>
                    <a:pt x="19195" y="8836"/>
                  </a:lnTo>
                  <a:cubicBezTo>
                    <a:pt x="19195" y="8836"/>
                    <a:pt x="9507" y="18652"/>
                    <a:pt x="9507" y="18652"/>
                  </a:cubicBezTo>
                  <a:close/>
                  <a:moveTo>
                    <a:pt x="21600" y="8345"/>
                  </a:moveTo>
                  <a:cubicBezTo>
                    <a:pt x="21600" y="8074"/>
                    <a:pt x="21197" y="7855"/>
                    <a:pt x="20700" y="7855"/>
                  </a:cubicBezTo>
                  <a:lnTo>
                    <a:pt x="13541" y="7855"/>
                  </a:lnTo>
                  <a:lnTo>
                    <a:pt x="17954" y="646"/>
                  </a:lnTo>
                  <a:lnTo>
                    <a:pt x="17944" y="644"/>
                  </a:lnTo>
                  <a:cubicBezTo>
                    <a:pt x="17974" y="595"/>
                    <a:pt x="18000" y="546"/>
                    <a:pt x="18000" y="491"/>
                  </a:cubicBezTo>
                  <a:cubicBezTo>
                    <a:pt x="18000" y="221"/>
                    <a:pt x="17598" y="0"/>
                    <a:pt x="17100" y="0"/>
                  </a:cubicBezTo>
                  <a:lnTo>
                    <a:pt x="8101" y="0"/>
                  </a:lnTo>
                  <a:cubicBezTo>
                    <a:pt x="7703" y="0"/>
                    <a:pt x="7376" y="143"/>
                    <a:pt x="7257" y="338"/>
                  </a:cubicBezTo>
                  <a:lnTo>
                    <a:pt x="7246" y="336"/>
                  </a:lnTo>
                  <a:lnTo>
                    <a:pt x="47" y="12117"/>
                  </a:lnTo>
                  <a:lnTo>
                    <a:pt x="57" y="12120"/>
                  </a:lnTo>
                  <a:cubicBezTo>
                    <a:pt x="27" y="12168"/>
                    <a:pt x="0" y="12219"/>
                    <a:pt x="0" y="12273"/>
                  </a:cubicBezTo>
                  <a:cubicBezTo>
                    <a:pt x="0" y="12544"/>
                    <a:pt x="403" y="12764"/>
                    <a:pt x="900" y="12764"/>
                  </a:cubicBezTo>
                  <a:lnTo>
                    <a:pt x="8895" y="12764"/>
                  </a:lnTo>
                  <a:lnTo>
                    <a:pt x="7206" y="21055"/>
                  </a:lnTo>
                  <a:lnTo>
                    <a:pt x="7220" y="21056"/>
                  </a:lnTo>
                  <a:cubicBezTo>
                    <a:pt x="7216" y="21075"/>
                    <a:pt x="7200" y="21091"/>
                    <a:pt x="7200" y="21109"/>
                  </a:cubicBezTo>
                  <a:cubicBezTo>
                    <a:pt x="7200" y="21380"/>
                    <a:pt x="7603" y="21600"/>
                    <a:pt x="8101" y="21600"/>
                  </a:cubicBezTo>
                  <a:cubicBezTo>
                    <a:pt x="8464" y="21600"/>
                    <a:pt x="8761" y="21480"/>
                    <a:pt x="8900" y="21310"/>
                  </a:cubicBezTo>
                  <a:lnTo>
                    <a:pt x="8918" y="21315"/>
                  </a:lnTo>
                  <a:lnTo>
                    <a:pt x="21517" y="8552"/>
                  </a:lnTo>
                  <a:lnTo>
                    <a:pt x="21513" y="8551"/>
                  </a:lnTo>
                  <a:cubicBezTo>
                    <a:pt x="21567" y="8487"/>
                    <a:pt x="21600" y="8419"/>
                    <a:pt x="21600" y="83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7314622" y="457436"/>
              <a:ext cx="128952" cy="211032"/>
            </a:xfrm>
            <a:custGeom>
              <a:rect b="b" l="l" r="r" t="t"/>
              <a:pathLst>
                <a:path extrusionOk="0" h="21600" w="21600">
                  <a:moveTo>
                    <a:pt x="14400" y="5891"/>
                  </a:moveTo>
                  <a:lnTo>
                    <a:pt x="14400" y="982"/>
                  </a:lnTo>
                  <a:lnTo>
                    <a:pt x="15000" y="982"/>
                  </a:lnTo>
                  <a:lnTo>
                    <a:pt x="20400" y="5891"/>
                  </a:lnTo>
                  <a:cubicBezTo>
                    <a:pt x="20400" y="5891"/>
                    <a:pt x="14400" y="5891"/>
                    <a:pt x="14400" y="5891"/>
                  </a:cubicBezTo>
                  <a:close/>
                  <a:moveTo>
                    <a:pt x="20400" y="19636"/>
                  </a:moveTo>
                  <a:cubicBezTo>
                    <a:pt x="20400" y="20179"/>
                    <a:pt x="19862" y="20618"/>
                    <a:pt x="19200" y="20618"/>
                  </a:cubicBezTo>
                  <a:lnTo>
                    <a:pt x="2400" y="20618"/>
                  </a:lnTo>
                  <a:cubicBezTo>
                    <a:pt x="1737" y="20618"/>
                    <a:pt x="1200" y="20179"/>
                    <a:pt x="1200" y="19636"/>
                  </a:cubicBezTo>
                  <a:lnTo>
                    <a:pt x="1200" y="1964"/>
                  </a:lnTo>
                  <a:cubicBezTo>
                    <a:pt x="1200" y="1422"/>
                    <a:pt x="1737" y="982"/>
                    <a:pt x="2400" y="982"/>
                  </a:cubicBezTo>
                  <a:lnTo>
                    <a:pt x="13200" y="982"/>
                  </a:lnTo>
                  <a:lnTo>
                    <a:pt x="13200" y="5891"/>
                  </a:lnTo>
                  <a:cubicBezTo>
                    <a:pt x="13200" y="6433"/>
                    <a:pt x="13738" y="6873"/>
                    <a:pt x="14400" y="6873"/>
                  </a:cubicBezTo>
                  <a:lnTo>
                    <a:pt x="20400" y="6873"/>
                  </a:lnTo>
                  <a:cubicBezTo>
                    <a:pt x="20400" y="6873"/>
                    <a:pt x="20400" y="19636"/>
                    <a:pt x="20400" y="19636"/>
                  </a:cubicBezTo>
                  <a:close/>
                  <a:moveTo>
                    <a:pt x="15600" y="0"/>
                  </a:moveTo>
                  <a:lnTo>
                    <a:pt x="2400" y="0"/>
                  </a:lnTo>
                  <a:cubicBezTo>
                    <a:pt x="1075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1075" y="21600"/>
                    <a:pt x="2400" y="21600"/>
                  </a:cubicBezTo>
                  <a:lnTo>
                    <a:pt x="19200" y="21600"/>
                  </a:lnTo>
                  <a:cubicBezTo>
                    <a:pt x="20525" y="21600"/>
                    <a:pt x="21600" y="20721"/>
                    <a:pt x="21600" y="19636"/>
                  </a:cubicBezTo>
                  <a:lnTo>
                    <a:pt x="21600" y="5400"/>
                  </a:lnTo>
                  <a:cubicBezTo>
                    <a:pt x="21600" y="5400"/>
                    <a:pt x="15600" y="0"/>
                    <a:pt x="15600" y="0"/>
                  </a:cubicBezTo>
                  <a:close/>
                  <a:moveTo>
                    <a:pt x="4800" y="8836"/>
                  </a:moveTo>
                  <a:cubicBezTo>
                    <a:pt x="4800" y="9108"/>
                    <a:pt x="5068" y="9327"/>
                    <a:pt x="5400" y="9327"/>
                  </a:cubicBezTo>
                  <a:lnTo>
                    <a:pt x="16200" y="9327"/>
                  </a:lnTo>
                  <a:cubicBezTo>
                    <a:pt x="16532" y="9327"/>
                    <a:pt x="16800" y="9108"/>
                    <a:pt x="16800" y="8836"/>
                  </a:cubicBezTo>
                  <a:cubicBezTo>
                    <a:pt x="16800" y="8566"/>
                    <a:pt x="16532" y="8345"/>
                    <a:pt x="16200" y="8345"/>
                  </a:cubicBezTo>
                  <a:lnTo>
                    <a:pt x="5400" y="8345"/>
                  </a:lnTo>
                  <a:cubicBezTo>
                    <a:pt x="5068" y="8345"/>
                    <a:pt x="4800" y="8566"/>
                    <a:pt x="4800" y="8836"/>
                  </a:cubicBezTo>
                  <a:moveTo>
                    <a:pt x="16200" y="12273"/>
                  </a:moveTo>
                  <a:lnTo>
                    <a:pt x="5400" y="12273"/>
                  </a:lnTo>
                  <a:cubicBezTo>
                    <a:pt x="5068" y="12273"/>
                    <a:pt x="4800" y="12493"/>
                    <a:pt x="4800" y="12764"/>
                  </a:cubicBezTo>
                  <a:cubicBezTo>
                    <a:pt x="4800" y="13035"/>
                    <a:pt x="5068" y="13255"/>
                    <a:pt x="5400" y="13255"/>
                  </a:cubicBezTo>
                  <a:lnTo>
                    <a:pt x="16200" y="13255"/>
                  </a:lnTo>
                  <a:cubicBezTo>
                    <a:pt x="16532" y="13255"/>
                    <a:pt x="16800" y="13035"/>
                    <a:pt x="16800" y="12764"/>
                  </a:cubicBezTo>
                  <a:cubicBezTo>
                    <a:pt x="16800" y="12493"/>
                    <a:pt x="16532" y="12273"/>
                    <a:pt x="16200" y="12273"/>
                  </a:cubicBezTo>
                  <a:moveTo>
                    <a:pt x="5400" y="5400"/>
                  </a:moveTo>
                  <a:lnTo>
                    <a:pt x="8400" y="5400"/>
                  </a:lnTo>
                  <a:cubicBezTo>
                    <a:pt x="8732" y="5400"/>
                    <a:pt x="9000" y="5181"/>
                    <a:pt x="9000" y="4909"/>
                  </a:cubicBezTo>
                  <a:cubicBezTo>
                    <a:pt x="9000" y="4638"/>
                    <a:pt x="8732" y="4418"/>
                    <a:pt x="8400" y="4418"/>
                  </a:cubicBezTo>
                  <a:lnTo>
                    <a:pt x="5400" y="4418"/>
                  </a:lnTo>
                  <a:cubicBezTo>
                    <a:pt x="5068" y="4418"/>
                    <a:pt x="4800" y="4638"/>
                    <a:pt x="4800" y="4909"/>
                  </a:cubicBezTo>
                  <a:cubicBezTo>
                    <a:pt x="4800" y="5181"/>
                    <a:pt x="5068" y="5400"/>
                    <a:pt x="5400" y="5400"/>
                  </a:cubicBezTo>
                  <a:moveTo>
                    <a:pt x="12600" y="16200"/>
                  </a:moveTo>
                  <a:lnTo>
                    <a:pt x="5400" y="16200"/>
                  </a:lnTo>
                  <a:cubicBezTo>
                    <a:pt x="5068" y="16200"/>
                    <a:pt x="4800" y="16420"/>
                    <a:pt x="4800" y="16691"/>
                  </a:cubicBezTo>
                  <a:cubicBezTo>
                    <a:pt x="4800" y="16962"/>
                    <a:pt x="5068" y="17182"/>
                    <a:pt x="5400" y="17182"/>
                  </a:cubicBezTo>
                  <a:lnTo>
                    <a:pt x="12600" y="17182"/>
                  </a:lnTo>
                  <a:cubicBezTo>
                    <a:pt x="12932" y="17182"/>
                    <a:pt x="13200" y="16962"/>
                    <a:pt x="13200" y="16691"/>
                  </a:cubicBezTo>
                  <a:cubicBezTo>
                    <a:pt x="13200" y="16420"/>
                    <a:pt x="12932" y="16200"/>
                    <a:pt x="12600" y="162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8" name="Google Shape;268;p30"/>
            <p:cNvGrpSpPr/>
            <p:nvPr/>
          </p:nvGrpSpPr>
          <p:grpSpPr>
            <a:xfrm rot="3194266">
              <a:off x="7265207" y="698549"/>
              <a:ext cx="227330" cy="227328"/>
              <a:chOff x="8216107" y="2577307"/>
              <a:chExt cx="464355" cy="464350"/>
            </a:xfrm>
          </p:grpSpPr>
          <p:sp>
            <p:nvSpPr>
              <p:cNvPr id="269" name="Google Shape;269;p30"/>
              <p:cNvSpPr/>
              <p:nvPr/>
            </p:nvSpPr>
            <p:spPr>
              <a:xfrm>
                <a:off x="8216107" y="2577307"/>
                <a:ext cx="464355" cy="464350"/>
              </a:xfrm>
              <a:custGeom>
                <a:rect b="b" l="l" r="r" t="t"/>
                <a:pathLst>
                  <a:path extrusionOk="0" h="21453" w="21426">
                    <a:moveTo>
                      <a:pt x="8034" y="20112"/>
                    </a:moveTo>
                    <a:cubicBezTo>
                      <a:pt x="5816" y="17892"/>
                      <a:pt x="3556" y="15628"/>
                      <a:pt x="1338" y="13408"/>
                    </a:cubicBezTo>
                    <a:cubicBezTo>
                      <a:pt x="3241" y="7240"/>
                      <a:pt x="11488" y="7509"/>
                      <a:pt x="13391" y="1341"/>
                    </a:cubicBezTo>
                    <a:cubicBezTo>
                      <a:pt x="15609" y="3560"/>
                      <a:pt x="17869" y="5825"/>
                      <a:pt x="20087" y="8045"/>
                    </a:cubicBezTo>
                    <a:cubicBezTo>
                      <a:pt x="18184" y="14212"/>
                      <a:pt x="9937" y="13944"/>
                      <a:pt x="8034" y="20112"/>
                    </a:cubicBezTo>
                    <a:moveTo>
                      <a:pt x="21034" y="7097"/>
                    </a:moveTo>
                    <a:lnTo>
                      <a:pt x="14338" y="393"/>
                    </a:lnTo>
                    <a:cubicBezTo>
                      <a:pt x="14006" y="60"/>
                      <a:pt x="13525" y="-73"/>
                      <a:pt x="13069" y="39"/>
                    </a:cubicBezTo>
                    <a:cubicBezTo>
                      <a:pt x="12828" y="98"/>
                      <a:pt x="12614" y="222"/>
                      <a:pt x="12444" y="393"/>
                    </a:cubicBezTo>
                    <a:cubicBezTo>
                      <a:pt x="12292" y="545"/>
                      <a:pt x="12177" y="733"/>
                      <a:pt x="12112" y="944"/>
                    </a:cubicBezTo>
                    <a:cubicBezTo>
                      <a:pt x="11808" y="1929"/>
                      <a:pt x="11283" y="2785"/>
                      <a:pt x="10507" y="3562"/>
                    </a:cubicBezTo>
                    <a:cubicBezTo>
                      <a:pt x="9471" y="4598"/>
                      <a:pt x="8121" y="5384"/>
                      <a:pt x="6693" y="6214"/>
                    </a:cubicBezTo>
                    <a:cubicBezTo>
                      <a:pt x="5177" y="7094"/>
                      <a:pt x="3611" y="8006"/>
                      <a:pt x="2328" y="9290"/>
                    </a:cubicBezTo>
                    <a:cubicBezTo>
                      <a:pt x="1237" y="10383"/>
                      <a:pt x="493" y="11600"/>
                      <a:pt x="59" y="13011"/>
                    </a:cubicBezTo>
                    <a:cubicBezTo>
                      <a:pt x="-87" y="13488"/>
                      <a:pt x="40" y="14004"/>
                      <a:pt x="391" y="14356"/>
                    </a:cubicBezTo>
                    <a:lnTo>
                      <a:pt x="7087" y="21060"/>
                    </a:lnTo>
                    <a:cubicBezTo>
                      <a:pt x="7419" y="21393"/>
                      <a:pt x="7900" y="21526"/>
                      <a:pt x="8356" y="21414"/>
                    </a:cubicBezTo>
                    <a:cubicBezTo>
                      <a:pt x="8597" y="21354"/>
                      <a:pt x="8811" y="21231"/>
                      <a:pt x="8981" y="21060"/>
                    </a:cubicBezTo>
                    <a:cubicBezTo>
                      <a:pt x="9133" y="20908"/>
                      <a:pt x="9248" y="20720"/>
                      <a:pt x="9314" y="20508"/>
                    </a:cubicBezTo>
                    <a:cubicBezTo>
                      <a:pt x="9617" y="19523"/>
                      <a:pt x="10142" y="18667"/>
                      <a:pt x="10918" y="17890"/>
                    </a:cubicBezTo>
                    <a:cubicBezTo>
                      <a:pt x="11954" y="16853"/>
                      <a:pt x="13304" y="16069"/>
                      <a:pt x="14733" y="15239"/>
                    </a:cubicBezTo>
                    <a:cubicBezTo>
                      <a:pt x="16248" y="14357"/>
                      <a:pt x="17814" y="13446"/>
                      <a:pt x="19097" y="12162"/>
                    </a:cubicBezTo>
                    <a:cubicBezTo>
                      <a:pt x="20188" y="11070"/>
                      <a:pt x="20932" y="9852"/>
                      <a:pt x="21366" y="8440"/>
                    </a:cubicBezTo>
                    <a:cubicBezTo>
                      <a:pt x="21512" y="7965"/>
                      <a:pt x="21385" y="7448"/>
                      <a:pt x="21034" y="70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70" name="Google Shape;270;p30"/>
              <p:cNvSpPr/>
              <p:nvPr/>
            </p:nvSpPr>
            <p:spPr>
              <a:xfrm>
                <a:off x="8390732" y="2736850"/>
                <a:ext cx="125413" cy="130172"/>
              </a:xfrm>
              <a:custGeom>
                <a:rect b="b" l="l" r="r" t="t"/>
                <a:pathLst>
                  <a:path extrusionOk="0" h="21516" w="21484">
                    <a:moveTo>
                      <a:pt x="17511" y="14987"/>
                    </a:moveTo>
                    <a:cubicBezTo>
                      <a:pt x="17287" y="15384"/>
                      <a:pt x="17032" y="15740"/>
                      <a:pt x="16731" y="16049"/>
                    </a:cubicBezTo>
                    <a:cubicBezTo>
                      <a:pt x="15340" y="14692"/>
                      <a:pt x="13947" y="13205"/>
                      <a:pt x="12559" y="11675"/>
                    </a:cubicBezTo>
                    <a:cubicBezTo>
                      <a:pt x="12912" y="11521"/>
                      <a:pt x="13287" y="11362"/>
                      <a:pt x="13689" y="11198"/>
                    </a:cubicBezTo>
                    <a:cubicBezTo>
                      <a:pt x="14092" y="11034"/>
                      <a:pt x="14494" y="10927"/>
                      <a:pt x="14895" y="10861"/>
                    </a:cubicBezTo>
                    <a:cubicBezTo>
                      <a:pt x="15308" y="10801"/>
                      <a:pt x="15715" y="10819"/>
                      <a:pt x="16122" y="10913"/>
                    </a:cubicBezTo>
                    <a:cubicBezTo>
                      <a:pt x="16527" y="11011"/>
                      <a:pt x="16909" y="11222"/>
                      <a:pt x="17262" y="11554"/>
                    </a:cubicBezTo>
                    <a:cubicBezTo>
                      <a:pt x="17612" y="11890"/>
                      <a:pt x="17835" y="12244"/>
                      <a:pt x="17923" y="12620"/>
                    </a:cubicBezTo>
                    <a:cubicBezTo>
                      <a:pt x="18020" y="13004"/>
                      <a:pt x="18025" y="13392"/>
                      <a:pt x="17958" y="13789"/>
                    </a:cubicBezTo>
                    <a:cubicBezTo>
                      <a:pt x="17883" y="14187"/>
                      <a:pt x="17738" y="14585"/>
                      <a:pt x="17511" y="14987"/>
                    </a:cubicBezTo>
                    <a:moveTo>
                      <a:pt x="5799" y="10193"/>
                    </a:moveTo>
                    <a:cubicBezTo>
                      <a:pt x="5096" y="10221"/>
                      <a:pt x="4482" y="9996"/>
                      <a:pt x="3946" y="9496"/>
                    </a:cubicBezTo>
                    <a:cubicBezTo>
                      <a:pt x="3717" y="9285"/>
                      <a:pt x="3558" y="9028"/>
                      <a:pt x="3461" y="8724"/>
                    </a:cubicBezTo>
                    <a:cubicBezTo>
                      <a:pt x="3359" y="8420"/>
                      <a:pt x="3326" y="8088"/>
                      <a:pt x="3366" y="7723"/>
                    </a:cubicBezTo>
                    <a:cubicBezTo>
                      <a:pt x="3397" y="7363"/>
                      <a:pt x="3509" y="6989"/>
                      <a:pt x="3703" y="6610"/>
                    </a:cubicBezTo>
                    <a:cubicBezTo>
                      <a:pt x="3889" y="6231"/>
                      <a:pt x="4160" y="5852"/>
                      <a:pt x="4510" y="5487"/>
                    </a:cubicBezTo>
                    <a:cubicBezTo>
                      <a:pt x="5768" y="6694"/>
                      <a:pt x="7022" y="8018"/>
                      <a:pt x="8282" y="9388"/>
                    </a:cubicBezTo>
                    <a:cubicBezTo>
                      <a:pt x="7330" y="9893"/>
                      <a:pt x="6501" y="10164"/>
                      <a:pt x="5799" y="10193"/>
                    </a:cubicBezTo>
                    <a:moveTo>
                      <a:pt x="19678" y="8570"/>
                    </a:moveTo>
                    <a:cubicBezTo>
                      <a:pt x="18868" y="7915"/>
                      <a:pt x="18055" y="7470"/>
                      <a:pt x="17235" y="7250"/>
                    </a:cubicBezTo>
                    <a:cubicBezTo>
                      <a:pt x="16421" y="7031"/>
                      <a:pt x="15603" y="6942"/>
                      <a:pt x="14779" y="6998"/>
                    </a:cubicBezTo>
                    <a:cubicBezTo>
                      <a:pt x="13964" y="7059"/>
                      <a:pt x="13130" y="7236"/>
                      <a:pt x="12296" y="7545"/>
                    </a:cubicBezTo>
                    <a:cubicBezTo>
                      <a:pt x="11462" y="7859"/>
                      <a:pt x="10625" y="8200"/>
                      <a:pt x="9782" y="8593"/>
                    </a:cubicBezTo>
                    <a:cubicBezTo>
                      <a:pt x="8448" y="7115"/>
                      <a:pt x="7114" y="5658"/>
                      <a:pt x="5778" y="4299"/>
                    </a:cubicBezTo>
                    <a:cubicBezTo>
                      <a:pt x="6382" y="3775"/>
                      <a:pt x="6963" y="3509"/>
                      <a:pt x="7526" y="3490"/>
                    </a:cubicBezTo>
                    <a:cubicBezTo>
                      <a:pt x="8088" y="3467"/>
                      <a:pt x="8631" y="3523"/>
                      <a:pt x="9145" y="3649"/>
                    </a:cubicBezTo>
                    <a:cubicBezTo>
                      <a:pt x="9669" y="3775"/>
                      <a:pt x="10149" y="3883"/>
                      <a:pt x="10590" y="3967"/>
                    </a:cubicBezTo>
                    <a:cubicBezTo>
                      <a:pt x="11038" y="4051"/>
                      <a:pt x="11424" y="3958"/>
                      <a:pt x="11765" y="3682"/>
                    </a:cubicBezTo>
                    <a:cubicBezTo>
                      <a:pt x="12123" y="3382"/>
                      <a:pt x="12321" y="2994"/>
                      <a:pt x="12351" y="2526"/>
                    </a:cubicBezTo>
                    <a:cubicBezTo>
                      <a:pt x="12376" y="2054"/>
                      <a:pt x="12189" y="1596"/>
                      <a:pt x="11782" y="1147"/>
                    </a:cubicBezTo>
                    <a:cubicBezTo>
                      <a:pt x="11258" y="569"/>
                      <a:pt x="10630" y="216"/>
                      <a:pt x="9872" y="85"/>
                    </a:cubicBezTo>
                    <a:cubicBezTo>
                      <a:pt x="9126" y="-41"/>
                      <a:pt x="8358" y="-30"/>
                      <a:pt x="7564" y="136"/>
                    </a:cubicBezTo>
                    <a:cubicBezTo>
                      <a:pt x="6780" y="309"/>
                      <a:pt x="6032" y="595"/>
                      <a:pt x="5324" y="997"/>
                    </a:cubicBezTo>
                    <a:cubicBezTo>
                      <a:pt x="4617" y="1399"/>
                      <a:pt x="4048" y="1811"/>
                      <a:pt x="3626" y="2213"/>
                    </a:cubicBezTo>
                    <a:cubicBezTo>
                      <a:pt x="3464" y="2066"/>
                      <a:pt x="3302" y="1918"/>
                      <a:pt x="3141" y="1773"/>
                    </a:cubicBezTo>
                    <a:cubicBezTo>
                      <a:pt x="2963" y="1614"/>
                      <a:pt x="2739" y="1530"/>
                      <a:pt x="2471" y="1535"/>
                    </a:cubicBezTo>
                    <a:cubicBezTo>
                      <a:pt x="2200" y="1535"/>
                      <a:pt x="1977" y="1647"/>
                      <a:pt x="1793" y="1853"/>
                    </a:cubicBezTo>
                    <a:cubicBezTo>
                      <a:pt x="1615" y="2054"/>
                      <a:pt x="1530" y="2288"/>
                      <a:pt x="1565" y="2536"/>
                    </a:cubicBezTo>
                    <a:cubicBezTo>
                      <a:pt x="1589" y="2793"/>
                      <a:pt x="1696" y="2989"/>
                      <a:pt x="1880" y="3139"/>
                    </a:cubicBezTo>
                    <a:cubicBezTo>
                      <a:pt x="2044" y="3270"/>
                      <a:pt x="2203" y="3401"/>
                      <a:pt x="2364" y="3537"/>
                    </a:cubicBezTo>
                    <a:cubicBezTo>
                      <a:pt x="1731" y="4276"/>
                      <a:pt x="1207" y="5094"/>
                      <a:pt x="795" y="5957"/>
                    </a:cubicBezTo>
                    <a:cubicBezTo>
                      <a:pt x="378" y="6820"/>
                      <a:pt x="130" y="7676"/>
                      <a:pt x="37" y="8509"/>
                    </a:cubicBezTo>
                    <a:cubicBezTo>
                      <a:pt x="-59" y="9346"/>
                      <a:pt x="33" y="10113"/>
                      <a:pt x="298" y="10824"/>
                    </a:cubicBezTo>
                    <a:cubicBezTo>
                      <a:pt x="566" y="11540"/>
                      <a:pt x="1056" y="12148"/>
                      <a:pt x="1774" y="12723"/>
                    </a:cubicBezTo>
                    <a:cubicBezTo>
                      <a:pt x="2942" y="13658"/>
                      <a:pt x="4321" y="14056"/>
                      <a:pt x="5915" y="13967"/>
                    </a:cubicBezTo>
                    <a:cubicBezTo>
                      <a:pt x="7507" y="13874"/>
                      <a:pt x="9223" y="13415"/>
                      <a:pt x="11064" y="12461"/>
                    </a:cubicBezTo>
                    <a:cubicBezTo>
                      <a:pt x="12532" y="14093"/>
                      <a:pt x="14002" y="15716"/>
                      <a:pt x="15470" y="17223"/>
                    </a:cubicBezTo>
                    <a:cubicBezTo>
                      <a:pt x="14849" y="17728"/>
                      <a:pt x="14305" y="18018"/>
                      <a:pt x="13826" y="18111"/>
                    </a:cubicBezTo>
                    <a:cubicBezTo>
                      <a:pt x="13344" y="18210"/>
                      <a:pt x="12917" y="18200"/>
                      <a:pt x="12530" y="18088"/>
                    </a:cubicBezTo>
                    <a:cubicBezTo>
                      <a:pt x="12142" y="17971"/>
                      <a:pt x="11782" y="17803"/>
                      <a:pt x="11455" y="17587"/>
                    </a:cubicBezTo>
                    <a:cubicBezTo>
                      <a:pt x="11125" y="17368"/>
                      <a:pt x="10799" y="17181"/>
                      <a:pt x="10474" y="17026"/>
                    </a:cubicBezTo>
                    <a:cubicBezTo>
                      <a:pt x="10154" y="16872"/>
                      <a:pt x="9823" y="16788"/>
                      <a:pt x="9486" y="16783"/>
                    </a:cubicBezTo>
                    <a:cubicBezTo>
                      <a:pt x="9145" y="16778"/>
                      <a:pt x="8785" y="16937"/>
                      <a:pt x="8388" y="17265"/>
                    </a:cubicBezTo>
                    <a:cubicBezTo>
                      <a:pt x="7981" y="17606"/>
                      <a:pt x="7777" y="18004"/>
                      <a:pt x="7777" y="18453"/>
                    </a:cubicBezTo>
                    <a:cubicBezTo>
                      <a:pt x="7777" y="18897"/>
                      <a:pt x="7991" y="19351"/>
                      <a:pt x="8408" y="19809"/>
                    </a:cubicBezTo>
                    <a:cubicBezTo>
                      <a:pt x="8830" y="20268"/>
                      <a:pt x="9379" y="20651"/>
                      <a:pt x="10042" y="20955"/>
                    </a:cubicBezTo>
                    <a:cubicBezTo>
                      <a:pt x="10708" y="21259"/>
                      <a:pt x="11455" y="21451"/>
                      <a:pt x="12279" y="21502"/>
                    </a:cubicBezTo>
                    <a:cubicBezTo>
                      <a:pt x="13103" y="21559"/>
                      <a:pt x="13970" y="21437"/>
                      <a:pt x="14886" y="21109"/>
                    </a:cubicBezTo>
                    <a:cubicBezTo>
                      <a:pt x="15807" y="20787"/>
                      <a:pt x="16721" y="20202"/>
                      <a:pt x="17617" y="19332"/>
                    </a:cubicBezTo>
                    <a:cubicBezTo>
                      <a:pt x="18051" y="19739"/>
                      <a:pt x="18489" y="20127"/>
                      <a:pt x="18921" y="20501"/>
                    </a:cubicBezTo>
                    <a:cubicBezTo>
                      <a:pt x="19107" y="20656"/>
                      <a:pt x="19328" y="20731"/>
                      <a:pt x="19601" y="20712"/>
                    </a:cubicBezTo>
                    <a:cubicBezTo>
                      <a:pt x="19861" y="20703"/>
                      <a:pt x="20090" y="20586"/>
                      <a:pt x="20269" y="20375"/>
                    </a:cubicBezTo>
                    <a:cubicBezTo>
                      <a:pt x="20455" y="20160"/>
                      <a:pt x="20532" y="19921"/>
                      <a:pt x="20503" y="19674"/>
                    </a:cubicBezTo>
                    <a:cubicBezTo>
                      <a:pt x="20477" y="19421"/>
                      <a:pt x="20371" y="19229"/>
                      <a:pt x="20192" y="19089"/>
                    </a:cubicBezTo>
                    <a:cubicBezTo>
                      <a:pt x="19755" y="18752"/>
                      <a:pt x="19321" y="18397"/>
                      <a:pt x="18884" y="18022"/>
                    </a:cubicBezTo>
                    <a:cubicBezTo>
                      <a:pt x="19626" y="17143"/>
                      <a:pt x="20221" y="16217"/>
                      <a:pt x="20664" y="15300"/>
                    </a:cubicBezTo>
                    <a:cubicBezTo>
                      <a:pt x="21103" y="14379"/>
                      <a:pt x="21367" y="13490"/>
                      <a:pt x="21453" y="12667"/>
                    </a:cubicBezTo>
                    <a:cubicBezTo>
                      <a:pt x="21540" y="11839"/>
                      <a:pt x="21439" y="11091"/>
                      <a:pt x="21159" y="10412"/>
                    </a:cubicBezTo>
                    <a:cubicBezTo>
                      <a:pt x="20880" y="9725"/>
                      <a:pt x="20386" y="9135"/>
                      <a:pt x="19678" y="85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71" name="Google Shape;271;p30"/>
              <p:cNvSpPr/>
              <p:nvPr/>
            </p:nvSpPr>
            <p:spPr>
              <a:xfrm>
                <a:off x="8375650" y="2896394"/>
                <a:ext cx="70662" cy="73839"/>
              </a:xfrm>
              <a:custGeom>
                <a:rect b="b" l="l" r="r" t="t"/>
                <a:pathLst>
                  <a:path extrusionOk="0" h="21203" w="21188">
                    <a:moveTo>
                      <a:pt x="17615" y="468"/>
                    </a:moveTo>
                    <a:lnTo>
                      <a:pt x="17606" y="468"/>
                    </a:lnTo>
                    <a:cubicBezTo>
                      <a:pt x="14870" y="2476"/>
                      <a:pt x="12200" y="4590"/>
                      <a:pt x="9727" y="6958"/>
                    </a:cubicBezTo>
                    <a:cubicBezTo>
                      <a:pt x="7348" y="9227"/>
                      <a:pt x="5200" y="11619"/>
                      <a:pt x="3329" y="14060"/>
                    </a:cubicBezTo>
                    <a:lnTo>
                      <a:pt x="341" y="17962"/>
                    </a:lnTo>
                    <a:lnTo>
                      <a:pt x="350" y="17970"/>
                    </a:lnTo>
                    <a:cubicBezTo>
                      <a:pt x="-197" y="18786"/>
                      <a:pt x="-106" y="19880"/>
                      <a:pt x="638" y="20590"/>
                    </a:cubicBezTo>
                    <a:cubicBezTo>
                      <a:pt x="1491" y="21407"/>
                      <a:pt x="2889" y="21407"/>
                      <a:pt x="3746" y="20590"/>
                    </a:cubicBezTo>
                    <a:cubicBezTo>
                      <a:pt x="3877" y="20460"/>
                      <a:pt x="3984" y="20321"/>
                      <a:pt x="4069" y="20174"/>
                    </a:cubicBezTo>
                    <a:lnTo>
                      <a:pt x="6867" y="16517"/>
                    </a:lnTo>
                    <a:cubicBezTo>
                      <a:pt x="8601" y="14255"/>
                      <a:pt x="10606" y="12027"/>
                      <a:pt x="12824" y="9913"/>
                    </a:cubicBezTo>
                    <a:cubicBezTo>
                      <a:pt x="15281" y="7570"/>
                      <a:pt x="17557" y="5758"/>
                      <a:pt x="20329" y="3749"/>
                    </a:cubicBezTo>
                    <a:lnTo>
                      <a:pt x="20321" y="3741"/>
                    </a:lnTo>
                    <a:cubicBezTo>
                      <a:pt x="20400" y="3684"/>
                      <a:pt x="20473" y="3635"/>
                      <a:pt x="20543" y="3570"/>
                    </a:cubicBezTo>
                    <a:cubicBezTo>
                      <a:pt x="21402" y="2753"/>
                      <a:pt x="21402" y="1427"/>
                      <a:pt x="20543" y="606"/>
                    </a:cubicBezTo>
                    <a:cubicBezTo>
                      <a:pt x="19742" y="-161"/>
                      <a:pt x="18472" y="-193"/>
                      <a:pt x="17615" y="4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72" name="Google Shape;272;p30"/>
              <p:cNvSpPr/>
              <p:nvPr/>
            </p:nvSpPr>
            <p:spPr>
              <a:xfrm>
                <a:off x="8448675" y="2649538"/>
                <a:ext cx="71430" cy="74610"/>
              </a:xfrm>
              <a:custGeom>
                <a:rect b="b" l="l" r="r" t="t"/>
                <a:pathLst>
                  <a:path extrusionOk="0" h="21196" w="21180">
                    <a:moveTo>
                      <a:pt x="8372" y="11356"/>
                    </a:moveTo>
                    <a:cubicBezTo>
                      <a:pt x="6122" y="13508"/>
                      <a:pt x="3675" y="15444"/>
                      <a:pt x="1144" y="17292"/>
                    </a:cubicBezTo>
                    <a:cubicBezTo>
                      <a:pt x="963" y="17388"/>
                      <a:pt x="786" y="17493"/>
                      <a:pt x="637" y="17645"/>
                    </a:cubicBezTo>
                    <a:cubicBezTo>
                      <a:pt x="-213" y="18457"/>
                      <a:pt x="-213" y="19774"/>
                      <a:pt x="637" y="20585"/>
                    </a:cubicBezTo>
                    <a:cubicBezTo>
                      <a:pt x="1464" y="21380"/>
                      <a:pt x="2796" y="21397"/>
                      <a:pt x="3652" y="20641"/>
                    </a:cubicBezTo>
                    <a:lnTo>
                      <a:pt x="3665" y="20649"/>
                    </a:lnTo>
                    <a:cubicBezTo>
                      <a:pt x="6364" y="18673"/>
                      <a:pt x="8988" y="16581"/>
                      <a:pt x="11419" y="14263"/>
                    </a:cubicBezTo>
                    <a:cubicBezTo>
                      <a:pt x="13759" y="12030"/>
                      <a:pt x="15873" y="9685"/>
                      <a:pt x="17715" y="7283"/>
                    </a:cubicBezTo>
                    <a:lnTo>
                      <a:pt x="20663" y="3427"/>
                    </a:lnTo>
                    <a:lnTo>
                      <a:pt x="20654" y="3419"/>
                    </a:lnTo>
                    <a:cubicBezTo>
                      <a:pt x="21386" y="2600"/>
                      <a:pt x="21357" y="1379"/>
                      <a:pt x="20541" y="608"/>
                    </a:cubicBezTo>
                    <a:cubicBezTo>
                      <a:pt x="19697" y="-203"/>
                      <a:pt x="18323" y="-203"/>
                      <a:pt x="17468" y="608"/>
                    </a:cubicBezTo>
                    <a:cubicBezTo>
                      <a:pt x="17313" y="760"/>
                      <a:pt x="17197" y="937"/>
                      <a:pt x="17094" y="1114"/>
                    </a:cubicBezTo>
                    <a:lnTo>
                      <a:pt x="14228" y="4857"/>
                    </a:lnTo>
                    <a:cubicBezTo>
                      <a:pt x="12526" y="7090"/>
                      <a:pt x="10552" y="9275"/>
                      <a:pt x="8372" y="113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9025" lIns="19025" spcFirstLastPara="1" rIns="19025" wrap="square" tIns="190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pSp>
        <p:nvGrpSpPr>
          <p:cNvPr id="273" name="Google Shape;273;p30"/>
          <p:cNvGrpSpPr/>
          <p:nvPr/>
        </p:nvGrpSpPr>
        <p:grpSpPr>
          <a:xfrm rot="2700000">
            <a:off x="6759534" y="3495130"/>
            <a:ext cx="342533" cy="342530"/>
            <a:chOff x="8216107" y="2577307"/>
            <a:chExt cx="464355" cy="464350"/>
          </a:xfrm>
        </p:grpSpPr>
        <p:sp>
          <p:nvSpPr>
            <p:cNvPr id="274" name="Google Shape;274;p30"/>
            <p:cNvSpPr/>
            <p:nvPr/>
          </p:nvSpPr>
          <p:spPr>
            <a:xfrm>
              <a:off x="8216107" y="2577307"/>
              <a:ext cx="464355" cy="464350"/>
            </a:xfrm>
            <a:custGeom>
              <a:rect b="b" l="l" r="r" t="t"/>
              <a:pathLst>
                <a:path extrusionOk="0" h="21453" w="21426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8390732" y="2736850"/>
              <a:ext cx="125413" cy="130172"/>
            </a:xfrm>
            <a:custGeom>
              <a:rect b="b" l="l" r="r" t="t"/>
              <a:pathLst>
                <a:path extrusionOk="0" h="21516" w="21484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8375650" y="2896394"/>
              <a:ext cx="70662" cy="73839"/>
            </a:xfrm>
            <a:custGeom>
              <a:rect b="b" l="l" r="r" t="t"/>
              <a:pathLst>
                <a:path extrusionOk="0" h="21203" w="21188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8448675" y="2649538"/>
              <a:ext cx="71430" cy="74610"/>
            </a:xfrm>
            <a:custGeom>
              <a:rect b="b" l="l" r="r" t="t"/>
              <a:pathLst>
                <a:path extrusionOk="0" h="21196" w="21180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278" name="Google Shape;2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/>
          <p:nvPr/>
        </p:nvSpPr>
        <p:spPr>
          <a:xfrm>
            <a:off x="987800" y="1179850"/>
            <a:ext cx="7951800" cy="3693300"/>
          </a:xfrm>
          <a:prstGeom prst="roundRect">
            <a:avLst>
              <a:gd fmla="val 15573" name="adj"/>
            </a:avLst>
          </a:prstGeom>
          <a:solidFill>
            <a:srgbClr val="2E3A4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743100" y="412100"/>
            <a:ext cx="7951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4960434" y="1360400"/>
            <a:ext cx="3735300" cy="1626600"/>
          </a:xfrm>
          <a:prstGeom prst="roundRect">
            <a:avLst>
              <a:gd fmla="val 19530" name="adj"/>
            </a:avLst>
          </a:prstGeom>
          <a:solidFill>
            <a:srgbClr val="1D7E74"/>
          </a:solidFill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6618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4960434" y="3092050"/>
            <a:ext cx="3800400" cy="1626600"/>
          </a:xfrm>
          <a:prstGeom prst="roundRect">
            <a:avLst>
              <a:gd fmla="val 18512" name="adj"/>
            </a:avLst>
          </a:prstGeom>
          <a:solidFill>
            <a:srgbClr val="1D7E74"/>
          </a:solidFill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6618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4960425" y="1879925"/>
            <a:ext cx="38739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84150" lvl="0" marL="400050" marR="66618" rtl="0" algn="l">
              <a:spcBef>
                <a:spcPts val="30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Enables up to 100% of demand to be met by RE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400050" marR="66618" rtl="0" algn="l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Larger off-site projects can drive down costs 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400050" marR="66618" rtl="0" algn="l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Long term price stability and predictability  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400050" marR="66618" rtl="0" algn="l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Available to customers with owned/leased facilities 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514350" marR="66618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6618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5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4960434" y="3393708"/>
            <a:ext cx="3800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400050" rtl="0" algn="l">
              <a:spcBef>
                <a:spcPts val="30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Only available to large energy consumers with an average monthly consumption of ≥200,000 kWh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400050" rtl="0" algn="l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In early stages of adoption. No project examples exist to date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400050" rtl="0" algn="l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Data for cost calculation still being confirmed 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4150" lvl="0" marL="400050" rtl="0" algn="l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Buyers bear transmission costs and risks</a:t>
            </a:r>
            <a:endParaRPr sz="1100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5746914" y="1403525"/>
            <a:ext cx="21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Advantages</a:t>
            </a:r>
            <a:endParaRPr b="1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5746914" y="3107063"/>
            <a:ext cx="21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BFBFB"/>
                </a:solidFill>
                <a:latin typeface="Montserrat"/>
                <a:ea typeface="Montserrat"/>
                <a:cs typeface="Montserrat"/>
                <a:sym typeface="Montserrat"/>
              </a:rPr>
              <a:t>Disadvantages</a:t>
            </a:r>
            <a:endParaRPr b="1">
              <a:solidFill>
                <a:srgbClr val="FBFB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2" name="Google Shape;2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 txBox="1"/>
          <p:nvPr/>
        </p:nvSpPr>
        <p:spPr>
          <a:xfrm>
            <a:off x="813200" y="41450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rgbClr val="2D3A49"/>
                </a:solidFill>
                <a:latin typeface="Montserrat"/>
                <a:ea typeface="Montserrat"/>
                <a:cs typeface="Montserrat"/>
                <a:sym typeface="Montserrat"/>
              </a:rPr>
              <a:t>Synthetic DPPA:</a:t>
            </a:r>
            <a:endParaRPr b="1" sz="2400">
              <a:solidFill>
                <a:srgbClr val="2D3A4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400">
                <a:solidFill>
                  <a:srgbClr val="2D3A49"/>
                </a:solidFill>
                <a:latin typeface="Montserrat"/>
                <a:ea typeface="Montserrat"/>
                <a:cs typeface="Montserrat"/>
                <a:sym typeface="Montserrat"/>
              </a:rPr>
              <a:t>At-a-Glance</a:t>
            </a:r>
            <a:endParaRPr sz="2400">
              <a:solidFill>
                <a:srgbClr val="2D3A4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31"/>
          <p:cNvPicPr preferRelativeResize="0"/>
          <p:nvPr/>
        </p:nvPicPr>
        <p:blipFill rotWithShape="1">
          <a:blip r:embed="rId4">
            <a:alphaModFix/>
          </a:blip>
          <a:srcRect b="0" l="0" r="21655" t="0"/>
          <a:stretch/>
        </p:blipFill>
        <p:spPr>
          <a:xfrm>
            <a:off x="1239922" y="1452400"/>
            <a:ext cx="3516900" cy="314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95" name="Google Shape;295;p31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D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0" y="913125"/>
            <a:ext cx="57882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98" name="Google Shape;29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819300" y="81325"/>
            <a:ext cx="71844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Off-Site DPPA: 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"/>
                <a:ea typeface="Montserrat"/>
                <a:cs typeface="Montserrat"/>
                <a:sym typeface="Montserrat"/>
              </a:rPr>
              <a:t>Risks and Mitigation Strategies</a:t>
            </a:r>
            <a:endParaRPr sz="2400">
              <a:solidFill>
                <a:srgbClr val="2E3A4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2"/>
          <p:cNvSpPr/>
          <p:nvPr/>
        </p:nvSpPr>
        <p:spPr>
          <a:xfrm>
            <a:off x="0" y="864525"/>
            <a:ext cx="7263600" cy="81300"/>
          </a:xfrm>
          <a:prstGeom prst="rect">
            <a:avLst/>
          </a:prstGeom>
          <a:solidFill>
            <a:srgbClr val="19756B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2880962" y="991285"/>
            <a:ext cx="2006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F3A48"/>
                </a:solidFill>
                <a:latin typeface="Montserrat"/>
                <a:ea typeface="Montserrat"/>
                <a:cs typeface="Montserrat"/>
                <a:sym typeface="Montserrat"/>
              </a:rPr>
              <a:t>Potential Risks</a:t>
            </a:r>
            <a:endParaRPr b="1" sz="1500">
              <a:solidFill>
                <a:srgbClr val="2F3A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5334375" y="991285"/>
            <a:ext cx="3744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F3A48"/>
                </a:solidFill>
                <a:latin typeface="Montserrat"/>
                <a:ea typeface="Montserrat"/>
                <a:cs typeface="Montserrat"/>
                <a:sym typeface="Montserrat"/>
              </a:rPr>
              <a:t>Mitigation Strategies</a:t>
            </a:r>
            <a:endParaRPr b="1" sz="1500">
              <a:solidFill>
                <a:srgbClr val="2F3A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2"/>
          <p:cNvSpPr txBox="1"/>
          <p:nvPr/>
        </p:nvSpPr>
        <p:spPr>
          <a:xfrm>
            <a:off x="2339460" y="2729675"/>
            <a:ext cx="3092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Regulatory and policy changes can impact the financial and operational viability  </a:t>
            </a:r>
            <a:endParaRPr sz="1200"/>
          </a:p>
        </p:txBody>
      </p:sp>
      <p:sp>
        <p:nvSpPr>
          <p:cNvPr id="309" name="Google Shape;309;p32"/>
          <p:cNvSpPr txBox="1"/>
          <p:nvPr/>
        </p:nvSpPr>
        <p:spPr>
          <a:xfrm>
            <a:off x="2339359" y="1310975"/>
            <a:ext cx="3092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first grid-connected example is now live (Samsung–TTC, Jun 2026); the market is still thin, so early buyers remain first movers</a:t>
            </a:r>
            <a:endParaRPr sz="1200"/>
          </a:p>
        </p:txBody>
      </p:sp>
      <p:sp>
        <p:nvSpPr>
          <p:cNvPr id="310" name="Google Shape;310;p32"/>
          <p:cNvSpPr txBox="1"/>
          <p:nvPr/>
        </p:nvSpPr>
        <p:spPr>
          <a:xfrm>
            <a:off x="2339460" y="3460650"/>
            <a:ext cx="3092700" cy="630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Underperforming projects may fail to meet expected operational standards</a:t>
            </a:r>
            <a:endParaRPr sz="1200">
              <a:solidFill>
                <a:srgbClr val="2D3A49"/>
              </a:solidFill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5518421" y="2024736"/>
            <a:ext cx="3386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D3A49"/>
              </a:solidFill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5518419" y="2756652"/>
            <a:ext cx="3386700" cy="630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32"/>
          <p:cNvSpPr txBox="1"/>
          <p:nvPr/>
        </p:nvSpPr>
        <p:spPr>
          <a:xfrm>
            <a:off x="5518422" y="1310958"/>
            <a:ext cx="3386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Engage experienced technical and market experts to provide local transaction support</a:t>
            </a:r>
            <a:endParaRPr sz="1200"/>
          </a:p>
        </p:txBody>
      </p:sp>
      <p:sp>
        <p:nvSpPr>
          <p:cNvPr id="314" name="Google Shape;314;p32"/>
          <p:cNvSpPr/>
          <p:nvPr/>
        </p:nvSpPr>
        <p:spPr>
          <a:xfrm>
            <a:off x="895500" y="1310950"/>
            <a:ext cx="1467900" cy="657600"/>
          </a:xfrm>
          <a:prstGeom prst="rect">
            <a:avLst/>
          </a:prstGeom>
          <a:solidFill>
            <a:srgbClr val="244B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Implementation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5518415" y="3460621"/>
            <a:ext cx="3386700" cy="6138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D3A49"/>
              </a:solidFill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1102175" y="2756210"/>
            <a:ext cx="1263900" cy="630600"/>
          </a:xfrm>
          <a:prstGeom prst="rect">
            <a:avLst/>
          </a:prstGeom>
          <a:solidFill>
            <a:srgbClr val="208A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Performance</a:t>
            </a:r>
            <a:endParaRPr b="1" sz="10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1102175" y="3468903"/>
            <a:ext cx="1263900" cy="613800"/>
          </a:xfrm>
          <a:prstGeom prst="rect">
            <a:avLst/>
          </a:prstGeom>
          <a:solidFill>
            <a:srgbClr val="2BB1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Financing</a:t>
            </a:r>
            <a:endParaRPr b="1" sz="10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2334800" y="4164825"/>
            <a:ext cx="3092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Risk that developers could default or encounter financial difficulties </a:t>
            </a:r>
            <a:endParaRPr sz="1200"/>
          </a:p>
        </p:txBody>
      </p:sp>
      <p:sp>
        <p:nvSpPr>
          <p:cNvPr id="319" name="Google Shape;319;p32"/>
          <p:cNvSpPr txBox="1"/>
          <p:nvPr/>
        </p:nvSpPr>
        <p:spPr>
          <a:xfrm>
            <a:off x="5518422" y="4160494"/>
            <a:ext cx="3386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32"/>
          <p:cNvSpPr txBox="1"/>
          <p:nvPr/>
        </p:nvSpPr>
        <p:spPr>
          <a:xfrm>
            <a:off x="5602739" y="4201622"/>
            <a:ext cx="338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Conduct due diligence on financial health of developers and service providers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895516" y="4164825"/>
            <a:ext cx="1467900" cy="657600"/>
          </a:xfrm>
          <a:prstGeom prst="rect">
            <a:avLst/>
          </a:prstGeom>
          <a:solidFill>
            <a:srgbClr val="64B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Financing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895502" y="3460751"/>
            <a:ext cx="1467900" cy="630600"/>
          </a:xfrm>
          <a:prstGeom prst="rect">
            <a:avLst/>
          </a:prstGeom>
          <a:solidFill>
            <a:srgbClr val="249C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5579627" y="3458555"/>
            <a:ext cx="33867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Consider performance guarantees and annual O&amp;M reports to ensure the project meets specified operational metrics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5594522" y="2756948"/>
            <a:ext cx="33867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Consider flexible contractual provisions that mitigate financial impacts of regulatory changes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895502" y="2726101"/>
            <a:ext cx="1467900" cy="6576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Policy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2334806" y="2018550"/>
            <a:ext cx="3092700" cy="657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Fluctuations in energy prices can impact financial viability of a given project</a:t>
            </a:r>
            <a:endParaRPr sz="1200"/>
          </a:p>
        </p:txBody>
      </p:sp>
      <p:sp>
        <p:nvSpPr>
          <p:cNvPr id="327" name="Google Shape;327;p32"/>
          <p:cNvSpPr txBox="1"/>
          <p:nvPr/>
        </p:nvSpPr>
        <p:spPr>
          <a:xfrm>
            <a:off x="5568768" y="2041820"/>
            <a:ext cx="32298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 fixed pricing or floor/ceiling to mitigate exposure to market volatility</a:t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898226" y="2018525"/>
            <a:ext cx="1467900" cy="657600"/>
          </a:xfrm>
          <a:prstGeom prst="rect">
            <a:avLst/>
          </a:prstGeom>
          <a:solidFill>
            <a:srgbClr val="2F64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Pricing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330" name="Google Shape;33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37" name="Google Shape;337;p33"/>
          <p:cNvSpPr txBox="1"/>
          <p:nvPr/>
        </p:nvSpPr>
        <p:spPr>
          <a:xfrm>
            <a:off x="933425" y="884100"/>
            <a:ext cx="89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222222"/>
                </a:solidFill>
                <a:latin typeface="Cabin"/>
              </a:rPr>
              <a:t>At the 1,012 VND/kWh ceiling strike the buyer saves ~25 B VND/yr ($0.95M); the developer is sub-economic across the band — no overlap. Directional.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3"/>
          <p:cNvSpPr txBox="1"/>
          <p:nvPr>
            <p:ph type="title"/>
          </p:nvPr>
        </p:nvSpPr>
        <p:spPr>
          <a:xfrm>
            <a:off x="842575" y="0"/>
            <a:ext cx="8486400" cy="7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155B55"/>
                </a:solidFill>
                <a:latin typeface="Cabin"/>
              </a:rPr>
              <a:t>Strike Sweep: Buyer Saving vs Developer NPV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Picture 342" descr="strike_swee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988" y="1358550"/>
            <a:ext cx="6102374" cy="3520099"/>
          </a:xfrm>
          <a:prstGeom prst="rect">
            <a:avLst/>
          </a:prstGeom>
        </p:spPr>
      </p:pic>
      <p:sp>
        <p:nvSpPr>
          <p:cNvPr id="344" name="TextBox 343"/>
          <p:cNvSpPr txBox="1"/>
          <p:nvPr/>
        </p:nvSpPr>
        <p:spPr>
          <a:xfrm>
            <a:off x="7269480" y="141732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000" b="1">
                <a:solidFill>
                  <a:srgbClr val="155B55"/>
                </a:solidFill>
                <a:latin typeface="Cabin"/>
              </a:rPr>
              <a:t>AT A GLANCE</a:t>
            </a:r>
          </a:p>
          <a:p>
            <a:pPr algn="l">
              <a:buNone/>
            </a:pPr>
            <a:r>
              <a:rPr sz="1000" b="0">
                <a:solidFill>
                  <a:srgbClr val="777777"/>
                </a:solidFill>
                <a:latin typeface="Cabin"/>
              </a:rPr>
              <a:t>Buyer eff. cost</a:t>
            </a:r>
          </a:p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38761D"/>
                </a:solidFill>
                <a:latin typeface="Cabin"/>
              </a:rPr>
              <a:t>1,552 VND/kWh</a:t>
            </a:r>
          </a:p>
          <a:p>
            <a:pPr algn="l">
              <a:buNone/>
            </a:pPr>
            <a:r>
              <a:rPr sz="1000" b="0">
                <a:solidFill>
                  <a:srgbClr val="777777"/>
                </a:solidFill>
                <a:latin typeface="Cabin"/>
              </a:rPr>
              <a:t>EVN avoided</a:t>
            </a:r>
          </a:p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222222"/>
                </a:solidFill>
                <a:latin typeface="Cabin"/>
              </a:rPr>
              <a:t>1,913 VND/kWh</a:t>
            </a:r>
          </a:p>
          <a:p>
            <a:pPr algn="l">
              <a:buNone/>
            </a:pPr>
            <a:r>
              <a:rPr sz="1000" b="0">
                <a:solidFill>
                  <a:srgbClr val="777777"/>
                </a:solidFill>
                <a:latin typeface="Cabin"/>
              </a:rPr>
              <a:t>Developer NPV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B23A3A"/>
                </a:solidFill>
                <a:latin typeface="Cabin"/>
              </a:rPr>
              <a:t>−$80M → −$57M</a:t>
            </a:r>
          </a:p>
          <a:p>
            <a:pPr algn="l">
              <a:buNone/>
            </a:pPr>
            <a:r>
              <a:rPr sz="1000" b="0">
                <a:solidFill>
                  <a:srgbClr val="777777"/>
                </a:solidFill>
                <a:latin typeface="Cabin"/>
              </a:rPr>
              <a:t>Overlap</a:t>
            </a:r>
          </a:p>
          <a:p>
            <a:pPr algn="l">
              <a:buNone/>
            </a:pPr>
            <a:r>
              <a:rPr sz="1400" b="1">
                <a:solidFill>
                  <a:srgbClr val="B23A3A"/>
                </a:solidFill>
                <a:latin typeface="Cabin"/>
              </a:rPr>
              <a:t>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/>
          <p:nvPr>
            <p:ph type="title"/>
          </p:nvPr>
        </p:nvSpPr>
        <p:spPr>
          <a:xfrm>
            <a:off x="872025" y="0"/>
            <a:ext cx="8486400" cy="7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155B55"/>
                </a:solidFill>
                <a:latin typeface="Cabin"/>
              </a:rPr>
              <a:t>Sensitivities: DPPA Adder &amp; Tariff Regime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8" name="Google Shape;3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72025" y="1135975"/>
            <a:ext cx="8091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222222"/>
                </a:solidFill>
                <a:latin typeface="Cabin"/>
              </a:rPr>
              <a:t>Two levers move the buyer result: the inherited DPPA grid-service adder (the dominant lever, break-even ~0.9×) and the tariff regime — the Decree 146 two-part tariff (actual bills from Jul 2026) lifts Samsung's EVN bill ~18%. Directional.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Picture 355" descr="ad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650" y="1953400"/>
            <a:ext cx="4087425" cy="2368700"/>
          </a:xfrm>
          <a:prstGeom prst="rect">
            <a:avLst/>
          </a:prstGeom>
        </p:spPr>
      </p:pic>
      <p:pic>
        <p:nvPicPr>
          <p:cNvPr id="357" name="Picture 356" descr="regi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6125" y="1953400"/>
            <a:ext cx="3702299" cy="2368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62" name="Google Shape;362;p35"/>
          <p:cNvSpPr txBox="1"/>
          <p:nvPr/>
        </p:nvSpPr>
        <p:spPr>
          <a:xfrm>
            <a:off x="788725" y="968863"/>
            <a:ext cx="85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Accurate allocation of QKHhc is critical for determining DPPA cost settlement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3" name="Google Shape;363;p35"/>
          <p:cNvPicPr preferRelativeResize="0"/>
          <p:nvPr/>
        </p:nvPicPr>
        <p:blipFill rotWithShape="1">
          <a:blip r:embed="rId5">
            <a:alphaModFix/>
          </a:blip>
          <a:srcRect b="0" l="350" r="-350" t="0"/>
          <a:stretch/>
        </p:blipFill>
        <p:spPr>
          <a:xfrm>
            <a:off x="909125" y="1422475"/>
            <a:ext cx="8024798" cy="3402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4" name="Google Shape;364;p35"/>
          <p:cNvSpPr txBox="1"/>
          <p:nvPr>
            <p:ph type="title"/>
          </p:nvPr>
        </p:nvSpPr>
        <p:spPr>
          <a:xfrm>
            <a:off x="827275" y="114125"/>
            <a:ext cx="81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Diurnal Profile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"/>
          <p:cNvSpPr txBox="1"/>
          <p:nvPr>
            <p:ph type="title"/>
          </p:nvPr>
        </p:nvSpPr>
        <p:spPr>
          <a:xfrm>
            <a:off x="803100" y="0"/>
            <a:ext cx="8283900" cy="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QKHhc is the key factor in all DPPA cost calculations: </a:t>
            </a: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Buyers must calculate it accurately.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75" name="Google Shape;375;p36"/>
          <p:cNvSpPr txBox="1"/>
          <p:nvPr/>
        </p:nvSpPr>
        <p:spPr>
          <a:xfrm>
            <a:off x="774600" y="952825"/>
            <a:ext cx="8340900" cy="4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General Formula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➔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which: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◆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Q_KH (i), is the actual electricity output consumed by the Customer (kWh).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◆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Q_m (i)  is the actual output generated by the Renewable Energy Generation Unit, converted to the Customer's delivery point (kWh).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Calculate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Q_m (i) 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➔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which: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◆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Q_mq (i)  is the metered electricity output (at the Renewable Energy Plant's station) during cycle i (kWh).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◆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 is the loss conversion factor during cycle i (calculated according to competitive electricity market regulations).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◆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K_pp ​ is the annual distribution grid loss conversion factor (as announced by EVN).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◆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δ is the percentage (%) of renewable energy output allocated to the Customer during cycle i (as agreed in the contract).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0" y="82460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4100" y="952825"/>
            <a:ext cx="3561325" cy="6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1975" y="2406650"/>
            <a:ext cx="2413276" cy="8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86" name="Google Shape;386;p37"/>
          <p:cNvSpPr txBox="1"/>
          <p:nvPr/>
        </p:nvSpPr>
        <p:spPr>
          <a:xfrm>
            <a:off x="884400" y="1556950"/>
            <a:ext cx="8259600" cy="29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Calculate</a:t>
            </a:r>
            <a:b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total revenue (or clearing cost) under the CFD contract in a payment cycle is calculated by: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which: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𝑅𝐶 – Revenue under the CFD contract in the payment cycle (VND)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𝑖– The i-th trading cycle in the payment cycle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𝐼– The total number of trading cycles in the payment cycle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𝑃_𝑐 (𝑖) – The committed price in the forward contract (strike price) at cycle i (VND/kWh)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𝐹𝑀𝑃(𝑖)– The reference price (spot market price) at cycle i (VND/kWh)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𝑄_𝑐𝑎 (𝑖)– The committed quantity in the forward contract at cycle i (kWh)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7" name="Google Shape;38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659" y="2241175"/>
            <a:ext cx="3089244" cy="7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 txBox="1"/>
          <p:nvPr/>
        </p:nvSpPr>
        <p:spPr>
          <a:xfrm>
            <a:off x="907807" y="856350"/>
            <a:ext cx="784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Strike price determines financial settlement through CFD, convert market price volatility into predictable financial flows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7"/>
          <p:cNvSpPr txBox="1"/>
          <p:nvPr>
            <p:ph type="title"/>
          </p:nvPr>
        </p:nvSpPr>
        <p:spPr>
          <a:xfrm>
            <a:off x="813400" y="108350"/>
            <a:ext cx="81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Payment Mechanism under the CFD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7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7"/>
          <p:cNvSpPr/>
          <p:nvPr/>
        </p:nvSpPr>
        <p:spPr>
          <a:xfrm>
            <a:off x="0" y="6810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875" y="1480350"/>
            <a:ext cx="7668801" cy="339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99" name="Google Shape;399;p38"/>
          <p:cNvSpPr txBox="1"/>
          <p:nvPr/>
        </p:nvSpPr>
        <p:spPr>
          <a:xfrm>
            <a:off x="754275" y="895100"/>
            <a:ext cx="8389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Feasibility analysis enables buyers to compare DPPA against traditional procurement with confidence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38"/>
          <p:cNvSpPr txBox="1"/>
          <p:nvPr>
            <p:ph type="title"/>
          </p:nvPr>
        </p:nvSpPr>
        <p:spPr>
          <a:xfrm>
            <a:off x="804975" y="37625"/>
            <a:ext cx="828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Quantify DPPA Costs to Assess Feasibility &amp; Negotiate RE Supply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0" y="82460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9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</a:rPr>
              <a:t> 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4158823" y="1061399"/>
            <a:ext cx="4392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DPPA Negotiation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E3A4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9"/>
          <p:cNvSpPr/>
          <p:nvPr/>
        </p:nvSpPr>
        <p:spPr>
          <a:xfrm>
            <a:off x="0" y="688050"/>
            <a:ext cx="57705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743100" y="841600"/>
            <a:ext cx="27885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sz="1100" b="1">
                <a:solidFill>
                  <a:srgbClr val="155B55"/>
                </a:solidFill>
                <a:latin typeface="Cabin"/>
              </a:rPr>
              <a:t>THE DEAL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buNone/>
            </a:pPr>
            <a:r>
              <a:rPr sz="1050" b="0">
                <a:solidFill>
                  <a:srgbClr val="222222"/>
                </a:solidFill>
                <a:latin typeface="Cabin"/>
              </a:rPr>
              <a:t>Buyer: Samsung SEVT (Thai Nguyen)</a:t>
            </a:r>
          </a:p>
          <a:p>
            <a:pPr algn="l">
              <a:buNone/>
            </a:pPr>
            <a:r>
              <a:rPr sz="1050" b="0">
                <a:solidFill>
                  <a:srgbClr val="222222"/>
                </a:solidFill>
                <a:latin typeface="Cabin"/>
              </a:rPr>
              <a:t>Generator: TTC Duc Hue 2, Tay Ninh</a:t>
            </a:r>
          </a:p>
          <a:p>
            <a:pPr algn="l">
              <a:buNone/>
            </a:pPr>
            <a:r>
              <a:rPr sz="1050" b="0">
                <a:solidFill>
                  <a:srgbClr val="222222"/>
                </a:solidFill>
                <a:latin typeface="Cabin"/>
              </a:rPr>
              <a:t>49 MWp / 41.4 MWac · ~70 GWh/yr</a:t>
            </a:r>
          </a:p>
          <a:p>
            <a:pPr algn="l">
              <a:spcAft>
                <a:spcPts val="800"/>
              </a:spcAft>
              <a:buNone/>
            </a:pPr>
            <a:r>
              <a:rPr sz="1050" b="0">
                <a:solidFill>
                  <a:srgbClr val="222222"/>
                </a:solidFill>
                <a:latin typeface="Cabin"/>
              </a:rPr>
              <a:t>Financial CfD, Decree 57/2025 · live 1 Jun 2026</a:t>
            </a:r>
          </a:p>
          <a:p>
            <a:pPr algn="l">
              <a:spcAft>
                <a:spcPts val="300"/>
              </a:spcAft>
              <a:buNone/>
            </a:pPr>
            <a:r>
              <a:rPr sz="1100" b="1">
                <a:solidFill>
                  <a:srgbClr val="155B55"/>
                </a:solidFill>
                <a:latin typeface="Cabin"/>
              </a:rPr>
              <a:t>DIRECTIONAL RESULT</a:t>
            </a:r>
          </a:p>
          <a:p>
            <a:pPr algn="l">
              <a:buNone/>
            </a:pPr>
            <a:r>
              <a:rPr sz="1050" b="0">
                <a:solidFill>
                  <a:srgbClr val="38761D"/>
                </a:solidFill>
                <a:latin typeface="Cabin"/>
              </a:rPr>
              <a:t>Buyer saves ~25 B VND/yr ($0.95M) at the 1,012 strike</a:t>
            </a:r>
          </a:p>
          <a:p>
            <a:pPr algn="l">
              <a:buNone/>
            </a:pPr>
            <a:r>
              <a:rPr sz="1050" b="0">
                <a:solidFill>
                  <a:srgbClr val="222222"/>
                </a:solidFill>
                <a:latin typeface="Cabin"/>
              </a:rPr>
              <a:t>Buyer flips to premium above ~1,440 VND/kWh</a:t>
            </a:r>
          </a:p>
          <a:p>
            <a:pPr algn="l">
              <a:buNone/>
            </a:pPr>
            <a:r>
              <a:rPr sz="1050" b="0">
                <a:solidFill>
                  <a:srgbClr val="B23A3A"/>
                </a:solidFill>
                <a:latin typeface="Cabin"/>
              </a:rPr>
              <a:t>Developer sub-economic across band (no overlap)</a:t>
            </a:r>
          </a:p>
          <a:p>
            <a:pPr algn="l">
              <a:buNone/>
            </a:pPr>
            <a:r>
              <a:rPr sz="1050" b="0">
                <a:solidFill>
                  <a:srgbClr val="222222"/>
                </a:solidFill>
                <a:latin typeface="Cabin"/>
              </a:rPr>
              <a:t>Adder is the dominant lever (break-even ~0.9×)</a:t>
            </a:r>
          </a:p>
        </p:txBody>
      </p:sp>
      <p:pic>
        <p:nvPicPr>
          <p:cNvPr id="412" name="Google Shape;4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16" name="Google Shape;416;p39"/>
          <p:cNvSpPr txBox="1"/>
          <p:nvPr/>
        </p:nvSpPr>
        <p:spPr>
          <a:xfrm>
            <a:off x="836225" y="36750"/>
            <a:ext cx="50151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155B55"/>
                </a:solidFill>
                <a:latin typeface="Cabin"/>
              </a:rPr>
              <a:t>Samsung × TTC: Worked Case (directional)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17" name="Picture 416" descr="strike_swe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1600" y="1069881"/>
            <a:ext cx="5526801" cy="2636681"/>
          </a:xfrm>
          <a:prstGeom prst="rect">
            <a:avLst/>
          </a:prstGeom>
        </p:spPr>
      </p:pic>
      <p:sp>
        <p:nvSpPr>
          <p:cNvPr id="418" name="TextBox 417"/>
          <p:cNvSpPr txBox="1"/>
          <p:nvPr/>
        </p:nvSpPr>
        <p:spPr>
          <a:xfrm>
            <a:off x="3785615" y="40690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5B55"/>
                </a:solidFill>
                <a:latin typeface="Cabin"/>
              </a:rPr>
              <a:t>Recommended: buyer-favourable, developer sub-economic — directional, not bankable.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0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</a:rPr>
              <a:t> 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423" name="Google Shape;423;p40"/>
          <p:cNvSpPr txBox="1"/>
          <p:nvPr/>
        </p:nvSpPr>
        <p:spPr>
          <a:xfrm>
            <a:off x="826925" y="143300"/>
            <a:ext cx="472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55B55"/>
                </a:solidFill>
                <a:latin typeface="Cabin"/>
              </a:rPr>
              <a:t>Recommendation &amp; Path to Bankable (directional)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0" y="688050"/>
            <a:ext cx="57705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944550" y="991600"/>
            <a:ext cx="77121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sz="1300" b="1">
                <a:solidFill>
                  <a:srgbClr val="155B55"/>
                </a:solidFill>
                <a:latin typeface="Cabin"/>
              </a:rPr>
              <a:t>Position: buyer-favourable, developer sub-economic — no clean overlap. Directional, not bankable.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spcAft>
                <a:spcPts val="600"/>
              </a:spcAft>
              <a:buNone/>
            </a:pPr>
            <a:r>
              <a:rPr sz="1150" b="0">
                <a:solidFill>
                  <a:srgbClr val="222222"/>
                </a:solidFill>
                <a:latin typeface="Cabin"/>
              </a:rPr>
              <a:t>For the offtaker (Samsung): the DPPA structurally beats EVN at the regulated ceiling strike (~$0.95M/yr saving on the 70 GWh slice); it strengthens as the Decree 146 two-part tariff hits actual bills from Jul 2026 (Phase 3).</a:t>
            </a:r>
          </a:p>
          <a:p>
            <a:pPr algn="l">
              <a:spcAft>
                <a:spcPts val="600"/>
              </a:spcAft>
              <a:buNone/>
            </a:pPr>
            <a:r>
              <a:rPr sz="1150" b="0">
                <a:solidFill>
                  <a:srgbClr val="222222"/>
                </a:solidFill>
                <a:latin typeface="Cabin"/>
              </a:rPr>
              <a:t>For the generator (TTC): do not read 'uneconomic' from this screen — it is conservative (revenue on the contracted 70 GWh, not the plant's full ~92.5 GWh yield; $750/kW capex). Counting full output + a merchant tail would lift NPV.</a:t>
            </a:r>
          </a:p>
          <a:p>
            <a:pPr algn="l">
              <a:spcAft>
                <a:spcPts val="200"/>
              </a:spcAft>
              <a:buNone/>
            </a:pPr>
            <a:r>
              <a:rPr sz="1150" b="1">
                <a:solidFill>
                  <a:srgbClr val="222222"/>
                </a:solidFill>
                <a:latin typeface="Cabin"/>
              </a:rPr>
              <a:t>Three inputs move this from directional to bankable:</a:t>
            </a:r>
          </a:p>
          <a:p>
            <a:pPr algn="l">
              <a:buNone/>
            </a:pPr>
            <a:r>
              <a:rPr sz="1100" b="0">
                <a:solidFill>
                  <a:srgbClr val="222222"/>
                </a:solidFill>
                <a:latin typeface="Cabin"/>
              </a:rPr>
              <a:t>1.  the real DPPA grid / wheeling fee (the dominant lever)</a:t>
            </a:r>
          </a:p>
          <a:p>
            <a:pPr algn="l">
              <a:buNone/>
            </a:pPr>
            <a:r>
              <a:rPr sz="1100" b="0">
                <a:solidFill>
                  <a:srgbClr val="222222"/>
                </a:solidFill>
                <a:latin typeface="Cabin"/>
              </a:rPr>
              <a:t>2.  a Tay Ninh site-specific CFMP / FMP series</a:t>
            </a:r>
          </a:p>
          <a:p>
            <a:pPr algn="l">
              <a:buNone/>
            </a:pPr>
            <a:r>
              <a:rPr sz="1100" b="0">
                <a:solidFill>
                  <a:srgbClr val="222222"/>
                </a:solidFill>
                <a:latin typeface="Cabin"/>
              </a:rPr>
              <a:t>3.  the actual negotiated strike and tenor</a:t>
            </a:r>
          </a:p>
        </p:txBody>
      </p:sp>
      <p:pic>
        <p:nvPicPr>
          <p:cNvPr id="426" name="Google Shape;4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