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5"/>
    <p:sldMasterId id="2147483696" r:id="rId6"/>
    <p:sldMasterId id="2147483697" r:id="rId7"/>
    <p:sldMasterId id="2147483698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y="5143500" cx="9144000"/>
  <p:notesSz cx="6858000" cy="9144000"/>
  <p:embeddedFontLst>
    <p:embeddedFont>
      <p:font typeface="Cabin SemiBold"/>
      <p:regular r:id="rId22"/>
      <p:bold r:id="rId23"/>
      <p:italic r:id="rId24"/>
      <p:boldItalic r:id="rId25"/>
    </p:embeddedFont>
    <p:embeddedFont>
      <p:font typeface="Cabin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3B5CE8-2ADE-4199-AB71-247C6FC2BBD0}">
  <a:tblStyle styleId="{973B5CE8-2ADE-4199-AB71-247C6FC2BBD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8BAFBD6-30AE-4688-90E2-7A341194FA8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font" Target="fonts/CabinSemiBold-regular.fntdata"/><Relationship Id="rId23" Type="http://schemas.openxmlformats.org/officeDocument/2006/relationships/font" Target="fonts/CabinSemiBold-bold.fntdata"/><Relationship Id="rId24" Type="http://schemas.openxmlformats.org/officeDocument/2006/relationships/font" Target="fonts/CabinSemiBold-italic.fntdata"/><Relationship Id="rId25" Type="http://schemas.openxmlformats.org/officeDocument/2006/relationships/font" Target="fonts/CabinSemiBold-boldItalic.fntdata"/><Relationship Id="rId26" Type="http://schemas.openxmlformats.org/officeDocument/2006/relationships/font" Target="fonts/Cabin-regular.fntdata"/><Relationship Id="rId27" Type="http://schemas.openxmlformats.org/officeDocument/2006/relationships/font" Target="fonts/Cabin-bold.fntdata"/><Relationship Id="rId28" Type="http://schemas.openxmlformats.org/officeDocument/2006/relationships/font" Target="fonts/Cabin-italic.fntdata"/><Relationship Id="rId29" Type="http://schemas.openxmlformats.org/officeDocument/2006/relationships/font" Target="fonts/Cabin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GWh/yr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Contracted to SEVT</c:v>
                </c:pt>
                <c:pt idx="1">
                  <c:v>Plant native yield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70.0</c:v>
                </c:pt>
                <c:pt idx="1">
                  <c:v>92.5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bi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Buyer net vs EVN (B VND/yr; − = saves)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1,012</c:v>
                </c:pt>
                <c:pt idx="1">
                  <c:v>1,227</c:v>
                </c:pt>
                <c:pt idx="2">
                  <c:v>1,443</c:v>
                </c:pt>
                <c:pt idx="3">
                  <c:v>1,658</c:v>
                </c:pt>
                <c:pt idx="4">
                  <c:v>1,873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-25.2</c:v>
                </c:pt>
                <c:pt idx="1">
                  <c:v>-10.13</c:v>
                </c:pt>
                <c:pt idx="2">
                  <c:v>4.95</c:v>
                </c:pt>
                <c:pt idx="3">
                  <c:v>20.02</c:v>
                </c:pt>
                <c:pt idx="4">
                  <c:v>35.1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>
          <a:latin typeface="Cabin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Developer NPV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1,012</c:v>
                </c:pt>
                <c:pt idx="1">
                  <c:v>1,227</c:v>
                </c:pt>
                <c:pt idx="2">
                  <c:v>1,443</c:v>
                </c:pt>
                <c:pt idx="3">
                  <c:v>1,658</c:v>
                </c:pt>
                <c:pt idx="4">
                  <c:v>1,873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-79.7</c:v>
                </c:pt>
                <c:pt idx="1">
                  <c:v>-74.1</c:v>
                </c:pt>
                <c:pt idx="2">
                  <c:v>-68.5</c:v>
                </c:pt>
                <c:pt idx="3">
                  <c:v>-62.9</c:v>
                </c:pt>
                <c:pt idx="4">
                  <c:v>-57.3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900">
          <a:latin typeface="Cabin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Buyer net vs EVN (B VND/yr; − = saves)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0.0×
(0)</c:v>
                </c:pt>
                <c:pt idx="1">
                  <c:v>0.5×
(262)</c:v>
                </c:pt>
                <c:pt idx="2">
                  <c:v>1.0×
(523)</c:v>
                </c:pt>
                <c:pt idx="3">
                  <c:v>1.5×
(785)</c:v>
                </c:pt>
                <c:pt idx="4">
                  <c:v>2.0×
(1,047)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-61.84</c:v>
                </c:pt>
                <c:pt idx="1">
                  <c:v>-43.52</c:v>
                </c:pt>
                <c:pt idx="2">
                  <c:v>-25.2</c:v>
                </c:pt>
                <c:pt idx="3">
                  <c:v>-6.89</c:v>
                </c:pt>
                <c:pt idx="4">
                  <c:v>11.43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>
          <a:latin typeface="Cabin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EVN bill (B VND/yr)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Decision 963
(current)</c:v>
                </c:pt>
                <c:pt idx="1">
                  <c:v>Decision 14
(legacy)</c:v>
                </c:pt>
                <c:pt idx="2">
                  <c:v>Decree 146
(two-part trial)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2036.7</c:v>
                </c:pt>
                <c:pt idx="1">
                  <c:v>1993.0</c:v>
                </c:pt>
                <c:pt idx="2">
                  <c:v>2401.6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bin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f7e9bc34a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f7e9bc34a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f7e9bc34a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f7e9bc34a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d8599bdd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bd8599bdda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d8599bdda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g3bd8599bdda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f7e9bc34a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f7e9bc34a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d8599bdda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d8599bdd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f7e9bc34a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f7e9bc34a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6d8b9fc6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6d8b9fc6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6d8b9fc6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a6d8b9fc6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6d8b9fc6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6d8b9fc6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 background: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“</a:t>
            </a:r>
            <a:r>
              <a:rPr lang="en"/>
              <a:t>Her initial feedback on our proposal is to shift the focus away from technology and specific companies.”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“Instead, she would like to see more emphasis on overall market and policy advancement, integrated through the outputs of the pilots and case studies rather than as a separate point.” 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d8599bdda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bd8599bdda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Details on March 13th </a:t>
            </a:r>
            <a:r>
              <a:rPr lang="en"/>
              <a:t>submission</a:t>
            </a:r>
            <a:r>
              <a:rPr lang="en"/>
              <a:t> window?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we need to share a draft for Yen’s feedback prior to that?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f7e9bc34a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g3af7e9bc34a_0_11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hyperlink" Target="http://www.allotropepartners.com" TargetMode="Externa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">
    <p:bg>
      <p:bgPr>
        <a:solidFill>
          <a:srgbClr val="D6ECE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Clr>
                <a:srgbClr val="000000"/>
              </a:buClr>
              <a:buSzPts val="1000"/>
              <a:buFont typeface="Arial"/>
              <a:buNone/>
              <a:defRPr/>
            </a:lvl1pPr>
            <a:lvl2pPr lvl="1">
              <a:buClr>
                <a:srgbClr val="000000"/>
              </a:buClr>
              <a:buSzPts val="1000"/>
              <a:buFont typeface="Arial"/>
              <a:buNone/>
              <a:defRPr/>
            </a:lvl2pPr>
            <a:lvl3pPr lvl="2">
              <a:buClr>
                <a:srgbClr val="000000"/>
              </a:buClr>
              <a:buSzPts val="1000"/>
              <a:buFont typeface="Arial"/>
              <a:buNone/>
              <a:defRPr/>
            </a:lvl3pPr>
            <a:lvl4pPr lvl="3">
              <a:buClr>
                <a:srgbClr val="000000"/>
              </a:buClr>
              <a:buSzPts val="1000"/>
              <a:buFont typeface="Arial"/>
              <a:buNone/>
              <a:defRPr/>
            </a:lvl4pPr>
            <a:lvl5pPr lvl="4">
              <a:buClr>
                <a:srgbClr val="000000"/>
              </a:buClr>
              <a:buSzPts val="1000"/>
              <a:buFont typeface="Arial"/>
              <a:buNone/>
              <a:defRPr/>
            </a:lvl5pPr>
            <a:lvl6pPr lvl="5">
              <a:buClr>
                <a:srgbClr val="000000"/>
              </a:buClr>
              <a:buSzPts val="1000"/>
              <a:buFont typeface="Arial"/>
              <a:buNone/>
              <a:defRPr/>
            </a:lvl6pPr>
            <a:lvl7pPr lvl="6">
              <a:buClr>
                <a:srgbClr val="000000"/>
              </a:buClr>
              <a:buSzPts val="1000"/>
              <a:buFont typeface="Arial"/>
              <a:buNone/>
              <a:defRPr/>
            </a:lvl7pPr>
            <a:lvl8pPr lvl="7">
              <a:buClr>
                <a:srgbClr val="000000"/>
              </a:buClr>
              <a:buSzPts val="1000"/>
              <a:buFont typeface="Arial"/>
              <a:buNone/>
              <a:defRPr/>
            </a:lvl8pPr>
            <a:lvl9pPr lvl="8"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" name="Google Shape;57;p15"/>
          <p:cNvPicPr preferRelativeResize="0"/>
          <p:nvPr/>
        </p:nvPicPr>
        <p:blipFill rotWithShape="1">
          <a:blip r:embed="rId2">
            <a:alphaModFix/>
          </a:blip>
          <a:srcRect b="0" l="0" r="0" t="10929"/>
          <a:stretch/>
        </p:blipFill>
        <p:spPr>
          <a:xfrm>
            <a:off x="-25546" y="333375"/>
            <a:ext cx="9169542" cy="4810125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58" name="Google Shape;58;p15"/>
          <p:cNvSpPr txBox="1"/>
          <p:nvPr/>
        </p:nvSpPr>
        <p:spPr>
          <a:xfrm>
            <a:off x="-25546" y="-5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50" y="0"/>
            <a:ext cx="4490350" cy="15638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>
            <p:ph type="title"/>
          </p:nvPr>
        </p:nvSpPr>
        <p:spPr>
          <a:xfrm>
            <a:off x="267875" y="1563800"/>
            <a:ext cx="7091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900"/>
              <a:buFont typeface="Cabin"/>
              <a:buNone/>
              <a:defRPr b="1" sz="19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Slide">
  <p:cSld name="CUSTOM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p16"/>
          <p:cNvPicPr preferRelativeResize="0"/>
          <p:nvPr/>
        </p:nvPicPr>
        <p:blipFill rotWithShape="1">
          <a:blip r:embed="rId2">
            <a:alphaModFix/>
          </a:blip>
          <a:srcRect b="36169" l="57610" r="15264" t="3874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50000"/>
              </a:srgbClr>
            </a:outerShdw>
          </a:effectLst>
        </p:spPr>
      </p:pic>
      <p:sp>
        <p:nvSpPr>
          <p:cNvPr id="64" name="Google Shape;64;p16"/>
          <p:cNvSpPr/>
          <p:nvPr/>
        </p:nvSpPr>
        <p:spPr>
          <a:xfrm>
            <a:off x="856200" y="1239275"/>
            <a:ext cx="7479900" cy="2845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FE9E3"/>
          </a:solidFill>
          <a:ln cap="flat" cmpd="sng" w="9525">
            <a:solidFill>
              <a:srgbClr val="1D7E7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000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F645B"/>
              </a:solidFill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2774" y="193175"/>
            <a:ext cx="2094225" cy="72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>
            <p:ph type="title"/>
          </p:nvPr>
        </p:nvSpPr>
        <p:spPr>
          <a:xfrm>
            <a:off x="1347900" y="1555250"/>
            <a:ext cx="64965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3300"/>
              <a:buFont typeface="Cabin"/>
              <a:buNone/>
              <a:defRPr b="1" sz="3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1347900" y="2448200"/>
            <a:ext cx="6459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2300"/>
              <a:buFont typeface="Cabin"/>
              <a:buNone/>
              <a:defRPr b="1" sz="23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175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175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175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175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70" name="Google Shape;70;p17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sz="24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b="1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2" name="Google Shape;7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40100" y="78975"/>
            <a:ext cx="1251600" cy="4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048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048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048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048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048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048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048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048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048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048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048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048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048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048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048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048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76" name="Google Shape;76;p18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sz="24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77" name="Google Shape;7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b="1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blank_white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sz="24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81" name="Google Shape;8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9"/>
          <p:cNvSpPr txBox="1"/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b="1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blank_green">
  <p:cSld name="TITLE_ONLY_1">
    <p:bg>
      <p:bgPr>
        <a:solidFill>
          <a:srgbClr val="80CBB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sz="24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85" name="Google Shape;8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 txBox="1"/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b="1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blank_light green">
  <p:cSld name="TITLE_ONLY_1_1">
    <p:bg>
      <p:bgPr>
        <a:solidFill>
          <a:srgbClr val="E6F4F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sz="24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89" name="Google Shape;8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b="1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048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048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048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048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048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048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048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048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93" name="Google Shape;93;p22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D7E74"/>
          </a:solidFill>
          <a:ln>
            <a:noFill/>
          </a:ln>
          <a:effectLst>
            <a:outerShdw blurRad="28575" rotWithShape="0" algn="bl" dir="2580000" dist="38100">
              <a:srgbClr val="B5D8D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sz="24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94" name="Google Shape;9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2"/>
          <p:cNvSpPr txBox="1"/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b="1" sz="2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b="1" sz="42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b="1" sz="42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b="1" sz="42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b="1" sz="42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b="1" sz="42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b="1" sz="42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b="1" sz="42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b="1" sz="42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b="1" sz="42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100" name="Google Shape;100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175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175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175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175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12000"/>
              <a:buFont typeface="Cabin"/>
              <a:buNone/>
              <a:defRPr sz="120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17500" lvl="1" marL="9144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17500" lvl="2" marL="1371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17500" lvl="3" marL="18288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17500" lvl="4" marL="2286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17500" lvl="5" marL="2743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17500" lvl="6" marL="32004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17500" lvl="7" marL="3657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17500" lvl="8" marL="411480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slide">
  <p:cSld name="BLANK_1">
    <p:bg>
      <p:bgPr>
        <a:solidFill>
          <a:srgbClr val="D6ECE8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26"/>
          <p:cNvPicPr preferRelativeResize="0"/>
          <p:nvPr/>
        </p:nvPicPr>
        <p:blipFill rotWithShape="1">
          <a:blip r:embed="rId2">
            <a:alphaModFix/>
          </a:blip>
          <a:srcRect b="0" l="0" r="0" t="10929"/>
          <a:stretch/>
        </p:blipFill>
        <p:spPr>
          <a:xfrm>
            <a:off x="-27196" y="332508"/>
            <a:ext cx="9171194" cy="4810992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108" name="Google Shape;108;p26"/>
          <p:cNvSpPr txBox="1"/>
          <p:nvPr/>
        </p:nvSpPr>
        <p:spPr>
          <a:xfrm>
            <a:off x="-25546" y="-83130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42" y="28575"/>
            <a:ext cx="3790703" cy="13291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/>
          <p:nvPr/>
        </p:nvSpPr>
        <p:spPr>
          <a:xfrm>
            <a:off x="250625" y="1357750"/>
            <a:ext cx="71574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300" u="sng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www.allotropepartners.com</a:t>
            </a:r>
            <a:endParaRPr b="1" sz="19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250625" y="187290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900"/>
              <a:buFont typeface="Cabin"/>
              <a:buNone/>
              <a:defRPr b="1" sz="1900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b="1" sz="21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1_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9"/>
          <p:cNvSpPr txBox="1"/>
          <p:nvPr/>
        </p:nvSpPr>
        <p:spPr>
          <a:xfrm>
            <a:off x="0" y="-35175"/>
            <a:ext cx="9180300" cy="709200"/>
          </a:xfrm>
          <a:prstGeom prst="rect">
            <a:avLst/>
          </a:prstGeom>
          <a:solidFill>
            <a:srgbClr val="33716C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highlight>
                <a:srgbClr val="64B4A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63300" y="36394"/>
            <a:ext cx="1530756" cy="53066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9"/>
          <p:cNvSpPr txBox="1"/>
          <p:nvPr>
            <p:ph type="title"/>
          </p:nvPr>
        </p:nvSpPr>
        <p:spPr>
          <a:xfrm>
            <a:off x="33469" y="9025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sz="2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6" name="Google Shape;136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4" name="Google Shape;154;p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5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0" name="Google Shape;160;p35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3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2" name="Google Shape;162;p35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3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6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6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69" name="Google Shape;169;p36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3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3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8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3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3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9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9" name="Google Shape;189;p3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4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1" name="Google Shape;201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4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5" name="Google Shape;205;p4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6" name="Google Shape;206;p4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0" name="Google Shape;210;p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1" name="Google Shape;211;p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2" name="Google Shape;212;p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3" name="Google Shape;213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4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7" name="Google Shape;217;p4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4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4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3" name="Google Shape;223;p4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4" name="Google Shape;224;p4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5" name="Google Shape;225;p4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6" name="Google Shape;226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9" name="Google Shape;229;p46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30" name="Google Shape;230;p46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4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32" name="Google Shape;232;p46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3" name="Google Shape;233;p4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4" name="Google Shape;234;p4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5" name="Google Shape;235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4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9" name="Google Shape;239;p4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0" name="Google Shape;240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4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244" name="Google Shape;244;p4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4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6" name="Google Shape;246;p4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7" name="Google Shape;247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0" name="Google Shape;250;p49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49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3" name="Google Shape;253;p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4" name="Google Shape;254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7" name="Google Shape;257;p50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8" name="Google Shape;258;p5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9" name="Google Shape;259;p5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0" name="Google Shape;260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1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51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4" name="Google Shape;264;p5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5" name="Google Shape;265;p5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6" name="Google Shape;266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2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 i="0" sz="18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4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chart" Target="../charts/chart2.xml"/><Relationship Id="rId7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hyperlink" Target="mailto:mmr@allotropepartners.com" TargetMode="External"/><Relationship Id="rId6" Type="http://schemas.openxmlformats.org/officeDocument/2006/relationships/hyperlink" Target="mailto:tah@allotropepartners.com" TargetMode="External"/><Relationship Id="rId7" Type="http://schemas.openxmlformats.org/officeDocument/2006/relationships/hyperlink" Target="mailto:chn@allotropevc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trasition slide with using hints of color #11665a showing battery storage systems and renewable sources" id="271" name="Google Shape;271;p52"/>
          <p:cNvPicPr preferRelativeResize="0"/>
          <p:nvPr/>
        </p:nvPicPr>
        <p:blipFill rotWithShape="1">
          <a:blip r:embed="rId3">
            <a:alphaModFix/>
          </a:blip>
          <a:srcRect b="6605" l="0" r="0" t="27873"/>
          <a:stretch/>
        </p:blipFill>
        <p:spPr>
          <a:xfrm>
            <a:off x="0" y="1799200"/>
            <a:ext cx="9143545" cy="334430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2"/>
          <p:cNvSpPr txBox="1"/>
          <p:nvPr/>
        </p:nvSpPr>
        <p:spPr>
          <a:xfrm>
            <a:off x="550850" y="410050"/>
            <a:ext cx="6849600" cy="111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8DC7C1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55B55"/>
                </a:solidFill>
                <a:latin typeface="Cabin"/>
                <a:ea typeface="Cabin"/>
                <a:cs typeface="Cabin"/>
                <a:sym typeface="Cabin"/>
              </a:rPr>
              <a:t>Allotrope DPPA Insights</a:t>
            </a:r>
            <a:endParaRPr b="1" sz="2600">
              <a:solidFill>
                <a:srgbClr val="155B55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55B55"/>
                </a:solidFill>
                <a:latin typeface="Cabin"/>
                <a:ea typeface="Cabin"/>
                <a:cs typeface="Cabin"/>
                <a:sym typeface="Cabin"/>
              </a:rPr>
              <a:t>Samsung SEVT — TTC Duc Hue 2: Vietnam’s First Grid-Connected DPPA</a:t>
            </a:r>
            <a:endParaRPr b="1" sz="2600">
              <a:solidFill>
                <a:srgbClr val="155B55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55B55"/>
                </a:solidFill>
                <a:latin typeface="Cabin"/>
                <a:ea typeface="Cabin"/>
                <a:cs typeface="Cabin"/>
                <a:sym typeface="Cabin"/>
              </a:rPr>
              <a:t>June 2026  —  Directional economics (illustrative, not bankable)</a:t>
            </a:r>
            <a:endParaRPr b="1" sz="2600">
              <a:solidFill>
                <a:srgbClr val="155B55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155B55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273" name="Google Shape;27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3025" y="0"/>
            <a:ext cx="1570976" cy="5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3"/>
          <p:cNvSpPr txBox="1"/>
          <p:nvPr>
            <p:ph type="title"/>
          </p:nvPr>
        </p:nvSpPr>
        <p:spPr>
          <a:xfrm>
            <a:off x="235425" y="290225"/>
            <a:ext cx="7428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/>
              <a:t>Vietnam’s First Grid-Connected DPPA: </a:t>
            </a:r>
            <a:endParaRPr sz="2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/>
              <a:t>Deal at a Glance  (live 1 Jun 2026)</a:t>
            </a:r>
            <a:endParaRPr/>
          </a:p>
        </p:txBody>
      </p:sp>
      <p:graphicFrame>
        <p:nvGraphicFramePr>
          <p:cNvPr id="279" name="Google Shape;279;p53"/>
          <p:cNvGraphicFramePr/>
          <p:nvPr/>
        </p:nvGraphicFramePr>
        <p:xfrm>
          <a:off x="292200" y="1274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{973B5CE8-2ADE-4199-AB71-247C6FC2BBD0}</a:tableStyleId>
              </a:tblPr>
              <a:tblGrid>
                <a:gridCol w="2515600"/>
                <a:gridCol w="3981225"/>
                <a:gridCol w="1945300"/>
              </a:tblGrid>
              <a:tr h="269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Cabin SemiBold"/>
                          <a:ea typeface="Cabin SemiBold"/>
                          <a:cs typeface="Cabin SemiBold"/>
                          <a:sym typeface="Cabin SemiBold"/>
                        </a:rPr>
                        <a:t>Group</a:t>
                      </a:r>
                      <a:endParaRPr sz="1200">
                        <a:solidFill>
                          <a:schemeClr val="lt1"/>
                        </a:solidFill>
                        <a:latin typeface="Cabin SemiBold"/>
                        <a:ea typeface="Cabin SemiBold"/>
                        <a:cs typeface="Cabin SemiBold"/>
                        <a:sym typeface="Cabin SemiBold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5B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Cabin SemiBold"/>
                          <a:ea typeface="Cabin SemiBold"/>
                          <a:cs typeface="Cabin SemiBold"/>
                          <a:sym typeface="Cabin SemiBold"/>
                        </a:rPr>
                        <a:t>Parameter</a:t>
                      </a:r>
                      <a:endParaRPr sz="1200">
                        <a:solidFill>
                          <a:schemeClr val="lt1"/>
                        </a:solidFill>
                        <a:latin typeface="Cabin SemiBold"/>
                        <a:ea typeface="Cabin SemiBold"/>
                        <a:cs typeface="Cabin SemiBold"/>
                        <a:sym typeface="Cabin SemiBold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5B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Cabin SemiBold"/>
                          <a:ea typeface="Cabin SemiBold"/>
                          <a:cs typeface="Cabin SemiBold"/>
                          <a:sym typeface="Cabin SemiBold"/>
                        </a:rPr>
                        <a:t>Value / Basis</a:t>
                      </a:r>
                      <a:endParaRPr sz="1200">
                        <a:solidFill>
                          <a:schemeClr val="lt1"/>
                        </a:solidFill>
                        <a:latin typeface="Cabin SemiBold"/>
                        <a:ea typeface="Cabin SemiBold"/>
                        <a:cs typeface="Cabin SemiBold"/>
                        <a:sym typeface="Cabin SemiBold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5B54"/>
                    </a:solidFill>
                  </a:tcPr>
                </a:tc>
              </a:tr>
              <a:tr h="4299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Parties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Cabin"/>
                          <a:ea typeface="Cabin"/>
                          <a:cs typeface="Cabin"/>
                          <a:sym typeface="Cabin"/>
                        </a:rPr>
                        <a:t>Buyer</a:t>
                      </a:r>
                      <a:endParaRPr sz="11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bin"/>
                          <a:ea typeface="Cabin"/>
                          <a:cs typeface="Cabin"/>
                          <a:sym typeface="Cabin"/>
                        </a:rPr>
                        <a:t>Samsung Electronics Vietnam Thai Nguyen (SEVT) — Thai Nguyen, north</a:t>
                      </a:r>
                      <a:endParaRPr sz="11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00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Cabin"/>
                          <a:ea typeface="Cabin"/>
                          <a:cs typeface="Cabin"/>
                          <a:sym typeface="Cabin"/>
                        </a:rPr>
                        <a:t>Generator</a:t>
                      </a:r>
                      <a:endParaRPr sz="11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bin"/>
                          <a:ea typeface="Cabin"/>
                          <a:cs typeface="Cabin"/>
                          <a:sym typeface="Cabin"/>
                        </a:rPr>
                        <a:t>TTC Duc Hue 2 solar — Tay Ninh, south (TTC Duc Hue–Long An Power JSC)</a:t>
                      </a:r>
                      <a:endParaRPr sz="11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0000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Plant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Capacity</a:t>
                      </a:r>
                      <a:endParaRPr sz="1100">
                        <a:solidFill>
                          <a:schemeClr val="dk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49 MWp DC / 41.4 MWac — ground-mount, no storage</a:t>
                      </a:r>
                      <a:endParaRPr/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00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Output</a:t>
                      </a:r>
                      <a:endParaRPr sz="1100">
                        <a:solidFill>
                          <a:schemeClr val="dk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~70 GWh/yr contracted (~19.3% AC capacity factor); ~46,000 t CO₂ avoided/yr</a:t>
                      </a:r>
                      <a:endParaRPr/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00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Milestones</a:t>
                      </a:r>
                      <a:endParaRPr sz="1100">
                        <a:solidFill>
                          <a:schemeClr val="dk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COD 19 May 2026; DPPA live 1 Jun 2026</a:t>
                      </a:r>
                      <a:endParaRPr sz="1100">
                        <a:solidFill>
                          <a:schemeClr val="dk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343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Contract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Cabin"/>
                          <a:ea typeface="Cabin"/>
                          <a:cs typeface="Cabin"/>
                          <a:sym typeface="Cabin"/>
                        </a:rPr>
                        <a:t>Mechanism</a:t>
                      </a:r>
                      <a:endParaRPr sz="11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Grid-connected DPPA under Decree 57/2025 (three-contract model)</a:t>
                      </a:r>
                      <a:endParaRPr sz="11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343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Settlement</a:t>
                      </a:r>
                      <a:endParaRPr sz="1100">
                        <a:solidFill>
                          <a:schemeClr val="dk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Financial contract-for-differences (CfD) vs market reference</a:t>
                      </a:r>
                      <a:endParaRPr sz="1100">
                        <a:solidFill>
                          <a:schemeClr val="dk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19050" marB="19050" marR="28575" marL="27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4"/>
          <p:cNvSpPr/>
          <p:nvPr/>
        </p:nvSpPr>
        <p:spPr>
          <a:xfrm>
            <a:off x="123228" y="134251"/>
            <a:ext cx="6277500" cy="690600"/>
          </a:xfrm>
          <a:prstGeom prst="roundRect">
            <a:avLst>
              <a:gd fmla="val 16667" name="adj"/>
            </a:avLst>
          </a:prstGeom>
          <a:solidFill>
            <a:srgbClr val="1166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0808" y="13208"/>
            <a:ext cx="1723175" cy="63727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/>
        </p:nvSpPr>
        <p:spPr>
          <a:xfrm>
            <a:off x="252329" y="278797"/>
            <a:ext cx="52689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abin"/>
              <a:buNone/>
            </a:pPr>
            <a:r>
              <a:rPr b="1" i="0" lang="en" sz="2300" u="none" cap="none" strike="noStrik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DEAL INFORMATION &amp; STRIKE BASIS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0" name="Google Shape;290;p54"/>
          <p:cNvGraphicFramePr/>
          <p:nvPr/>
        </p:nvGraphicFramePr>
        <p:xfrm>
          <a:off x="252328" y="929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{C8BAFBD6-30AE-4688-90E2-7A341194FA83}</a:tableStyleId>
              </a:tblPr>
              <a:tblGrid>
                <a:gridCol w="1398950"/>
                <a:gridCol w="2920725"/>
              </a:tblGrid>
              <a:tr h="21797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Buyer</a:t>
                      </a:r>
                      <a:endParaRPr b="1"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lang="en" sz="1200" u="none" cap="none" strike="noStrike">
                          <a:latin typeface="Cabin"/>
                          <a:ea typeface="Cabin"/>
                          <a:cs typeface="Cabin"/>
                          <a:sym typeface="Cabin"/>
                        </a:rPr>
                        <a:t>Samsung Electronics Vietnam Thai Nguyen (SEVT)</a:t>
                      </a:r>
                      <a:endParaRPr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97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Buyer location</a:t>
                      </a:r>
                      <a:endParaRPr b="1"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lang="en" sz="1200" u="none" cap="none" strike="noStrike">
                          <a:latin typeface="Cabin"/>
                          <a:ea typeface="Cabin"/>
                          <a:cs typeface="Cabin"/>
                          <a:sym typeface="Cabin"/>
                        </a:rPr>
                        <a:t>Yen Binh Industrial Park, Thai Nguyen province (north)</a:t>
                      </a:r>
                      <a:endParaRPr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65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Generator</a:t>
                      </a:r>
                      <a:endParaRPr b="1"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lang="en" sz="1200" u="none" cap="none" strike="noStrike">
                          <a:latin typeface="Cabin"/>
                          <a:ea typeface="Cabin"/>
                          <a:cs typeface="Cabin"/>
                          <a:sym typeface="Cabin"/>
                        </a:rPr>
                        <a:t>TTC Duc Hue 2 solar farm, Tay Ninh province (south)</a:t>
                      </a:r>
                      <a:endParaRPr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32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Developer</a:t>
                      </a:r>
                      <a:endParaRPr b="1"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lang="en" sz="1200" u="none" cap="none" strike="noStrike">
                          <a:latin typeface="Cabin"/>
                          <a:ea typeface="Cabin"/>
                          <a:cs typeface="Cabin"/>
                          <a:sym typeface="Cabin"/>
                        </a:rPr>
                        <a:t>TTC Duc Hue–Long An Power JSC</a:t>
                      </a:r>
                      <a:endParaRPr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65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Capacity</a:t>
                      </a:r>
                      <a:endParaRPr b="1"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lang="en" sz="1200" u="none" cap="none" strike="noStrike">
                          <a:latin typeface="Cabin"/>
                          <a:ea typeface="Cabin"/>
                          <a:cs typeface="Cabin"/>
                          <a:sym typeface="Cabin"/>
                        </a:rPr>
                        <a:t>49 MWp DC / 41.4 MWac, ground-mounted, no storage</a:t>
                      </a:r>
                      <a:endParaRPr/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65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Annual volume</a:t>
                      </a:r>
                      <a:endParaRPr b="1"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lang="en" sz="1200" u="none" cap="none" strike="noStrike">
                          <a:latin typeface="Cabin"/>
                          <a:ea typeface="Cabin"/>
                          <a:cs typeface="Cabin"/>
                          <a:sym typeface="Cabin"/>
                        </a:rPr>
                        <a:t>~70 GWh/yr to buyer (~7% of synthetic SEVT load)</a:t>
                      </a:r>
                      <a:endParaRPr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97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Mechanism</a:t>
                      </a:r>
                      <a:endParaRPr b="1"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lang="en" sz="1200" u="none" cap="none" strike="noStrike">
                          <a:latin typeface="Cabin"/>
                          <a:ea typeface="Cabin"/>
                          <a:cs typeface="Cabin"/>
                          <a:sym typeface="Cabin"/>
                        </a:rPr>
                        <a:t>Grid-connected DPPA, national grid, Decree 57/2025</a:t>
                      </a:r>
                      <a:endParaRPr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97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Settlement</a:t>
                      </a:r>
                      <a:endParaRPr b="1"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lang="en" sz="1200" u="none" cap="none" strike="noStrike">
                          <a:latin typeface="Cabin"/>
                          <a:ea typeface="Cabin"/>
                          <a:cs typeface="Cabin"/>
                          <a:sym typeface="Cabin"/>
                        </a:rPr>
                        <a:t>Financial CfD; generator sells to VWEM spot, settles difference vs SEVT</a:t>
                      </a:r>
                      <a:endParaRPr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97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Strike basis</a:t>
                      </a:r>
                      <a:endParaRPr b="1"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lang="en" sz="1200" u="none" cap="none" strike="noStrike">
                          <a:latin typeface="Cabin"/>
                          <a:ea typeface="Cabin"/>
                          <a:cs typeface="Cabin"/>
                          <a:sym typeface="Cabin"/>
                        </a:rPr>
                        <a:t>Anchored to Southern ground-mount ceiling ≈ 1,012 VND/kWh (Decree 57 cap)</a:t>
                      </a:r>
                      <a:endParaRPr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35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Market ref</a:t>
                      </a:r>
                      <a:endParaRPr b="1"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lang="en" sz="1200" u="none" cap="none" strike="noStrike">
                          <a:latin typeface="Cabin"/>
                          <a:ea typeface="Cabin"/>
                          <a:cs typeface="Cabin"/>
                          <a:sym typeface="Cabin"/>
                        </a:rPr>
                        <a:t>Proxy CFMP/FMP series (transferred, not site-specific)</a:t>
                      </a:r>
                      <a:endParaRPr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65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Disclosure</a:t>
                      </a:r>
                      <a:endParaRPr b="1"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bin"/>
                        <a:buNone/>
                      </a:pPr>
                      <a:r>
                        <a:rPr lang="en" sz="1200" u="none" cap="none" strike="noStrike">
                          <a:latin typeface="Cabin"/>
                          <a:ea typeface="Cabin"/>
                          <a:cs typeface="Cabin"/>
                          <a:sym typeface="Cabin"/>
                        </a:rPr>
                        <a:t>Strike, tenor, KPP/grid fee UNDISCLOSED — all numbers DIRECTIONAL</a:t>
                      </a:r>
                      <a:endParaRPr sz="1200" u="none" cap="none" strike="noStrike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68575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54"/>
          <p:cNvSpPr txBox="1"/>
          <p:nvPr/>
        </p:nvSpPr>
        <p:spPr>
          <a:xfrm>
            <a:off x="4446900" y="4852850"/>
            <a:ext cx="4701900" cy="2955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90"/>
              </a:spcBef>
              <a:spcAft>
                <a:spcPts val="9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1" lang="en" sz="8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Confidential - For Internal Use by Allotrope </a:t>
            </a:r>
            <a:r>
              <a:rPr b="1" i="1" lang="en" sz="800">
                <a:latin typeface="Cabin"/>
                <a:ea typeface="Cabin"/>
                <a:cs typeface="Cabin"/>
                <a:sym typeface="Cabin"/>
              </a:rPr>
              <a:t>&amp; Key Partners</a:t>
            </a:r>
            <a:r>
              <a:rPr b="1" i="1" lang="en" sz="8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 - Not Approved for Further Circulation</a:t>
            </a:r>
            <a:endParaRPr b="1" i="1" sz="8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0808" y="13208"/>
            <a:ext cx="1723175" cy="63727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5"/>
          <p:cNvSpPr/>
          <p:nvPr/>
        </p:nvSpPr>
        <p:spPr>
          <a:xfrm>
            <a:off x="123228" y="134251"/>
            <a:ext cx="6277500" cy="690600"/>
          </a:xfrm>
          <a:prstGeom prst="roundRect">
            <a:avLst>
              <a:gd fmla="val 16667" name="adj"/>
            </a:avLst>
          </a:prstGeom>
          <a:solidFill>
            <a:srgbClr val="1166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5"/>
          <p:cNvSpPr txBox="1"/>
          <p:nvPr/>
        </p:nvSpPr>
        <p:spPr>
          <a:xfrm>
            <a:off x="252328" y="278797"/>
            <a:ext cx="6148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abin"/>
              <a:buNone/>
            </a:pPr>
            <a:r>
              <a:rPr b="1" i="0" lang="en" sz="2300" u="none" cap="none" strike="noStrik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CONCLUSIONS &amp; RECOMMENDATIONS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5"/>
          <p:cNvSpPr/>
          <p:nvPr/>
        </p:nvSpPr>
        <p:spPr>
          <a:xfrm>
            <a:off x="2193925" y="154622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5"/>
          <p:cNvSpPr/>
          <p:nvPr/>
        </p:nvSpPr>
        <p:spPr>
          <a:xfrm>
            <a:off x="252325" y="1546225"/>
            <a:ext cx="1658700" cy="3216000"/>
          </a:xfrm>
          <a:prstGeom prst="roundRect">
            <a:avLst>
              <a:gd fmla="val 16667" name="adj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5"/>
          <p:cNvSpPr/>
          <p:nvPr/>
        </p:nvSpPr>
        <p:spPr>
          <a:xfrm>
            <a:off x="2014201" y="1556438"/>
            <a:ext cx="1658700" cy="3216000"/>
          </a:xfrm>
          <a:prstGeom prst="roundRect">
            <a:avLst>
              <a:gd fmla="val 16667" name="adj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5"/>
          <p:cNvSpPr/>
          <p:nvPr/>
        </p:nvSpPr>
        <p:spPr>
          <a:xfrm>
            <a:off x="3776076" y="1554761"/>
            <a:ext cx="1658700" cy="3216000"/>
          </a:xfrm>
          <a:prstGeom prst="roundRect">
            <a:avLst>
              <a:gd fmla="val 16667" name="adj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5"/>
          <p:cNvSpPr/>
          <p:nvPr/>
        </p:nvSpPr>
        <p:spPr>
          <a:xfrm>
            <a:off x="5537952" y="1564973"/>
            <a:ext cx="1658700" cy="3216000"/>
          </a:xfrm>
          <a:prstGeom prst="roundRect">
            <a:avLst>
              <a:gd fmla="val 16667" name="adj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5"/>
          <p:cNvSpPr/>
          <p:nvPr/>
        </p:nvSpPr>
        <p:spPr>
          <a:xfrm>
            <a:off x="7299825" y="1551406"/>
            <a:ext cx="1658700" cy="3216000"/>
          </a:xfrm>
          <a:prstGeom prst="roundRect">
            <a:avLst>
              <a:gd fmla="val 16667" name="adj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5"/>
          <p:cNvSpPr/>
          <p:nvPr/>
        </p:nvSpPr>
        <p:spPr>
          <a:xfrm>
            <a:off x="3779070" y="2282931"/>
            <a:ext cx="1655700" cy="2497800"/>
          </a:xfrm>
          <a:prstGeom prst="roundRect">
            <a:avLst>
              <a:gd fmla="val 16667" name="adj"/>
            </a:avLst>
          </a:prstGeom>
          <a:solidFill>
            <a:srgbClr val="1166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5"/>
          <p:cNvSpPr/>
          <p:nvPr/>
        </p:nvSpPr>
        <p:spPr>
          <a:xfrm>
            <a:off x="5538260" y="2282931"/>
            <a:ext cx="1650900" cy="2497800"/>
          </a:xfrm>
          <a:prstGeom prst="roundRect">
            <a:avLst>
              <a:gd fmla="val 16667" name="adj"/>
            </a:avLst>
          </a:prstGeom>
          <a:solidFill>
            <a:srgbClr val="1476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5"/>
          <p:cNvSpPr/>
          <p:nvPr/>
        </p:nvSpPr>
        <p:spPr>
          <a:xfrm>
            <a:off x="7299825" y="2275650"/>
            <a:ext cx="1658700" cy="2497800"/>
          </a:xfrm>
          <a:prstGeom prst="roundRect">
            <a:avLst>
              <a:gd fmla="val 16667" name="adj"/>
            </a:avLst>
          </a:prstGeom>
          <a:solidFill>
            <a:srgbClr val="198F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5"/>
          <p:cNvSpPr/>
          <p:nvPr/>
        </p:nvSpPr>
        <p:spPr>
          <a:xfrm>
            <a:off x="2017198" y="2282932"/>
            <a:ext cx="1655700" cy="2497800"/>
          </a:xfrm>
          <a:prstGeom prst="roundRect">
            <a:avLst>
              <a:gd fmla="val 16667" name="adj"/>
            </a:avLst>
          </a:prstGeom>
          <a:solidFill>
            <a:srgbClr val="105C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5"/>
          <p:cNvSpPr/>
          <p:nvPr/>
        </p:nvSpPr>
        <p:spPr>
          <a:xfrm>
            <a:off x="249350" y="2275651"/>
            <a:ext cx="1658700" cy="2497800"/>
          </a:xfrm>
          <a:prstGeom prst="roundRect">
            <a:avLst>
              <a:gd fmla="val 16667" name="adj"/>
            </a:avLst>
          </a:prstGeom>
          <a:solidFill>
            <a:srgbClr val="0C48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5"/>
          <p:cNvSpPr txBox="1"/>
          <p:nvPr/>
        </p:nvSpPr>
        <p:spPr>
          <a:xfrm>
            <a:off x="349245" y="1684316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C483F"/>
                </a:solidFill>
                <a:latin typeface="Cabin"/>
                <a:ea typeface="Cabin"/>
                <a:cs typeface="Cabin"/>
                <a:sym typeface="Cabin"/>
              </a:rPr>
              <a:t>Buyer Saves (Directional)</a:t>
            </a:r>
            <a:endParaRPr b="1" i="0" sz="1400" u="none" cap="none" strike="noStrike">
              <a:solidFill>
                <a:srgbClr val="0C483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11" name="Google Shape;311;p55"/>
          <p:cNvSpPr txBox="1"/>
          <p:nvPr/>
        </p:nvSpPr>
        <p:spPr>
          <a:xfrm>
            <a:off x="2131483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05C51"/>
                </a:solidFill>
                <a:latin typeface="Cabin"/>
                <a:ea typeface="Cabin"/>
                <a:cs typeface="Cabin"/>
                <a:sym typeface="Cabin"/>
              </a:rPr>
              <a:t>Developer Sub-Economic</a:t>
            </a:r>
            <a:endParaRPr b="0" i="0" sz="1400" u="none" cap="none" strike="noStrike">
              <a:solidFill>
                <a:srgbClr val="105C5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12" name="Google Shape;312;p55"/>
          <p:cNvSpPr txBox="1"/>
          <p:nvPr/>
        </p:nvSpPr>
        <p:spPr>
          <a:xfrm>
            <a:off x="3852751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1665A"/>
                </a:solidFill>
                <a:latin typeface="Cabin"/>
                <a:ea typeface="Cabin"/>
                <a:cs typeface="Cabin"/>
                <a:sym typeface="Cabin"/>
              </a:rPr>
              <a:t>Adder Is the Dominant Lever</a:t>
            </a:r>
            <a:endParaRPr/>
          </a:p>
        </p:txBody>
      </p:sp>
      <p:sp>
        <p:nvSpPr>
          <p:cNvPr id="313" name="Google Shape;313;p55"/>
          <p:cNvSpPr txBox="1"/>
          <p:nvPr/>
        </p:nvSpPr>
        <p:spPr>
          <a:xfrm>
            <a:off x="5577050" y="1708375"/>
            <a:ext cx="155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47668"/>
                </a:solidFill>
                <a:latin typeface="Cabin"/>
                <a:ea typeface="Cabin"/>
                <a:cs typeface="Cabin"/>
                <a:sym typeface="Cabin"/>
              </a:rPr>
              <a:t>Regime Stress</a:t>
            </a:r>
            <a:endParaRPr/>
          </a:p>
        </p:txBody>
      </p:sp>
      <p:sp>
        <p:nvSpPr>
          <p:cNvPr id="314" name="Google Shape;314;p55"/>
          <p:cNvSpPr txBox="1"/>
          <p:nvPr/>
        </p:nvSpPr>
        <p:spPr>
          <a:xfrm>
            <a:off x="7399896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98F7E"/>
                </a:solidFill>
                <a:latin typeface="Cabin"/>
                <a:ea typeface="Cabin"/>
                <a:cs typeface="Cabin"/>
                <a:sym typeface="Cabin"/>
              </a:rPr>
              <a:t>Recommendation</a:t>
            </a:r>
            <a:endParaRPr/>
          </a:p>
        </p:txBody>
      </p:sp>
      <p:sp>
        <p:nvSpPr>
          <p:cNvPr id="315" name="Google Shape;315;p55"/>
          <p:cNvSpPr txBox="1"/>
          <p:nvPr/>
        </p:nvSpPr>
        <p:spPr>
          <a:xfrm>
            <a:off x="285403" y="2417569"/>
            <a:ext cx="1539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At the Southern-ceiling strike (1,012 VND/kWh) the buyer saves ~25.2 B VND/yr (~$0.95M) on the 70 GWh slice: effective 1,552 vs EVN avoided 1,913 VND/kWh. Directional.</a:t>
            </a:r>
            <a:endParaRPr/>
          </a:p>
        </p:txBody>
      </p:sp>
      <p:sp>
        <p:nvSpPr>
          <p:cNvPr id="316" name="Google Shape;316;p55"/>
          <p:cNvSpPr txBox="1"/>
          <p:nvPr/>
        </p:nvSpPr>
        <p:spPr>
          <a:xfrm>
            <a:off x="2008228" y="2417569"/>
            <a:ext cx="1664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PySAM Single Owner NPV runs −$79.7M → −$57.3M across the strike band (IRR null) on a conservative 70 GWh / $750/kW basis. No buyer–developer overlap.</a:t>
            </a:r>
            <a:endParaRPr/>
          </a:p>
        </p:txBody>
      </p:sp>
      <p:sp>
        <p:nvSpPr>
          <p:cNvPr id="317" name="Google Shape;317;p55"/>
          <p:cNvSpPr txBox="1"/>
          <p:nvPr/>
        </p:nvSpPr>
        <p:spPr>
          <a:xfrm>
            <a:off x="3769064" y="2417569"/>
            <a:ext cx="1655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DPPA grid-service adder (523 VND/kWh, inherited) is the single biggest lever on buyer cost; the buyer flips from saving to a premium near ~0.9× that adder.</a:t>
            </a:r>
            <a:endParaRPr b="0" i="0" sz="12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18" name="Google Shape;318;p55"/>
          <p:cNvSpPr txBox="1"/>
          <p:nvPr/>
        </p:nvSpPr>
        <p:spPr>
          <a:xfrm>
            <a:off x="5520935" y="2417569"/>
            <a:ext cx="1668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Decree 146 two-part tariff trial lifts the buyer’s EVN bill +17.9% (+365 B VND); Decision 14 legacy is -2.1%. A higher bill raises DPPA value unless it double-charges DPPA volume.</a:t>
            </a:r>
            <a:endParaRPr b="0" i="0" sz="12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19" name="Google Shape;319;p55"/>
          <p:cNvSpPr txBox="1"/>
          <p:nvPr/>
        </p:nvSpPr>
        <p:spPr>
          <a:xfrm>
            <a:off x="7270231" y="2417569"/>
            <a:ext cx="1683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Directional position: buyer-favorable, developer sub-economic. Every figure rides on an undisclosed strike and a proxy CFMP series — directional, not bankable.</a:t>
            </a:r>
            <a:endParaRPr b="0" i="0" sz="12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320" name="Google Shape;32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8345" y="948849"/>
            <a:ext cx="528119" cy="528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4269" y="1038490"/>
            <a:ext cx="449263" cy="44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5692" y="1037880"/>
            <a:ext cx="449873" cy="44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3374" y="1049995"/>
            <a:ext cx="443546" cy="443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4878" y="1032036"/>
            <a:ext cx="414301" cy="414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5"/>
          <p:cNvSpPr txBox="1"/>
          <p:nvPr/>
        </p:nvSpPr>
        <p:spPr>
          <a:xfrm>
            <a:off x="3852750" y="4876250"/>
            <a:ext cx="5295900" cy="2955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90"/>
              </a:spcBef>
              <a:spcAft>
                <a:spcPts val="9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1" lang="en" sz="8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Confidential - For Internal Use by Allotrope </a:t>
            </a:r>
            <a:r>
              <a:rPr b="1" i="1" lang="en" sz="800">
                <a:latin typeface="Cabin"/>
                <a:ea typeface="Cabin"/>
                <a:cs typeface="Cabin"/>
                <a:sym typeface="Cabin"/>
              </a:rPr>
              <a:t>&amp; Key Partners</a:t>
            </a:r>
            <a:r>
              <a:rPr b="1" i="1" lang="en" sz="8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 - Not Approved for Further Circulation</a:t>
            </a:r>
            <a:endParaRPr b="1" i="1" sz="8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0" name="Google Shape;330;p56"/>
          <p:cNvGraphicFramePr/>
          <p:nvPr/>
        </p:nvGraphicFramePr>
        <p:xfrm>
          <a:off x="387225" y="11900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{973B5CE8-2ADE-4199-AB71-247C6FC2BBD0}</a:tableStyleId>
              </a:tblPr>
              <a:tblGrid>
                <a:gridCol w="1222650"/>
                <a:gridCol w="4171550"/>
              </a:tblGrid>
              <a:tr h="34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Plant type</a:t>
                      </a:r>
                      <a:endParaRPr b="1"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49 MWp DC / 41.4 MWac ground-mounted solar, no storage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</a:tr>
              <a:tr h="30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Location</a:t>
                      </a:r>
                      <a:endParaRPr b="1"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Tay Ninh province, southern Vietnam (high-irradiance)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Annual output</a:t>
                      </a:r>
                      <a:endParaRPr b="1"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~70 GWh/yr contracted to SEVT (CfD volume)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</a:tr>
              <a:tr h="796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Capacity factor</a:t>
                      </a:r>
                      <a:endParaRPr b="1"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~19.3% AC; peak ~27.7 MWac (no clipping)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</a:tr>
              <a:tr h="821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Solar profile</a:t>
                      </a:r>
                      <a:endParaRPr b="1"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PySAM PVWatts v8 on cached southern Himawari resource, scaled to 70 GWh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</a:tr>
              <a:tr h="821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55B55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CO₂ avoided</a:t>
                      </a:r>
                      <a:endParaRPr b="1"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~46,000 tonnes per year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332" name="Google Shape;332;p56"/>
          <p:cNvSpPr txBox="1"/>
          <p:nvPr>
            <p:ph type="title"/>
          </p:nvPr>
        </p:nvSpPr>
        <p:spPr>
          <a:xfrm>
            <a:off x="235425" y="290225"/>
            <a:ext cx="740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TTC Duc Hue 2: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 &amp; Solar Profile (directional)</a:t>
            </a:r>
            <a:endParaRPr/>
          </a:p>
        </p:txBody>
      </p:sp>
      <p:graphicFrame>
        <p:nvGraphicFramePr>
          <p:cNvPr id="333" name="Chart 332"/>
          <p:cNvGraphicFramePr>
            <a:graphicFrameLocks noGrp="1"/>
          </p:cNvGraphicFramePr>
          <p:nvPr/>
        </p:nvGraphicFramePr>
        <p:xfrm>
          <a:off x="5760720" y="1143000"/>
          <a:ext cx="3154680" cy="3566160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7"/>
          <p:cNvSpPr txBox="1"/>
          <p:nvPr>
            <p:ph type="title"/>
          </p:nvPr>
        </p:nvSpPr>
        <p:spPr>
          <a:xfrm>
            <a:off x="235425" y="88189"/>
            <a:ext cx="6532800" cy="81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Strike Sweep: Buyer Premium &amp; Developer NPV</a:t>
            </a:r>
            <a:endParaRPr/>
          </a:p>
        </p:txBody>
      </p:sp>
      <p:sp>
        <p:nvSpPr>
          <p:cNvPr id="338" name="Google Shape;338;p57"/>
          <p:cNvSpPr/>
          <p:nvPr/>
        </p:nvSpPr>
        <p:spPr>
          <a:xfrm>
            <a:off x="327250" y="1068986"/>
            <a:ext cx="86262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lang="en">
                <a:solidFill>
                  <a:srgbClr val="38761D"/>
                </a:solidFill>
                <a:latin typeface="Cabin"/>
                <a:ea typeface="Cabin"/>
                <a:cs typeface="Cabin"/>
                <a:sym typeface="Cabin"/>
              </a:rPr>
              <a:t>Directional: the buyer saves vs EVN below ~1,440 VND/kWh; the developer NPV stays negative across the whole Southern-ceiling → EVN-avoided band (no overlap). Strike basis + proxy CFMP labeled.</a:t>
            </a:r>
            <a:endParaRPr b="1" i="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54" name="Google Shape;354;p57"/>
          <p:cNvSpPr txBox="1"/>
          <p:nvPr/>
        </p:nvSpPr>
        <p:spPr>
          <a:xfrm>
            <a:off x="4572000" y="4922641"/>
            <a:ext cx="4576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90"/>
              </a:spcBef>
              <a:spcAft>
                <a:spcPts val="9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1" lang="en" sz="8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Confidential - For Internal Use by Allotrope </a:t>
            </a:r>
            <a:r>
              <a:rPr b="1" i="1" lang="en" sz="800">
                <a:latin typeface="Cabin"/>
                <a:ea typeface="Cabin"/>
                <a:cs typeface="Cabin"/>
                <a:sym typeface="Cabin"/>
              </a:rPr>
              <a:t>&amp; Key Partners</a:t>
            </a:r>
            <a:r>
              <a:rPr b="1" i="1" lang="en" sz="8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 - Not Approved for Further Circulation</a:t>
            </a:r>
            <a:endParaRPr b="1" i="1" sz="8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355" name="Chart 354"/>
          <p:cNvGraphicFramePr>
            <a:graphicFrameLocks noGrp="1"/>
          </p:cNvGraphicFramePr>
          <p:nvPr/>
        </p:nvGraphicFramePr>
        <p:xfrm>
          <a:off x="329184" y="1783080"/>
          <a:ext cx="4297680" cy="2926080"/>
        </p:xfrm>
        <a:graphic>
          <a:graphicData uri="http://schemas.openxmlformats.org/drawingml/2006/chart">
            <c:chart r:id="rId6"/>
          </a:graphicData>
        </a:graphic>
      </p:graphicFrame>
      <p:graphicFrame>
        <p:nvGraphicFramePr>
          <p:cNvPr id="356" name="Chart 355"/>
          <p:cNvGraphicFramePr>
            <a:graphicFrameLocks noGrp="1"/>
          </p:cNvGraphicFramePr>
          <p:nvPr/>
        </p:nvGraphicFramePr>
        <p:xfrm>
          <a:off x="4709160" y="1783080"/>
          <a:ext cx="4160520" cy="2926080"/>
        </p:xfrm>
        <a:graphic>
          <a:graphicData uri="http://schemas.openxmlformats.org/drawingml/2006/chart">
            <c:chart r:id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8"/>
          <p:cNvSpPr txBox="1"/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Four-Phase Directional DPPA Screen</a:t>
            </a:r>
            <a:endParaRPr/>
          </a:p>
        </p:txBody>
      </p:sp>
      <p:sp>
        <p:nvSpPr>
          <p:cNvPr id="361" name="Google Shape;361;p58"/>
          <p:cNvSpPr txBox="1"/>
          <p:nvPr/>
        </p:nvSpPr>
        <p:spPr>
          <a:xfrm>
            <a:off x="3956250" y="4785200"/>
            <a:ext cx="50691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62" name="Google Shape;362;p58"/>
          <p:cNvSpPr txBox="1"/>
          <p:nvPr/>
        </p:nvSpPr>
        <p:spPr>
          <a:xfrm>
            <a:off x="274320" y="1054904"/>
            <a:ext cx="8595360" cy="30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We reuse the repo’s tested synthetic/financial DPPA settlement engine (ninhsim Case 2) with the plant pinned to the disclosed 49 MWp / 70 GWh and no storage — a fixed-plant screen, not a re-optimization.</a:t>
            </a:r>
            <a:endParaRPr b="1"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Phase 1 — Case definition: disclosed deal facts, synthetic SEVT load (~1,000 GWh; 70 GWh ≈ 7% RE), strike anchored to the Southern ground-mount ceiling (1,012 VND/kWh).</a:t>
            </a:r>
            <a:endParaRPr b="1"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Phase 2 — Solar + settlement: 49 MWp 8760 via PySAM PVWatts v8 (southern resource, scaled to 70 GWh); hourly CfD settlement and EVN avoided-cost benchmark on the matched slice.</a:t>
            </a:r>
            <a:endParaRPr b="1"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Phase 3 — Strike sweep + developer screen: buyer premium across the strike band and PySAM Single Owner after-tax IRR/NPV at the fixed 49 MWp; plus a DPPA grid-service adder sensitivity.</a:t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Phase 4 — Regime stress + decision: GAP-05 toggle (Decision 963 vs Decision 14 vs Decree 146 two-part) and a combined, explicitly caveated recommendation.</a:t>
            </a:r>
            <a:endParaRPr b="1"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Every headline number is flagged DIRECTIONAL with explicit strike + market-reference (proxy CFMP) basis.</a:t>
            </a:r>
            <a:endParaRPr b="1"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/>
            </a:r>
            <a:endParaRPr b="1"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9"/>
          <p:cNvSpPr txBox="1"/>
          <p:nvPr>
            <p:ph type="title"/>
          </p:nvPr>
        </p:nvSpPr>
        <p:spPr>
          <a:xfrm>
            <a:off x="235425" y="290225"/>
            <a:ext cx="740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Dominant Lever: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DPPA Grid-Service Adder Sensitivity</a:t>
            </a:r>
            <a:endParaRPr/>
          </a:p>
        </p:txBody>
      </p:sp>
      <p:sp>
        <p:nvSpPr>
          <p:cNvPr id="369" name="Google Shape;369;p59"/>
          <p:cNvSpPr txBox="1"/>
          <p:nvPr/>
        </p:nvSpPr>
        <p:spPr>
          <a:xfrm>
            <a:off x="274320" y="1126625"/>
            <a:ext cx="8595360" cy="30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DPPA grid-service adder — inherited from the Case-2 default at 523.34 VND/kWh — is the single biggest swing factor on the buyer’s effective cost, larger than the strike itself within the regulated band.</a:t>
            </a:r>
            <a:endParaRPr b="1"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Sweeping the adder from 0 to 2×: the buyer’s annual position vs EVN moves from −61.8 B VND (saves) at 0× to +11.4 B VND (premium) at 2×. Break-even is near ~0.9× the inherited adder.</a:t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Implication: the adder / KPP grid fee must be deal-calibrated before the sign of the buyer result can be trusted. Directional only.</a:t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/>
            </a:r>
            <a:endParaRPr b="1"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</a:pP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/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/>
            </a:r>
            <a:endParaRPr b="1"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370" name="Chart 369"/>
          <p:cNvGraphicFramePr>
            <a:graphicFrameLocks noGrp="1"/>
          </p:cNvGraphicFramePr>
          <p:nvPr/>
        </p:nvGraphicFramePr>
        <p:xfrm>
          <a:off x="548640" y="2331720"/>
          <a:ext cx="8046720" cy="2377440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0"/>
          <p:cNvSpPr txBox="1"/>
          <p:nvPr/>
        </p:nvSpPr>
        <p:spPr>
          <a:xfrm>
            <a:off x="115025" y="1117927"/>
            <a:ext cx="4518900" cy="2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buyer’s EVN bill is the DPPA’s outside option: a higher bill raises the avoided-cost value of the contract. We stress the synthetic SEVT load across three regimes via the GAP-05 toggle.</a:t>
            </a:r>
            <a:endParaRPr sz="1200">
              <a:solidFill>
                <a:srgbClr val="22222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200">
                <a:solidFill>
                  <a:srgbClr val="222222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b="1" lang="en" sz="1200">
                <a:solidFill>
                  <a:srgbClr val="222222"/>
                </a:solidFill>
                <a:latin typeface="Cabin"/>
                <a:ea typeface="Cabin"/>
                <a:cs typeface="Cabin"/>
                <a:sym typeface="Cabin"/>
              </a:rPr>
              <a:t>Decision 963/2026 (current): baseline. Decision 14/2025 legacy: -2.1%. Decree 146/2025 two-part trial: +17.9% (+365 B VND) from the capacity charge.</a:t>
            </a:r>
            <a:endParaRPr sz="1200">
              <a:solidFill>
                <a:srgbClr val="22222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rgbClr val="222222"/>
                </a:solidFill>
                <a:latin typeface="Cabin"/>
                <a:ea typeface="Cabin"/>
                <a:cs typeface="Cabin"/>
                <a:sym typeface="Cabin"/>
              </a:rPr>
              <a:t/>
            </a:r>
            <a:endParaRPr sz="1200">
              <a:solidFill>
                <a:srgbClr val="22222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rgbClr val="222222"/>
                </a:solidFill>
                <a:latin typeface="Cabin"/>
                <a:ea typeface="Cabin"/>
                <a:cs typeface="Cabin"/>
                <a:sym typeface="Cabin"/>
              </a:rPr>
              <a:t/>
            </a:r>
            <a:endParaRPr sz="1200">
              <a:solidFill>
                <a:srgbClr val="22222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rgbClr val="222222"/>
                </a:solidFill>
                <a:latin typeface="Cabin"/>
                <a:ea typeface="Cabin"/>
                <a:cs typeface="Cabin"/>
                <a:sym typeface="Cabin"/>
              </a:rPr>
              <a:t/>
            </a:r>
            <a:endParaRPr sz="1200">
              <a:solidFill>
                <a:srgbClr val="22222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77" name="Google Shape;377;p60"/>
          <p:cNvSpPr txBox="1"/>
          <p:nvPr>
            <p:ph type="title"/>
          </p:nvPr>
        </p:nvSpPr>
        <p:spPr>
          <a:xfrm>
            <a:off x="235425" y="290225"/>
            <a:ext cx="740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Regime Stress: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Buyer EVN Bill Across Tariff Regimes</a:t>
            </a:r>
            <a:endParaRPr/>
          </a:p>
        </p:txBody>
      </p:sp>
      <p:sp>
        <p:nvSpPr>
          <p:cNvPr id="378" name="Google Shape;378;p60"/>
          <p:cNvSpPr txBox="1"/>
          <p:nvPr/>
        </p:nvSpPr>
        <p:spPr>
          <a:xfrm>
            <a:off x="115025" y="3440275"/>
            <a:ext cx="85482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Caveat: </a:t>
            </a:r>
            <a:endParaRPr b="1"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Decree 146 two-part trial is a paper trial, not yet on actual bills, and it risks double-charging capacity on the DPPA volume — which would erode the buyer savings shown elsewhere in this deck. Directional.</a:t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b="1"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/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/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</a:pP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/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379" name="Chart 378"/>
          <p:cNvGraphicFramePr>
            <a:graphicFrameLocks noGrp="1"/>
          </p:cNvGraphicFramePr>
          <p:nvPr/>
        </p:nvGraphicFramePr>
        <p:xfrm>
          <a:off x="4617720" y="1143000"/>
          <a:ext cx="4206240" cy="3566160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4F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>
            <p:ph type="title"/>
          </p:nvPr>
        </p:nvSpPr>
        <p:spPr>
          <a:xfrm>
            <a:off x="235425" y="290225"/>
            <a:ext cx="740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Decree 57/2025 &amp; the Vietnam DPPA Market</a:t>
            </a:r>
            <a:endParaRPr/>
          </a:p>
        </p:txBody>
      </p:sp>
      <p:sp>
        <p:nvSpPr>
          <p:cNvPr id="384" name="Google Shape;384;p61"/>
          <p:cNvSpPr/>
          <p:nvPr/>
        </p:nvSpPr>
        <p:spPr>
          <a:xfrm>
            <a:off x="319450" y="1248700"/>
            <a:ext cx="8367300" cy="3188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7CD0C8"/>
          </a:solidFill>
          <a:ln>
            <a:noFill/>
          </a:ln>
          <a:effectLst>
            <a:outerShdw blurRad="21431" rotWithShape="0" algn="bl" dir="2580000" dist="85725">
              <a:srgbClr val="155B54">
                <a:alpha val="9451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85" name="Google Shape;385;p61"/>
          <p:cNvSpPr txBox="1"/>
          <p:nvPr>
            <p:ph idx="1" type="body"/>
          </p:nvPr>
        </p:nvSpPr>
        <p:spPr>
          <a:xfrm>
            <a:off x="424525" y="1401250"/>
            <a:ext cx="8108100" cy="22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b="1" lang="en" sz="1500"/>
              <a:t>Decree 57/2025 grid-connected DPPA — a three-contract model:</a:t>
            </a:r>
            <a:endParaRPr b="1" sz="1500"/>
          </a:p>
          <a:p>
            <a:pPr indent="-180340" lvl="0" marL="22860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1) Forward CfD between generator and buyer; 2) generator sells physical output to the VWEM spot market; 3) buyer continues to buy from EVN and settles the difference. The two sites are ~1,500 km apart (buyer north, plant south), the definitional signature of a financial (not private-wire) DPPA.</a:t>
            </a:r>
            <a:endParaRPr b="1" sz="1400"/>
          </a:p>
          <a:p>
            <a:pPr indent="-173990" lvl="1" marL="45720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Char char="○"/>
            </a:pPr>
            <a:r>
              <a:rPr b="1" lang="en" sz="1300"/>
              <a:t>Forward price is left to bilateral negotiation but capped at the RE-type ceiling generation tariff — Southern ground-mount, no storage ≈ 1,012 VND/kWh — which anchors our strike floor.</a:t>
            </a:r>
            <a:endParaRPr sz="1300"/>
          </a:p>
          <a:p>
            <a:pPr indent="-167640" lvl="2" marL="82296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Buyer avoided cost: EVN production tariff (base 2,204 VND/kWh × ~0.85 standard-hour multiplier ≈ 1,873–1,913 VND/kWh), since solar delivers in standard TOU hours under Decision 963.</a:t>
            </a:r>
            <a:endParaRPr sz="1200"/>
          </a:p>
          <a:p>
            <a:pPr indent="-167640" lvl="2" marL="82296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Forward risk: the Decree 146 two-part (capacity + energy) tariff trial can double-charge capacity on DPPA volume and erode buyer savings — the key regime to watch.</a:t>
            </a:r>
            <a:endParaRPr sz="1200"/>
          </a:p>
          <a:p>
            <a:pPr indent="-173990" lvl="1" marL="45720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Char char="○"/>
            </a:pPr>
            <a:r>
              <a:rPr b="1" lang="en" sz="1300"/>
              <a:t/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F4F1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2"/>
          <p:cNvSpPr txBox="1"/>
          <p:nvPr>
            <p:ph type="title"/>
          </p:nvPr>
        </p:nvSpPr>
        <p:spPr>
          <a:xfrm>
            <a:off x="235425" y="290225"/>
            <a:ext cx="7401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Risks &amp; Open Questions: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These Numbers Directional</a:t>
            </a:r>
            <a:endParaRPr/>
          </a:p>
        </p:txBody>
      </p:sp>
      <p:sp>
        <p:nvSpPr>
          <p:cNvPr id="391" name="Google Shape;391;p62"/>
          <p:cNvSpPr/>
          <p:nvPr/>
        </p:nvSpPr>
        <p:spPr>
          <a:xfrm>
            <a:off x="319450" y="1173550"/>
            <a:ext cx="8367300" cy="2694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7CD0C8"/>
          </a:solidFill>
          <a:ln>
            <a:noFill/>
          </a:ln>
          <a:effectLst>
            <a:outerShdw blurRad="21431" rotWithShape="0" algn="bl" dir="2580000" dist="85725">
              <a:srgbClr val="155B54">
                <a:alpha val="9451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92" name="Google Shape;392;p62"/>
          <p:cNvSpPr txBox="1"/>
          <p:nvPr>
            <p:ph idx="1" type="body"/>
          </p:nvPr>
        </p:nvSpPr>
        <p:spPr>
          <a:xfrm>
            <a:off x="424525" y="4035118"/>
            <a:ext cx="86115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b="1" lang="en" sz="1500"/>
              <a:t>Recommended position (directional):</a:t>
            </a:r>
            <a:endParaRPr b="1" sz="1500"/>
          </a:p>
          <a:p>
            <a:pPr indent="-247650" lvl="0" marL="34290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Buyer-favorable, developer sub-economic on the contracted slice — no buyer–developer overlap under conservative assumptions. To move toward bankable: source the actual strike &amp; tenor, a Duc Hue 2 FMP/CFMP series, the negotiated KPP/grid fee, and SEVT’s real 8760 load and connection voltage.</a:t>
            </a:r>
            <a:endParaRPr sz="1300"/>
          </a:p>
          <a:p>
            <a:pPr indent="-247650" lvl="0" marL="34290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/>
            </a:r>
            <a:endParaRPr sz="1300"/>
          </a:p>
        </p:txBody>
      </p:sp>
      <p:sp>
        <p:nvSpPr>
          <p:cNvPr id="393" name="Google Shape;393;p62"/>
          <p:cNvSpPr txBox="1"/>
          <p:nvPr>
            <p:ph idx="1" type="body"/>
          </p:nvPr>
        </p:nvSpPr>
        <p:spPr>
          <a:xfrm>
            <a:off x="424525" y="1285934"/>
            <a:ext cx="8108100" cy="23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b="1" lang="en" sz="1500"/>
              <a:t>Why directional, not bankable:</a:t>
            </a:r>
            <a:endParaRPr b="1" sz="1500"/>
          </a:p>
          <a:p>
            <a:pPr indent="-180340" lvl="0" marL="22860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Strike price is undisclosed — anchored to the Southern ceiling (1,012 VND/kWh) and swept to EVN avoided cost (~1,873). The buyer result’s sign depends on where the real strike sits.</a:t>
            </a:r>
            <a:endParaRPr b="1" sz="1400"/>
          </a:p>
          <a:p>
            <a:pPr indent="-173990" lvl="1" marL="45720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Market reference (CfD leg) uses a proxy CFMP/FMP series transferred from another site, not a Duc Hue 2 series.</a:t>
            </a:r>
            <a:endParaRPr sz="1300"/>
          </a:p>
          <a:p>
            <a:pPr indent="-173990" lvl="1" marL="45720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The DPPA grid-service adder / KPP grid fee is inherited from Case 2 (523 VND/kWh) and is the dominant lever — it must be deal-calibrated.</a:t>
            </a:r>
            <a:endParaRPr sz="1300"/>
          </a:p>
          <a:p>
            <a:pPr indent="-167640" lvl="2" marL="82296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Solar 8760 is from a representative southern resource scaled to 70 GWh, not a site-specific Tay Ninh dataset; developer NPV uses conservative $750/kW capex on the contracted 70 GWh (excludes merchant tail).</a:t>
            </a:r>
            <a:endParaRPr sz="1200"/>
          </a:p>
          <a:p>
            <a:pPr indent="-167640" lvl="2" marL="82296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/>
            </a:r>
            <a:endParaRPr sz="1200"/>
          </a:p>
          <a:p>
            <a:pPr indent="-173990" lvl="2" marL="82296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1" lang="en" sz="1200"/>
              <a:t/>
            </a:r>
            <a:endParaRPr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7ECE8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63"/>
          <p:cNvPicPr preferRelativeResize="0"/>
          <p:nvPr/>
        </p:nvPicPr>
        <p:blipFill rotWithShape="1">
          <a:blip r:embed="rId3">
            <a:alphaModFix/>
          </a:blip>
          <a:srcRect b="0" l="0" r="0" t="10929"/>
          <a:stretch/>
        </p:blipFill>
        <p:spPr>
          <a:xfrm>
            <a:off x="-13597" y="389659"/>
            <a:ext cx="9171194" cy="4810992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399" name="Google Shape;399;p63"/>
          <p:cNvSpPr txBox="1"/>
          <p:nvPr/>
        </p:nvSpPr>
        <p:spPr>
          <a:xfrm>
            <a:off x="-25546" y="-83130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500" y="51075"/>
            <a:ext cx="3442424" cy="12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p63"/>
          <p:cNvSpPr/>
          <p:nvPr/>
        </p:nvSpPr>
        <p:spPr>
          <a:xfrm>
            <a:off x="710600" y="1367926"/>
            <a:ext cx="4989600" cy="23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Allotrope — DPPA Insights</a:t>
            </a:r>
            <a:endParaRPr b="1" sz="1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Sources: pv-magazine, TheInvestor.vn, VnEconomy, Reccessary;</a:t>
            </a:r>
            <a:endParaRPr b="1" sz="1600">
              <a:solidFill>
                <a:srgbClr val="006666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Norton Rose Fulbright &amp; A&amp;O Shearman (Decree 57); EVN/MOIT solar ceilings.</a:t>
            </a:r>
            <a:endParaRPr b="1" sz="1600">
              <a:solidFill>
                <a:srgbClr val="006666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>All deal economics DIRECTIONAL: undisclosed strike + proxy CFMP basis.</a:t>
            </a:r>
            <a:endParaRPr b="1" sz="1600">
              <a:solidFill>
                <a:srgbClr val="006666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600">
              <a:solidFill>
                <a:srgbClr val="006666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6666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llotrope Partners Simpl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